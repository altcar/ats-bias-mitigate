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theme" Target="theme/theme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octur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1" name="TextBox 4"/>
          <p:cNvSpPr txBox="1"/>
          <p:nvPr/>
        </p:nvSpPr>
        <p:spPr>
          <a:xfrm>
            <a:off x="812800" y="787400"/>
            <a:ext cx="104140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4F1EA"/>
                </a:solidFill>
              </a:rPr>
              <a:t>MASK THE NAME.</a:t>
            </a:r>
            <a:endParaRPr sz="5400" b="1">
              <a:solidFill>
                <a:srgbClr val="F4F1EA"/>
              </a:solidFill>
            </a:endParaRPr>
          </a:p>
        </p:txBody>
      </p:sp>
      <p:sp>
        <p:nvSpPr>
          <p:cNvPr id="262" name="TextBox 5"/>
          <p:cNvSpPr txBox="1"/>
          <p:nvPr/>
        </p:nvSpPr>
        <p:spPr>
          <a:xfrm>
            <a:off x="812800" y="1625600"/>
            <a:ext cx="104140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9FE870"/>
                </a:solidFill>
              </a:rPr>
              <a:t>NOT THE BIAS.</a:t>
            </a:r>
            <a:endParaRPr sz="5400" b="1">
              <a:solidFill>
                <a:srgbClr val="9FE870"/>
              </a:solidFill>
            </a:endParaRPr>
          </a:p>
        </p:txBody>
      </p:sp>
      <p:sp>
        <p:nvSpPr>
          <p:cNvPr id="263" name="TextBox 4"/>
          <p:cNvSpPr txBox="1"/>
          <p:nvPr/>
        </p:nvSpPr>
        <p:spPr>
          <a:xfrm>
            <a:off x="812800" y="381000"/>
            <a:ext cx="889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RESPONSIBLE AI HACKATHON  ·  UWE BRISTOL  ·  24 OCT 2026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264" name="TextBox 5"/>
          <p:cNvSpPr txBox="1"/>
          <p:nvPr/>
        </p:nvSpPr>
        <p:spPr>
          <a:xfrm>
            <a:off x="812800" y="2946400"/>
            <a:ext cx="10414000" cy="889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C3C2B7"/>
                </a:solidFill>
              </a:rPr>
              <a:t>A dual audit for gender bias in ATS ranking — behavior and activation space.</a:t>
            </a:r>
            <a:endParaRPr sz="1800">
              <a:solidFill>
                <a:srgbClr val="C3C2B7"/>
              </a:solidFill>
            </a:endParaRPr>
          </a:p>
        </p:txBody>
      </p:sp>
      <p:sp>
        <p:nvSpPr>
          <p:cNvPr id="265" name="Rectangle 6"/>
          <p:cNvSpPr/>
          <p:nvPr/>
        </p:nvSpPr>
        <p:spPr>
          <a:xfrm>
            <a:off x="812800" y="4318000"/>
            <a:ext cx="1524000" cy="25400"/>
          </a:xfrm>
          <a:prstGeom prst="rect">
            <a:avLst/>
          </a:prstGeom>
          <a:solidFill>
            <a:srgbClr val="9FE8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6" name="TextBox 7"/>
          <p:cNvSpPr txBox="1"/>
          <p:nvPr/>
        </p:nvSpPr>
        <p:spPr>
          <a:xfrm>
            <a:off x="812800" y="4597400"/>
            <a:ext cx="6604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D95926"/>
                </a:solidFill>
              </a:rPr>
              <a:t>87% of the score gap survives name masking.</a:t>
            </a:r>
            <a:endParaRPr sz="1300">
              <a:solidFill>
                <a:srgbClr val="D95926"/>
              </a:solidFill>
            </a:endParaRPr>
          </a:p>
        </p:txBody>
      </p:sp>
      <p:sp>
        <p:nvSpPr>
          <p:cNvPr id="267" name="TextBox 8"/>
          <p:cNvSpPr txBox="1"/>
          <p:nvPr/>
        </p:nvSpPr>
        <p:spPr>
          <a:xfrm>
            <a:off x="812800" y="5969000"/>
            <a:ext cx="965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PROTOTYPE BENCHMARK  ·  1,600 PAIRED CVS  ·  8 JOB FAMILIES  ·  10 FEATURES  ·  MINILM LAYER 6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268" name="TextBox 9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01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01  /  THE THESIS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272" name="TextBox 3"/>
          <p:cNvSpPr txBox="1"/>
          <p:nvPr/>
        </p:nvSpPr>
        <p:spPr>
          <a:xfrm>
            <a:off x="812800" y="838200"/>
            <a:ext cx="10414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Blind screening hides the name.</a:t>
            </a:r>
            <a:endParaRPr sz="3400" b="1">
              <a:solidFill>
                <a:srgbClr val="F0EFEC"/>
              </a:solidFill>
            </a:endParaRPr>
          </a:p>
        </p:txBody>
      </p:sp>
      <p:sp>
        <p:nvSpPr>
          <p:cNvPr id="273" name="TextBox 4"/>
          <p:cNvSpPr txBox="1"/>
          <p:nvPr/>
        </p:nvSpPr>
        <p:spPr>
          <a:xfrm>
            <a:off x="812800" y="1524000"/>
            <a:ext cx="10414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9FE870"/>
                </a:solidFill>
              </a:rPr>
              <a:t>The model still sees gender.</a:t>
            </a:r>
            <a:endParaRPr sz="3400" b="1">
              <a:solidFill>
                <a:srgbClr val="9FE870"/>
              </a:solidFill>
            </a:endParaRPr>
          </a:p>
        </p:txBody>
      </p:sp>
      <p:sp>
        <p:nvSpPr>
          <p:cNvPr id="274" name="TextBox 5"/>
          <p:cNvSpPr txBox="1"/>
          <p:nvPr/>
        </p:nvSpPr>
        <p:spPr>
          <a:xfrm>
            <a:off x="812800" y="2463800"/>
            <a:ext cx="9398000" cy="566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C3C2B7"/>
                </a:solidFill>
              </a:rPr>
              <a:t>Name masking removes one input. It does not remove the proxy cues that encode gender — or the direction those cues leave inside the model.</a:t>
            </a:r>
            <a:endParaRPr sz="1300">
              <a:solidFill>
                <a:srgbClr val="C3C2B7"/>
              </a:solidFill>
            </a:endParaRPr>
          </a:p>
        </p:txBody>
      </p:sp>
      <p:sp>
        <p:nvSpPr>
          <p:cNvPr id="275" name="Rectangle 6"/>
          <p:cNvSpPr/>
          <p:nvPr/>
        </p:nvSpPr>
        <p:spPr>
          <a:xfrm>
            <a:off x="812800" y="3810000"/>
            <a:ext cx="3302000" cy="180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6" name="Rectangle 7"/>
          <p:cNvSpPr/>
          <p:nvPr/>
        </p:nvSpPr>
        <p:spPr>
          <a:xfrm>
            <a:off x="812800" y="3810000"/>
            <a:ext cx="3302000" cy="5080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7" name="TextBox 8"/>
          <p:cNvSpPr txBox="1"/>
          <p:nvPr/>
        </p:nvSpPr>
        <p:spPr>
          <a:xfrm>
            <a:off x="1092200" y="4089400"/>
            <a:ext cx="2794000" cy="67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D03B3B"/>
                </a:solidFill>
              </a:rPr>
              <a:t>8.8 pp</a:t>
            </a:r>
            <a:endParaRPr sz="3800" b="1">
              <a:solidFill>
                <a:srgbClr val="D03B3B"/>
              </a:solidFill>
            </a:endParaRPr>
          </a:p>
        </p:txBody>
      </p:sp>
      <p:sp>
        <p:nvSpPr>
          <p:cNvPr id="278" name="TextBox 9"/>
          <p:cNvSpPr txBox="1"/>
          <p:nvPr/>
        </p:nvSpPr>
        <p:spPr>
          <a:xfrm>
            <a:off x="1092200" y="4876800"/>
            <a:ext cx="2667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F0EFEC"/>
                </a:solidFill>
              </a:rPr>
              <a:t>score gap, full CV</a:t>
            </a:r>
            <a:endParaRPr sz="1000">
              <a:solidFill>
                <a:srgbClr val="F0EFEC"/>
              </a:solidFill>
            </a:endParaRPr>
          </a:p>
        </p:txBody>
      </p:sp>
      <p:sp>
        <p:nvSpPr>
          <p:cNvPr id="279" name="TextBox 10"/>
          <p:cNvSpPr txBox="1"/>
          <p:nvPr/>
        </p:nvSpPr>
        <p:spPr>
          <a:xfrm>
            <a:off x="1092200" y="5156200"/>
            <a:ext cx="2667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female − male, matched pairs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280" name="Rectangle 11"/>
          <p:cNvSpPr/>
          <p:nvPr/>
        </p:nvSpPr>
        <p:spPr>
          <a:xfrm>
            <a:off x="4419600" y="3810000"/>
            <a:ext cx="3302000" cy="180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1" name="Rectangle 12"/>
          <p:cNvSpPr/>
          <p:nvPr/>
        </p:nvSpPr>
        <p:spPr>
          <a:xfrm>
            <a:off x="4419600" y="3810000"/>
            <a:ext cx="3302000" cy="50800"/>
          </a:xfrm>
          <a:prstGeom prst="rect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2" name="TextBox 13"/>
          <p:cNvSpPr txBox="1"/>
          <p:nvPr/>
        </p:nvSpPr>
        <p:spPr>
          <a:xfrm>
            <a:off x="4699000" y="4089400"/>
            <a:ext cx="2794000" cy="67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D95926"/>
                </a:solidFill>
              </a:rPr>
              <a:t>100%</a:t>
            </a:r>
            <a:endParaRPr sz="3800" b="1">
              <a:solidFill>
                <a:srgbClr val="D95926"/>
              </a:solidFill>
            </a:endParaRPr>
          </a:p>
        </p:txBody>
      </p:sp>
      <p:sp>
        <p:nvSpPr>
          <p:cNvPr id="283" name="TextBox 14"/>
          <p:cNvSpPr txBox="1"/>
          <p:nvPr/>
        </p:nvSpPr>
        <p:spPr>
          <a:xfrm>
            <a:off x="4699000" y="4876800"/>
            <a:ext cx="2667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F0EFEC"/>
                </a:solidFill>
              </a:rPr>
              <a:t>linear gender probe</a:t>
            </a:r>
            <a:endParaRPr sz="1000">
              <a:solidFill>
                <a:srgbClr val="F0EFEC"/>
              </a:solidFill>
            </a:endParaRPr>
          </a:p>
        </p:txBody>
      </p:sp>
      <p:sp>
        <p:nvSpPr>
          <p:cNvPr id="284" name="TextBox 15"/>
          <p:cNvSpPr txBox="1"/>
          <p:nvPr/>
        </p:nvSpPr>
        <p:spPr>
          <a:xfrm>
            <a:off x="4699000" y="5156200"/>
            <a:ext cx="2667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after the name is masked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285" name="Rectangle 16"/>
          <p:cNvSpPr/>
          <p:nvPr/>
        </p:nvSpPr>
        <p:spPr>
          <a:xfrm>
            <a:off x="8026400" y="3810000"/>
            <a:ext cx="3352800" cy="180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6" name="Rectangle 17"/>
          <p:cNvSpPr/>
          <p:nvPr/>
        </p:nvSpPr>
        <p:spPr>
          <a:xfrm>
            <a:off x="8026400" y="3810000"/>
            <a:ext cx="3352800" cy="5080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7" name="TextBox 18"/>
          <p:cNvSpPr txBox="1"/>
          <p:nvPr/>
        </p:nvSpPr>
        <p:spPr>
          <a:xfrm>
            <a:off x="8305800" y="4089400"/>
            <a:ext cx="2794000" cy="67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0CA30C"/>
                </a:solidFill>
              </a:rPr>
              <a:t>0.2 pp</a:t>
            </a:r>
            <a:endParaRPr sz="3800" b="1">
              <a:solidFill>
                <a:srgbClr val="0CA30C"/>
              </a:solidFill>
            </a:endParaRPr>
          </a:p>
        </p:txBody>
      </p:sp>
      <p:sp>
        <p:nvSpPr>
          <p:cNvPr id="288" name="TextBox 19"/>
          <p:cNvSpPr txBox="1"/>
          <p:nvPr/>
        </p:nvSpPr>
        <p:spPr>
          <a:xfrm>
            <a:off x="8305800" y="4876800"/>
            <a:ext cx="2794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F0EFEC"/>
                </a:solidFill>
              </a:rPr>
              <a:t>residual gap after LEACE</a:t>
            </a:r>
            <a:endParaRPr sz="1000">
              <a:solidFill>
                <a:srgbClr val="F0EFEC"/>
              </a:solidFill>
            </a:endParaRPr>
          </a:p>
        </p:txBody>
      </p:sp>
      <p:sp>
        <p:nvSpPr>
          <p:cNvPr id="289" name="TextBox 20"/>
          <p:cNvSpPr txBox="1"/>
          <p:nvPr/>
        </p:nvSpPr>
        <p:spPr>
          <a:xfrm>
            <a:off x="8305800" y="51562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same ranker, erased representation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290" name="TextBox 21"/>
          <p:cNvSpPr txBox="1"/>
          <p:nvPr/>
        </p:nvSpPr>
        <p:spPr>
          <a:xfrm>
            <a:off x="812800" y="6096000"/>
            <a:ext cx="889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PROTOTYPE BENCHMARK  ·  320 HELD-OUT CVS  ·  NEGATIVE GAP = FEMALE CANDIDATES SCORE LOWER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291" name="TextBox 22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02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1" descr="ats_compar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5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03</a:t>
            </a:r>
            <a:endParaRPr sz="8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02  /  THE EVIDENCE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299" name="TextBox 3"/>
          <p:cNvSpPr txBox="1"/>
          <p:nvPr/>
        </p:nvSpPr>
        <p:spPr>
          <a:xfrm>
            <a:off x="812800" y="812800"/>
            <a:ext cx="10541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The direction varies. The harm does not.</a:t>
            </a:r>
            <a:endParaRPr sz="3400" b="1">
              <a:solidFill>
                <a:srgbClr val="F0EFEC"/>
              </a:solidFill>
            </a:endParaRPr>
          </a:p>
        </p:txBody>
      </p:sp>
      <p:sp>
        <p:nvSpPr>
          <p:cNvPr id="300" name="TextBox 4"/>
          <p:cNvSpPr txBox="1"/>
          <p:nvPr/>
        </p:nvSpPr>
        <p:spPr>
          <a:xfrm>
            <a:off x="812800" y="1473200"/>
            <a:ext cx="101600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C3C2B7"/>
                </a:solidFill>
              </a:rPr>
              <a:t>Gender is not a stable ‘female penalty’. It is a model- and job-specific signal — and it survives anonymization.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301" name="Rectangle 5"/>
          <p:cNvSpPr/>
          <p:nvPr/>
        </p:nvSpPr>
        <p:spPr>
          <a:xfrm>
            <a:off x="8128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2" name="Rectangle 6"/>
          <p:cNvSpPr/>
          <p:nvPr/>
        </p:nvSpPr>
        <p:spPr>
          <a:xfrm>
            <a:off x="812800" y="2336800"/>
            <a:ext cx="3352800" cy="5080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3" name="TextBox 7"/>
          <p:cNvSpPr txBox="1"/>
          <p:nvPr/>
        </p:nvSpPr>
        <p:spPr>
          <a:xfrm>
            <a:off x="10668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AMAZON  /  2018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04" name="TextBox 8"/>
          <p:cNvSpPr txBox="1"/>
          <p:nvPr/>
        </p:nvSpPr>
        <p:spPr>
          <a:xfrm>
            <a:off x="1066800" y="2946400"/>
            <a:ext cx="28575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D03B3B"/>
                </a:solidFill>
              </a:rPr>
              <a:t>PENALIZED</a:t>
            </a:r>
            <a:endParaRPr sz="2700" b="1">
              <a:solidFill>
                <a:srgbClr val="D03B3B"/>
              </a:solidFill>
            </a:endParaRPr>
          </a:p>
        </p:txBody>
      </p:sp>
      <p:sp>
        <p:nvSpPr>
          <p:cNvPr id="305" name="TextBox 9"/>
          <p:cNvSpPr txBox="1"/>
          <p:nvPr/>
        </p:nvSpPr>
        <p:spPr>
          <a:xfrm>
            <a:off x="1066800" y="3683000"/>
            <a:ext cx="2794000" cy="630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C3C2B7"/>
                </a:solidFill>
              </a:rPr>
              <a:t>Scrapped a résumé ranker after it learned to penalize ‘women’s’ and downgrade two women’s colleges.</a:t>
            </a:r>
            <a:endParaRPr sz="1000">
              <a:solidFill>
                <a:srgbClr val="C3C2B7"/>
              </a:solidFill>
            </a:endParaRPr>
          </a:p>
        </p:txBody>
      </p:sp>
      <p:sp>
        <p:nvSpPr>
          <p:cNvPr id="306" name="TextBox 10"/>
          <p:cNvSpPr txBox="1"/>
          <p:nvPr/>
        </p:nvSpPr>
        <p:spPr>
          <a:xfrm>
            <a:off x="10668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Reuters, 2018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307" name="Rectangle 11"/>
          <p:cNvSpPr/>
          <p:nvPr/>
        </p:nvSpPr>
        <p:spPr>
          <a:xfrm>
            <a:off x="44196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8" name="Rectangle 12"/>
          <p:cNvSpPr/>
          <p:nvPr/>
        </p:nvSpPr>
        <p:spPr>
          <a:xfrm>
            <a:off x="4419600" y="2336800"/>
            <a:ext cx="3352800" cy="50800"/>
          </a:xfrm>
          <a:prstGeom prst="rect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9" name="TextBox 13"/>
          <p:cNvSpPr txBox="1"/>
          <p:nvPr/>
        </p:nvSpPr>
        <p:spPr>
          <a:xfrm>
            <a:off x="46736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WILSON &amp; CALISKAN  /  2024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10" name="TextBox 14"/>
          <p:cNvSpPr txBox="1"/>
          <p:nvPr/>
        </p:nvSpPr>
        <p:spPr>
          <a:xfrm>
            <a:off x="4673600" y="2946400"/>
            <a:ext cx="28575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D95926"/>
                </a:solidFill>
              </a:rPr>
              <a:t>85.1%</a:t>
            </a:r>
            <a:endParaRPr sz="3000" b="1">
              <a:solidFill>
                <a:srgbClr val="D95926"/>
              </a:solidFill>
            </a:endParaRPr>
          </a:p>
        </p:txBody>
      </p:sp>
      <p:sp>
        <p:nvSpPr>
          <p:cNvPr id="311" name="TextBox 15"/>
          <p:cNvSpPr txBox="1"/>
          <p:nvPr/>
        </p:nvSpPr>
        <p:spPr>
          <a:xfrm>
            <a:off x="4673600" y="3683000"/>
            <a:ext cx="2794000" cy="630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C3C2B7"/>
                </a:solidFill>
              </a:rPr>
              <a:t>of cases favored White-associated names; female-associated names were favored in only 11.1%. 500 resumes × 500 jobs.</a:t>
            </a:r>
            <a:endParaRPr sz="1000">
              <a:solidFill>
                <a:srgbClr val="C3C2B7"/>
              </a:solidFill>
            </a:endParaRPr>
          </a:p>
        </p:txBody>
      </p:sp>
      <p:sp>
        <p:nvSpPr>
          <p:cNvPr id="312" name="TextBox 16"/>
          <p:cNvSpPr txBox="1"/>
          <p:nvPr/>
        </p:nvSpPr>
        <p:spPr>
          <a:xfrm>
            <a:off x="46736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AIES 2024  ·  arXiv:2407.20371</a:t>
            </a:r>
          </a:p>
        </p:txBody>
      </p:sp>
      <p:sp>
        <p:nvSpPr>
          <p:cNvPr id="313" name="Rectangle 17"/>
          <p:cNvSpPr/>
          <p:nvPr/>
        </p:nvSpPr>
        <p:spPr>
          <a:xfrm>
            <a:off x="80264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4" name="Rectangle 18"/>
          <p:cNvSpPr/>
          <p:nvPr/>
        </p:nvSpPr>
        <p:spPr>
          <a:xfrm>
            <a:off x="8026400" y="2336800"/>
            <a:ext cx="3352800" cy="50800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5" name="TextBox 19"/>
          <p:cNvSpPr txBox="1"/>
          <p:nvPr/>
        </p:nvSpPr>
        <p:spPr>
          <a:xfrm>
            <a:off x="82804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AN ET AL.  /  2025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16" name="TextBox 20"/>
          <p:cNvSpPr txBox="1"/>
          <p:nvPr/>
        </p:nvSpPr>
        <p:spPr>
          <a:xfrm>
            <a:off x="8280400" y="2946400"/>
            <a:ext cx="28575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987E5"/>
                </a:solidFill>
              </a:rPr>
              <a:t>1–3 pp</a:t>
            </a:r>
            <a:endParaRPr sz="3000" b="1">
              <a:solidFill>
                <a:srgbClr val="3987E5"/>
              </a:solidFill>
            </a:endParaRPr>
          </a:p>
        </p:txBody>
      </p:sp>
      <p:sp>
        <p:nvSpPr>
          <p:cNvPr id="317" name="TextBox 21"/>
          <p:cNvSpPr txBox="1"/>
          <p:nvPr/>
        </p:nvSpPr>
        <p:spPr>
          <a:xfrm>
            <a:off x="8280400" y="3683000"/>
            <a:ext cx="2794000" cy="810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C3C2B7"/>
                </a:solidFill>
              </a:rPr>
              <a:t>hiring-probability difference for otherwise similar candidates. Female candidates scored higher; Black male candidates lower.</a:t>
            </a:r>
            <a:endParaRPr sz="1000">
              <a:solidFill>
                <a:srgbClr val="C3C2B7"/>
              </a:solidFill>
            </a:endParaRPr>
          </a:p>
        </p:txBody>
      </p:sp>
      <p:sp>
        <p:nvSpPr>
          <p:cNvPr id="318" name="TextBox 22"/>
          <p:cNvSpPr txBox="1"/>
          <p:nvPr/>
        </p:nvSpPr>
        <p:spPr>
          <a:xfrm>
            <a:off x="82804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PNAS Nexus, 2025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319" name="TextBox 23"/>
          <p:cNvSpPr txBox="1"/>
          <p:nvPr/>
        </p:nvSpPr>
        <p:spPr>
          <a:xfrm>
            <a:off x="812800" y="5765800"/>
            <a:ext cx="10541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FE870"/>
                </a:solidFill>
              </a:rPr>
              <a:t>JobFair (2024) finds bias against males in at least one industry in 7/10 LLMs — over-debiasing is real.</a:t>
            </a:r>
            <a:endParaRPr sz="1000">
              <a:solidFill>
                <a:srgbClr val="9FE870"/>
              </a:solidFill>
            </a:endParaRPr>
          </a:p>
        </p:txBody>
      </p:sp>
      <p:sp>
        <p:nvSpPr>
          <p:cNvPr id="320" name="TextBox 24"/>
          <p:cNvSpPr txBox="1"/>
          <p:nvPr/>
        </p:nvSpPr>
        <p:spPr>
          <a:xfrm>
            <a:off x="812800" y="6350000"/>
            <a:ext cx="889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SOURCES IN APPENDIX  ·  AIES = AAAI/ACM Conference on AI, Ethics, and Society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321" name="TextBox 2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04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4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03  /  WHY MASKING FAILS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325" name="TextBox 3"/>
          <p:cNvSpPr txBox="1"/>
          <p:nvPr/>
        </p:nvSpPr>
        <p:spPr>
          <a:xfrm>
            <a:off x="812800" y="8128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One cue masked. Five still leak.</a:t>
            </a:r>
            <a:endParaRPr sz="3400" b="1">
              <a:solidFill>
                <a:srgbClr val="F0EFEC"/>
              </a:solidFill>
            </a:endParaRPr>
          </a:p>
        </p:txBody>
      </p:sp>
      <p:sp>
        <p:nvSpPr>
          <p:cNvPr id="326" name="TextBox 4"/>
          <p:cNvSpPr txBox="1"/>
          <p:nvPr/>
        </p:nvSpPr>
        <p:spPr>
          <a:xfrm>
            <a:off x="812800" y="1473200"/>
            <a:ext cx="10160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name is a proxy for gender. So are the words and affiliations around it.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327" name="Rectangle 5"/>
          <p:cNvSpPr/>
          <p:nvPr/>
        </p:nvSpPr>
        <p:spPr>
          <a:xfrm>
            <a:off x="812800" y="2082800"/>
            <a:ext cx="6223000" cy="3810000"/>
          </a:xfrm>
          <a:prstGeom prst="roundRect">
            <a:avLst/>
          </a:prstGeom>
          <a:solidFill>
            <a:srgbClr val="0F141D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8" name="TextBox 6"/>
          <p:cNvSpPr txBox="1"/>
          <p:nvPr/>
        </p:nvSpPr>
        <p:spPr>
          <a:xfrm>
            <a:off x="1066800" y="2311400"/>
            <a:ext cx="546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CV  /  PARSED FIELDS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29" name="Rectangle 7"/>
          <p:cNvSpPr/>
          <p:nvPr/>
        </p:nvSpPr>
        <p:spPr>
          <a:xfrm>
            <a:off x="1066800" y="2692400"/>
            <a:ext cx="5715000" cy="431800"/>
          </a:xfrm>
          <a:prstGeom prst="roundRect">
            <a:avLst/>
          </a:prstGeom>
          <a:solidFill>
            <a:srgbClr val="1A1D24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0" name="TextBox 8"/>
          <p:cNvSpPr txBox="1"/>
          <p:nvPr/>
        </p:nvSpPr>
        <p:spPr>
          <a:xfrm>
            <a:off x="1244600" y="27813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6F7682"/>
                </a:solidFill>
              </a:rPr>
              <a:t>Name</a:t>
            </a:r>
            <a:endParaRPr sz="1100">
              <a:solidFill>
                <a:srgbClr val="6F7682"/>
              </a:solidFill>
            </a:endParaRPr>
          </a:p>
        </p:txBody>
      </p:sp>
      <p:sp>
        <p:nvSpPr>
          <p:cNvPr id="331" name="TextBox 9"/>
          <p:cNvSpPr txBox="1"/>
          <p:nvPr/>
        </p:nvSpPr>
        <p:spPr>
          <a:xfrm>
            <a:off x="4572000" y="27813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98781"/>
                </a:solidFill>
              </a:rPr>
              <a:t>MASKED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32" name="Rectangle 10"/>
          <p:cNvSpPr/>
          <p:nvPr/>
        </p:nvSpPr>
        <p:spPr>
          <a:xfrm>
            <a:off x="1066800" y="32258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3" name="TextBox 11"/>
          <p:cNvSpPr txBox="1"/>
          <p:nvPr/>
        </p:nvSpPr>
        <p:spPr>
          <a:xfrm>
            <a:off x="1244600" y="33147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Pronouns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334" name="TextBox 12"/>
          <p:cNvSpPr txBox="1"/>
          <p:nvPr/>
        </p:nvSpPr>
        <p:spPr>
          <a:xfrm>
            <a:off x="4572000" y="33147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335" name="Rectangle 13"/>
          <p:cNvSpPr/>
          <p:nvPr/>
        </p:nvSpPr>
        <p:spPr>
          <a:xfrm>
            <a:off x="1066800" y="37592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6" name="TextBox 14"/>
          <p:cNvSpPr txBox="1"/>
          <p:nvPr/>
        </p:nvSpPr>
        <p:spPr>
          <a:xfrm>
            <a:off x="1244600" y="38481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Affiliations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337" name="TextBox 15"/>
          <p:cNvSpPr txBox="1"/>
          <p:nvPr/>
        </p:nvSpPr>
        <p:spPr>
          <a:xfrm>
            <a:off x="4572000" y="38481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338" name="Rectangle 16"/>
          <p:cNvSpPr/>
          <p:nvPr/>
        </p:nvSpPr>
        <p:spPr>
          <a:xfrm>
            <a:off x="1066800" y="42926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9" name="TextBox 17"/>
          <p:cNvSpPr txBox="1"/>
          <p:nvPr/>
        </p:nvSpPr>
        <p:spPr>
          <a:xfrm>
            <a:off x="1244600" y="43815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Career-gap reason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340" name="TextBox 18"/>
          <p:cNvSpPr txBox="1"/>
          <p:nvPr/>
        </p:nvSpPr>
        <p:spPr>
          <a:xfrm>
            <a:off x="4572000" y="43815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341" name="Rectangle 19"/>
          <p:cNvSpPr/>
          <p:nvPr/>
        </p:nvSpPr>
        <p:spPr>
          <a:xfrm>
            <a:off x="1066800" y="48260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2" name="TextBox 20"/>
          <p:cNvSpPr txBox="1"/>
          <p:nvPr/>
        </p:nvSpPr>
        <p:spPr>
          <a:xfrm>
            <a:off x="1244600" y="49149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Gendered language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343" name="TextBox 21"/>
          <p:cNvSpPr txBox="1"/>
          <p:nvPr/>
        </p:nvSpPr>
        <p:spPr>
          <a:xfrm>
            <a:off x="4572000" y="49149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344" name="Rectangle 22"/>
          <p:cNvSpPr/>
          <p:nvPr/>
        </p:nvSpPr>
        <p:spPr>
          <a:xfrm>
            <a:off x="1066800" y="53594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5" name="TextBox 23"/>
          <p:cNvSpPr txBox="1"/>
          <p:nvPr/>
        </p:nvSpPr>
        <p:spPr>
          <a:xfrm>
            <a:off x="1244600" y="54483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Career patterns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346" name="TextBox 24"/>
          <p:cNvSpPr txBox="1"/>
          <p:nvPr/>
        </p:nvSpPr>
        <p:spPr>
          <a:xfrm>
            <a:off x="4572000" y="54483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347" name="Arrow 25"/>
          <p:cNvSpPr/>
          <p:nvPr/>
        </p:nvSpPr>
        <p:spPr>
          <a:xfrm>
            <a:off x="7086600" y="3810000"/>
            <a:ext cx="584200" cy="355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8" name="Rectangle 26"/>
          <p:cNvSpPr/>
          <p:nvPr/>
        </p:nvSpPr>
        <p:spPr>
          <a:xfrm>
            <a:off x="7772400" y="2082800"/>
            <a:ext cx="3606800" cy="3810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9" name="TextBox 27"/>
          <p:cNvSpPr txBox="1"/>
          <p:nvPr/>
        </p:nvSpPr>
        <p:spPr>
          <a:xfrm>
            <a:off x="8026400" y="2311400"/>
            <a:ext cx="3098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THE ENCODER SEES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50" name="TextBox 28"/>
          <p:cNvSpPr txBox="1"/>
          <p:nvPr/>
        </p:nvSpPr>
        <p:spPr>
          <a:xfrm>
            <a:off x="8026400" y="2692400"/>
            <a:ext cx="3098800" cy="4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C3C2B7"/>
                </a:solidFill>
              </a:rPr>
              <a:t>The name is gone. The hidden state still separates genders.</a:t>
            </a:r>
            <a:endParaRPr sz="1000">
              <a:solidFill>
                <a:srgbClr val="C3C2B7"/>
              </a:solidFill>
            </a:endParaRPr>
          </a:p>
        </p:txBody>
      </p:sp>
      <p:sp>
        <p:nvSpPr>
          <p:cNvPr id="351" name="TextBox 29"/>
          <p:cNvSpPr txBox="1"/>
          <p:nvPr/>
        </p:nvSpPr>
        <p:spPr>
          <a:xfrm>
            <a:off x="8026400" y="3378200"/>
            <a:ext cx="30988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D03B3B"/>
                </a:solidFill>
              </a:rPr>
              <a:t>87%</a:t>
            </a:r>
            <a:endParaRPr sz="5400" b="1">
              <a:solidFill>
                <a:srgbClr val="D03B3B"/>
              </a:solidFill>
            </a:endParaRPr>
          </a:p>
        </p:txBody>
      </p:sp>
      <p:sp>
        <p:nvSpPr>
          <p:cNvPr id="352" name="TextBox 30"/>
          <p:cNvSpPr txBox="1"/>
          <p:nvPr/>
        </p:nvSpPr>
        <p:spPr>
          <a:xfrm>
            <a:off x="8026400" y="4292600"/>
            <a:ext cx="2921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C3C2B7"/>
                </a:solidFill>
              </a:rPr>
              <a:t>of the score gap survives name masking</a:t>
            </a:r>
            <a:endParaRPr sz="1000">
              <a:solidFill>
                <a:srgbClr val="C3C2B7"/>
              </a:solidFill>
            </a:endParaRPr>
          </a:p>
        </p:txBody>
      </p:sp>
      <p:sp>
        <p:nvSpPr>
          <p:cNvPr id="353" name="TextBox 31"/>
          <p:cNvSpPr txBox="1"/>
          <p:nvPr/>
        </p:nvSpPr>
        <p:spPr>
          <a:xfrm>
            <a:off x="8026400" y="4927600"/>
            <a:ext cx="3098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PROBE  100%  ·  CHANCE  50%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354" name="TextBox 32"/>
          <p:cNvSpPr txBox="1"/>
          <p:nvPr/>
        </p:nvSpPr>
        <p:spPr>
          <a:xfrm>
            <a:off x="8026400" y="5308600"/>
            <a:ext cx="30988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The output looks blind. The representation is not.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355" name="TextBox 33"/>
          <p:cNvSpPr txBox="1"/>
          <p:nvPr/>
        </p:nvSpPr>
        <p:spPr>
          <a:xfrm>
            <a:off x="812800" y="6172200"/>
            <a:ext cx="105410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solidFill>
                  <a:srgbClr val="9FE870"/>
                </a:solidFill>
              </a:rPr>
              <a:t>Masking is a string operation. Bias is a representation operation.</a:t>
            </a:r>
            <a:endParaRPr sz="1400">
              <a:solidFill>
                <a:srgbClr val="9FE870"/>
              </a:solidFill>
            </a:endParaRPr>
          </a:p>
        </p:txBody>
      </p:sp>
      <p:sp>
        <p:nvSpPr>
          <p:cNvPr id="356" name="TextBox 34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05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9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04  /  BENCHMARK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360" name="TextBox 3"/>
          <p:cNvSpPr txBox="1"/>
          <p:nvPr/>
        </p:nvSpPr>
        <p:spPr>
          <a:xfrm>
            <a:off x="812800" y="812800"/>
            <a:ext cx="10795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0EFEC"/>
                </a:solidFill>
              </a:rPr>
              <a:t>A controlled benchmark with known ground truth.</a:t>
            </a:r>
            <a:endParaRPr sz="3200" b="1">
              <a:solidFill>
                <a:srgbClr val="F0EFEC"/>
              </a:solidFill>
            </a:endParaRPr>
          </a:p>
        </p:txBody>
      </p:sp>
      <p:sp>
        <p:nvSpPr>
          <p:cNvPr id="361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We inject a known name-linked penalty, then test whether the audit recovers it — and removes it.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362" name="Rectangle 5"/>
          <p:cNvSpPr/>
          <p:nvPr/>
        </p:nvSpPr>
        <p:spPr>
          <a:xfrm>
            <a:off x="609600" y="2362200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3" name="TextBox 6"/>
          <p:cNvSpPr txBox="1"/>
          <p:nvPr/>
        </p:nvSpPr>
        <p:spPr>
          <a:xfrm>
            <a:off x="787400" y="25400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DATA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64" name="TextBox 7"/>
          <p:cNvSpPr txBox="1"/>
          <p:nvPr/>
        </p:nvSpPr>
        <p:spPr>
          <a:xfrm>
            <a:off x="787400" y="2794000"/>
            <a:ext cx="17272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800 matched CV pairs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365" name="TextBox 8"/>
          <p:cNvSpPr txBox="1"/>
          <p:nvPr/>
        </p:nvSpPr>
        <p:spPr>
          <a:xfrm>
            <a:off x="787400" y="32766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1,600 CVs total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366" name="Arrow 9"/>
          <p:cNvSpPr/>
          <p:nvPr/>
        </p:nvSpPr>
        <p:spPr>
          <a:xfrm>
            <a:off x="2768600" y="2819400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7" name="Rectangle 10"/>
          <p:cNvSpPr/>
          <p:nvPr/>
        </p:nvSpPr>
        <p:spPr>
          <a:xfrm>
            <a:off x="3073400" y="2362200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8" name="TextBox 11"/>
          <p:cNvSpPr txBox="1"/>
          <p:nvPr/>
        </p:nvSpPr>
        <p:spPr>
          <a:xfrm>
            <a:off x="3251200" y="25400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ENCODER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69" name="TextBox 12"/>
          <p:cNvSpPr txBox="1"/>
          <p:nvPr/>
        </p:nvSpPr>
        <p:spPr>
          <a:xfrm>
            <a:off x="3251200" y="2794000"/>
            <a:ext cx="17272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MiniLM-L6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370" name="TextBox 13"/>
          <p:cNvSpPr txBox="1"/>
          <p:nvPr/>
        </p:nvSpPr>
        <p:spPr>
          <a:xfrm>
            <a:off x="3251200" y="32766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layer-6 hidden states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371" name="Arrow 14"/>
          <p:cNvSpPr/>
          <p:nvPr/>
        </p:nvSpPr>
        <p:spPr>
          <a:xfrm>
            <a:off x="5232400" y="2819400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2" name="Rectangle 15"/>
          <p:cNvSpPr/>
          <p:nvPr/>
        </p:nvSpPr>
        <p:spPr>
          <a:xfrm>
            <a:off x="5537200" y="2362200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3" name="TextBox 16"/>
          <p:cNvSpPr txBox="1"/>
          <p:nvPr/>
        </p:nvSpPr>
        <p:spPr>
          <a:xfrm>
            <a:off x="5715000" y="25400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RANKER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74" name="TextBox 17"/>
          <p:cNvSpPr txBox="1"/>
          <p:nvPr/>
        </p:nvSpPr>
        <p:spPr>
          <a:xfrm>
            <a:off x="5715000" y="2794000"/>
            <a:ext cx="17272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Linear head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375" name="TextBox 18"/>
          <p:cNvSpPr txBox="1"/>
          <p:nvPr/>
        </p:nvSpPr>
        <p:spPr>
          <a:xfrm>
            <a:off x="5715000" y="32766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shortlist probability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376" name="Arrow 19"/>
          <p:cNvSpPr/>
          <p:nvPr/>
        </p:nvSpPr>
        <p:spPr>
          <a:xfrm>
            <a:off x="7696200" y="2819400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7" name="Rectangle 20"/>
          <p:cNvSpPr/>
          <p:nvPr/>
        </p:nvSpPr>
        <p:spPr>
          <a:xfrm>
            <a:off x="8001000" y="2362200"/>
            <a:ext cx="1701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8" name="TextBox 21"/>
          <p:cNvSpPr txBox="1"/>
          <p:nvPr/>
        </p:nvSpPr>
        <p:spPr>
          <a:xfrm>
            <a:off x="8178800" y="25400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AUDIT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79" name="TextBox 22"/>
          <p:cNvSpPr txBox="1"/>
          <p:nvPr/>
        </p:nvSpPr>
        <p:spPr>
          <a:xfrm>
            <a:off x="8178800" y="2794000"/>
            <a:ext cx="13716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Behavior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380" name="TextBox 23"/>
          <p:cNvSpPr txBox="1"/>
          <p:nvPr/>
        </p:nvSpPr>
        <p:spPr>
          <a:xfrm>
            <a:off x="8178800" y="32766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score gap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381" name="Rectangle 24"/>
          <p:cNvSpPr/>
          <p:nvPr/>
        </p:nvSpPr>
        <p:spPr>
          <a:xfrm>
            <a:off x="9880600" y="2362200"/>
            <a:ext cx="1701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2" name="TextBox 25"/>
          <p:cNvSpPr txBox="1"/>
          <p:nvPr/>
        </p:nvSpPr>
        <p:spPr>
          <a:xfrm>
            <a:off x="10058400" y="25400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05  /  AUDIT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83" name="TextBox 26"/>
          <p:cNvSpPr txBox="1"/>
          <p:nvPr/>
        </p:nvSpPr>
        <p:spPr>
          <a:xfrm>
            <a:off x="10058400" y="2794000"/>
            <a:ext cx="13716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Activation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384" name="TextBox 27"/>
          <p:cNvSpPr txBox="1"/>
          <p:nvPr/>
        </p:nvSpPr>
        <p:spPr>
          <a:xfrm>
            <a:off x="10058400" y="32766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probe + LEACE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385" name="Rectangle 28"/>
          <p:cNvSpPr/>
          <p:nvPr/>
        </p:nvSpPr>
        <p:spPr>
          <a:xfrm>
            <a:off x="812800" y="3937000"/>
            <a:ext cx="5181600" cy="190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6" name="TextBox 29"/>
          <p:cNvSpPr txBox="1"/>
          <p:nvPr/>
        </p:nvSpPr>
        <p:spPr>
          <a:xfrm>
            <a:off x="1066800" y="4140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DESIGN CHOICES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87" name="TextBox 30"/>
          <p:cNvSpPr txBox="1"/>
          <p:nvPr/>
        </p:nvSpPr>
        <p:spPr>
          <a:xfrm>
            <a:off x="1066800" y="4445000"/>
            <a:ext cx="467360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8 job families  ·  10 features</a:t>
            </a:r>
            <a:endParaRPr sz="110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80/20 split by candidate  ·  no pair leakage</a:t>
            </a:r>
            <a:endParaRPr sz="110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5-fold group CV for probes</a:t>
            </a:r>
            <a:endParaRPr sz="110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synthetic labels with a known injected gap</a:t>
            </a:r>
            <a:endParaRPr sz="1100">
              <a:solidFill>
                <a:srgbClr val="C3C2B7"/>
              </a:solidFill>
            </a:endParaRPr>
          </a:p>
        </p:txBody>
      </p:sp>
      <p:sp>
        <p:nvSpPr>
          <p:cNvPr id="388" name="Rectangle 31"/>
          <p:cNvSpPr/>
          <p:nvPr/>
        </p:nvSpPr>
        <p:spPr>
          <a:xfrm>
            <a:off x="6248400" y="3937000"/>
            <a:ext cx="5130800" cy="190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9" name="TextBox 32"/>
          <p:cNvSpPr txBox="1"/>
          <p:nvPr/>
        </p:nvSpPr>
        <p:spPr>
          <a:xfrm>
            <a:off x="6502400" y="4140200"/>
            <a:ext cx="4622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BUYS US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390" name="TextBox 33"/>
          <p:cNvSpPr txBox="1"/>
          <p:nvPr/>
        </p:nvSpPr>
        <p:spPr>
          <a:xfrm>
            <a:off x="6502400" y="4445000"/>
            <a:ext cx="462280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A known bias direction, so we can measure</a:t>
            </a:r>
            <a:endParaRPr sz="110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what the audit catches and what it misses.</a:t>
            </a:r>
            <a:endParaRPr sz="110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The absolute numbers are not a production claim;</a:t>
            </a:r>
            <a:endParaRPr sz="110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the causal comparison is the point.</a:t>
            </a:r>
            <a:endParaRPr sz="1100">
              <a:solidFill>
                <a:srgbClr val="C3C2B7"/>
              </a:solidFill>
            </a:endParaRPr>
          </a:p>
        </p:txBody>
      </p:sp>
      <p:sp>
        <p:nvSpPr>
          <p:cNvPr id="391" name="TextBox 34"/>
          <p:cNvSpPr txBox="1"/>
          <p:nvPr/>
        </p:nvSpPr>
        <p:spPr>
          <a:xfrm>
            <a:off x="812800" y="6172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9FE870"/>
                </a:solidFill>
              </a:rPr>
              <a:t>Synthetic ground truth → measurable recovery → a test we can rerun on real logs.</a:t>
            </a:r>
            <a:endParaRPr sz="1200">
              <a:solidFill>
                <a:srgbClr val="9FE870"/>
              </a:solidFill>
            </a:endParaRPr>
          </a:p>
        </p:txBody>
      </p:sp>
      <p:sp>
        <p:nvSpPr>
          <p:cNvPr id="392" name="TextBox 3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06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5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05  /  FEATURES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396" name="TextBox 3"/>
          <p:cNvSpPr txBox="1"/>
          <p:nvPr/>
        </p:nvSpPr>
        <p:spPr>
          <a:xfrm>
            <a:off x="812800" y="812800"/>
            <a:ext cx="10795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10 features. Only 4 carry identity.</a:t>
            </a:r>
            <a:endParaRPr sz="3400" b="1">
              <a:solidFill>
                <a:srgbClr val="F0EFEC"/>
              </a:solidFill>
            </a:endParaRPr>
          </a:p>
        </p:txBody>
      </p:sp>
      <p:sp>
        <p:nvSpPr>
          <p:cNvPr id="397" name="TextBox 4"/>
          <p:cNvSpPr txBox="1"/>
          <p:nvPr/>
        </p:nvSpPr>
        <p:spPr>
          <a:xfrm>
            <a:off x="812800" y="1473200"/>
            <a:ext cx="1066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The ranker sees all 10. A fair ranker should be sensitive to the 6 merit features — and invariant to the 4 identity features.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398" name="Rectangle 5"/>
          <p:cNvSpPr/>
          <p:nvPr/>
        </p:nvSpPr>
        <p:spPr>
          <a:xfrm>
            <a:off x="812800" y="2209800"/>
            <a:ext cx="4826000" cy="3835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9" name="TextBox 6"/>
          <p:cNvSpPr txBox="1"/>
          <p:nvPr/>
        </p:nvSpPr>
        <p:spPr>
          <a:xfrm>
            <a:off x="1066800" y="2438400"/>
            <a:ext cx="431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95926"/>
                </a:solidFill>
              </a:rPr>
              <a:t>IDENTITY-LINKED  /  4</a:t>
            </a:r>
            <a:endParaRPr sz="800" b="1">
              <a:solidFill>
                <a:srgbClr val="D95926"/>
              </a:solidFill>
            </a:endParaRPr>
          </a:p>
        </p:txBody>
      </p:sp>
      <p:sp>
        <p:nvSpPr>
          <p:cNvPr id="400" name="Rectangle 7"/>
          <p:cNvSpPr/>
          <p:nvPr/>
        </p:nvSpPr>
        <p:spPr>
          <a:xfrm>
            <a:off x="1066800" y="28194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1" name="TextBox 8"/>
          <p:cNvSpPr txBox="1"/>
          <p:nvPr/>
        </p:nvSpPr>
        <p:spPr>
          <a:xfrm>
            <a:off x="1219200" y="29464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01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402" name="TextBox 9"/>
          <p:cNvSpPr txBox="1"/>
          <p:nvPr/>
        </p:nvSpPr>
        <p:spPr>
          <a:xfrm>
            <a:off x="1219200" y="31750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Name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403" name="TextBox 10"/>
          <p:cNvSpPr txBox="1"/>
          <p:nvPr/>
        </p:nvSpPr>
        <p:spPr>
          <a:xfrm>
            <a:off x="1219200" y="35052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Emily Carter</a:t>
            </a:r>
            <a:endParaRPr sz="800">
              <a:solidFill>
                <a:srgbClr val="C3C2B7"/>
              </a:solidFill>
            </a:endParaRPr>
          </a:p>
          <a:p>
            <a:r>
              <a:rPr sz="800">
                <a:solidFill>
                  <a:srgbClr val="C3C2B7"/>
                </a:solidFill>
              </a:rPr>
              <a:t>James Carter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04" name="Rectangle 11"/>
          <p:cNvSpPr/>
          <p:nvPr/>
        </p:nvSpPr>
        <p:spPr>
          <a:xfrm>
            <a:off x="3352800" y="28194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5" name="TextBox 12"/>
          <p:cNvSpPr txBox="1"/>
          <p:nvPr/>
        </p:nvSpPr>
        <p:spPr>
          <a:xfrm>
            <a:off x="3505200" y="29464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02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406" name="TextBox 13"/>
          <p:cNvSpPr txBox="1"/>
          <p:nvPr/>
        </p:nvSpPr>
        <p:spPr>
          <a:xfrm>
            <a:off x="3505200" y="31750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Pronouns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407" name="TextBox 14"/>
          <p:cNvSpPr txBox="1"/>
          <p:nvPr/>
        </p:nvSpPr>
        <p:spPr>
          <a:xfrm>
            <a:off x="3505200" y="35052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she/her</a:t>
            </a:r>
            <a:endParaRPr sz="800">
              <a:solidFill>
                <a:srgbClr val="C3C2B7"/>
              </a:solidFill>
            </a:endParaRPr>
          </a:p>
          <a:p>
            <a:r>
              <a:rPr sz="800">
                <a:solidFill>
                  <a:srgbClr val="C3C2B7"/>
                </a:solidFill>
              </a:rPr>
              <a:t>he/him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08" name="Rectangle 15"/>
          <p:cNvSpPr/>
          <p:nvPr/>
        </p:nvSpPr>
        <p:spPr>
          <a:xfrm>
            <a:off x="1066800" y="41656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9" name="TextBox 16"/>
          <p:cNvSpPr txBox="1"/>
          <p:nvPr/>
        </p:nvSpPr>
        <p:spPr>
          <a:xfrm>
            <a:off x="1219200" y="42926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03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410" name="TextBox 17"/>
          <p:cNvSpPr txBox="1"/>
          <p:nvPr/>
        </p:nvSpPr>
        <p:spPr>
          <a:xfrm>
            <a:off x="1219200" y="45212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Affiliation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411" name="TextBox 18"/>
          <p:cNvSpPr txBox="1"/>
          <p:nvPr/>
        </p:nvSpPr>
        <p:spPr>
          <a:xfrm>
            <a:off x="1219200" y="48514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women’s club</a:t>
            </a:r>
            <a:endParaRPr sz="800">
              <a:solidFill>
                <a:srgbClr val="C3C2B7"/>
              </a:solidFill>
            </a:endParaRPr>
          </a:p>
          <a:p>
            <a:r>
              <a:rPr sz="800">
                <a:solidFill>
                  <a:srgbClr val="C3C2B7"/>
                </a:solidFill>
              </a:rPr>
              <a:t>fraternity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12" name="Rectangle 19"/>
          <p:cNvSpPr/>
          <p:nvPr/>
        </p:nvSpPr>
        <p:spPr>
          <a:xfrm>
            <a:off x="3352800" y="41656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3" name="TextBox 20"/>
          <p:cNvSpPr txBox="1"/>
          <p:nvPr/>
        </p:nvSpPr>
        <p:spPr>
          <a:xfrm>
            <a:off x="3505200" y="42926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04</a:t>
            </a:r>
            <a:endParaRPr sz="800">
              <a:solidFill>
                <a:srgbClr val="D95926"/>
              </a:solidFill>
            </a:endParaRPr>
          </a:p>
        </p:txBody>
      </p:sp>
      <p:sp>
        <p:nvSpPr>
          <p:cNvPr id="414" name="TextBox 21"/>
          <p:cNvSpPr txBox="1"/>
          <p:nvPr/>
        </p:nvSpPr>
        <p:spPr>
          <a:xfrm>
            <a:off x="3505200" y="4521200"/>
            <a:ext cx="177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Career-gap reason</a:t>
            </a:r>
            <a:endParaRPr sz="1000" b="1">
              <a:solidFill>
                <a:srgbClr val="F0EFEC"/>
              </a:solidFill>
            </a:endParaRPr>
          </a:p>
        </p:txBody>
      </p:sp>
      <p:sp>
        <p:nvSpPr>
          <p:cNvPr id="415" name="TextBox 22"/>
          <p:cNvSpPr txBox="1"/>
          <p:nvPr/>
        </p:nvSpPr>
        <p:spPr>
          <a:xfrm>
            <a:off x="3505200" y="48514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parental leave</a:t>
            </a:r>
            <a:endParaRPr sz="800">
              <a:solidFill>
                <a:srgbClr val="C3C2B7"/>
              </a:solidFill>
            </a:endParaRPr>
          </a:p>
          <a:p>
            <a:r>
              <a:rPr sz="800">
                <a:solidFill>
                  <a:srgbClr val="C3C2B7"/>
                </a:solidFill>
              </a:rPr>
              <a:t>sabbatical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16" name="Rectangle 23"/>
          <p:cNvSpPr/>
          <p:nvPr/>
        </p:nvSpPr>
        <p:spPr>
          <a:xfrm>
            <a:off x="5943600" y="2209800"/>
            <a:ext cx="5435600" cy="3835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7" name="TextBox 24"/>
          <p:cNvSpPr txBox="1"/>
          <p:nvPr/>
        </p:nvSpPr>
        <p:spPr>
          <a:xfrm>
            <a:off x="6197600" y="2438400"/>
            <a:ext cx="4927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3987E5"/>
                </a:solidFill>
              </a:rPr>
              <a:t>MERIT  /  6</a:t>
            </a:r>
            <a:endParaRPr sz="800" b="1">
              <a:solidFill>
                <a:srgbClr val="3987E5"/>
              </a:solidFill>
            </a:endParaRPr>
          </a:p>
        </p:txBody>
      </p:sp>
      <p:sp>
        <p:nvSpPr>
          <p:cNvPr id="418" name="Rectangle 25"/>
          <p:cNvSpPr/>
          <p:nvPr/>
        </p:nvSpPr>
        <p:spPr>
          <a:xfrm>
            <a:off x="6197600" y="28194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9" name="TextBox 26"/>
          <p:cNvSpPr txBox="1"/>
          <p:nvPr/>
        </p:nvSpPr>
        <p:spPr>
          <a:xfrm>
            <a:off x="6350000" y="2921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05</a:t>
            </a:r>
            <a:endParaRPr sz="800">
              <a:solidFill>
                <a:srgbClr val="3987E5"/>
              </a:solidFill>
            </a:endParaRPr>
          </a:p>
        </p:txBody>
      </p:sp>
      <p:sp>
        <p:nvSpPr>
          <p:cNvPr id="420" name="TextBox 27"/>
          <p:cNvSpPr txBox="1"/>
          <p:nvPr/>
        </p:nvSpPr>
        <p:spPr>
          <a:xfrm>
            <a:off x="6350000" y="31242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Skills match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21" name="TextBox 28"/>
          <p:cNvSpPr txBox="1"/>
          <p:nvPr/>
        </p:nvSpPr>
        <p:spPr>
          <a:xfrm>
            <a:off x="6350000" y="34036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4 of 6 required skills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22" name="Rectangle 29"/>
          <p:cNvSpPr/>
          <p:nvPr/>
        </p:nvSpPr>
        <p:spPr>
          <a:xfrm>
            <a:off x="8763000" y="28194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3" name="TextBox 30"/>
          <p:cNvSpPr txBox="1"/>
          <p:nvPr/>
        </p:nvSpPr>
        <p:spPr>
          <a:xfrm>
            <a:off x="8915400" y="2921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06</a:t>
            </a:r>
            <a:endParaRPr sz="800">
              <a:solidFill>
                <a:srgbClr val="3987E5"/>
              </a:solidFill>
            </a:endParaRPr>
          </a:p>
        </p:txBody>
      </p:sp>
      <p:sp>
        <p:nvSpPr>
          <p:cNvPr id="424" name="TextBox 31"/>
          <p:cNvSpPr txBox="1"/>
          <p:nvPr/>
        </p:nvSpPr>
        <p:spPr>
          <a:xfrm>
            <a:off x="8915400" y="31242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Years experience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25" name="TextBox 32"/>
          <p:cNvSpPr txBox="1"/>
          <p:nvPr/>
        </p:nvSpPr>
        <p:spPr>
          <a:xfrm>
            <a:off x="8915400" y="34036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0–15 years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26" name="Rectangle 33"/>
          <p:cNvSpPr/>
          <p:nvPr/>
        </p:nvSpPr>
        <p:spPr>
          <a:xfrm>
            <a:off x="6197600" y="38608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7" name="TextBox 34"/>
          <p:cNvSpPr txBox="1"/>
          <p:nvPr/>
        </p:nvSpPr>
        <p:spPr>
          <a:xfrm>
            <a:off x="6350000" y="3962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07</a:t>
            </a:r>
            <a:endParaRPr sz="800">
              <a:solidFill>
                <a:srgbClr val="3987E5"/>
              </a:solidFill>
            </a:endParaRPr>
          </a:p>
        </p:txBody>
      </p:sp>
      <p:sp>
        <p:nvSpPr>
          <p:cNvPr id="428" name="TextBox 35"/>
          <p:cNvSpPr txBox="1"/>
          <p:nvPr/>
        </p:nvSpPr>
        <p:spPr>
          <a:xfrm>
            <a:off x="6350000" y="41656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Education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29" name="TextBox 36"/>
          <p:cNvSpPr txBox="1"/>
          <p:nvPr/>
        </p:nvSpPr>
        <p:spPr>
          <a:xfrm>
            <a:off x="6350000" y="4445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BSc / MSc / PhD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30" name="Rectangle 37"/>
          <p:cNvSpPr/>
          <p:nvPr/>
        </p:nvSpPr>
        <p:spPr>
          <a:xfrm>
            <a:off x="8763000" y="38608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1" name="TextBox 38"/>
          <p:cNvSpPr txBox="1"/>
          <p:nvPr/>
        </p:nvSpPr>
        <p:spPr>
          <a:xfrm>
            <a:off x="8915400" y="3962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08</a:t>
            </a:r>
            <a:endParaRPr sz="800">
              <a:solidFill>
                <a:srgbClr val="3987E5"/>
              </a:solidFill>
            </a:endParaRPr>
          </a:p>
        </p:txBody>
      </p:sp>
      <p:sp>
        <p:nvSpPr>
          <p:cNvPr id="432" name="TextBox 39"/>
          <p:cNvSpPr txBox="1"/>
          <p:nvPr/>
        </p:nvSpPr>
        <p:spPr>
          <a:xfrm>
            <a:off x="8915400" y="41656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Seniority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33" name="TextBox 40"/>
          <p:cNvSpPr txBox="1"/>
          <p:nvPr/>
        </p:nvSpPr>
        <p:spPr>
          <a:xfrm>
            <a:off x="8915400" y="4445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Junior → Lead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34" name="Rectangle 41"/>
          <p:cNvSpPr/>
          <p:nvPr/>
        </p:nvSpPr>
        <p:spPr>
          <a:xfrm>
            <a:off x="6197600" y="49022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5" name="TextBox 42"/>
          <p:cNvSpPr txBox="1"/>
          <p:nvPr/>
        </p:nvSpPr>
        <p:spPr>
          <a:xfrm>
            <a:off x="6350000" y="50038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09</a:t>
            </a:r>
            <a:endParaRPr sz="800">
              <a:solidFill>
                <a:srgbClr val="3987E5"/>
              </a:solidFill>
            </a:endParaRPr>
          </a:p>
        </p:txBody>
      </p:sp>
      <p:sp>
        <p:nvSpPr>
          <p:cNvPr id="436" name="TextBox 43"/>
          <p:cNvSpPr txBox="1"/>
          <p:nvPr/>
        </p:nvSpPr>
        <p:spPr>
          <a:xfrm>
            <a:off x="6350000" y="52070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Certifications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37" name="TextBox 44"/>
          <p:cNvSpPr txBox="1"/>
          <p:nvPr/>
        </p:nvSpPr>
        <p:spPr>
          <a:xfrm>
            <a:off x="6350000" y="5486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0–4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38" name="Rectangle 45"/>
          <p:cNvSpPr/>
          <p:nvPr/>
        </p:nvSpPr>
        <p:spPr>
          <a:xfrm>
            <a:off x="8763000" y="49022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9" name="TextBox 46"/>
          <p:cNvSpPr txBox="1"/>
          <p:nvPr/>
        </p:nvSpPr>
        <p:spPr>
          <a:xfrm>
            <a:off x="8915400" y="50038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10</a:t>
            </a:r>
            <a:endParaRPr sz="800">
              <a:solidFill>
                <a:srgbClr val="3987E5"/>
              </a:solidFill>
            </a:endParaRPr>
          </a:p>
        </p:txBody>
      </p:sp>
      <p:sp>
        <p:nvSpPr>
          <p:cNvPr id="440" name="TextBox 47"/>
          <p:cNvSpPr txBox="1"/>
          <p:nvPr/>
        </p:nvSpPr>
        <p:spPr>
          <a:xfrm>
            <a:off x="8915400" y="52070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Projects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41" name="TextBox 48"/>
          <p:cNvSpPr txBox="1"/>
          <p:nvPr/>
        </p:nvSpPr>
        <p:spPr>
          <a:xfrm>
            <a:off x="8915400" y="5486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1–8 shipped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42" name="TextBox 49"/>
          <p:cNvSpPr txBox="1"/>
          <p:nvPr/>
        </p:nvSpPr>
        <p:spPr>
          <a:xfrm>
            <a:off x="812800" y="61722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FE870"/>
                </a:solidFill>
              </a:rPr>
              <a:t>Feature audit: name 42% of the gap  ·  pronouns 31%  ·  affiliation 5%  ·  career-gap reason 0%</a:t>
            </a:r>
            <a:endParaRPr sz="1000">
              <a:solidFill>
                <a:srgbClr val="9FE870"/>
              </a:solidFill>
            </a:endParaRPr>
          </a:p>
        </p:txBody>
      </p:sp>
      <p:sp>
        <p:nvSpPr>
          <p:cNvPr id="443" name="TextBox 50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07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6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06  /  TEST 1 — BEHAVIOR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447" name="TextBox 3"/>
          <p:cNvSpPr txBox="1"/>
          <p:nvPr/>
        </p:nvSpPr>
        <p:spPr>
          <a:xfrm>
            <a:off x="812800" y="812800"/>
            <a:ext cx="10541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Paired name-swap audit.</a:t>
            </a:r>
            <a:endParaRPr sz="3400" b="1">
              <a:solidFill>
                <a:srgbClr val="F0EFEC"/>
              </a:solidFill>
            </a:endParaRPr>
          </a:p>
        </p:txBody>
      </p:sp>
      <p:sp>
        <p:nvSpPr>
          <p:cNvPr id="448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Same qualifications. Swap only the identity cues. Compare scores and shortlist rates.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449" name="Rectangle 5"/>
          <p:cNvSpPr/>
          <p:nvPr/>
        </p:nvSpPr>
        <p:spPr>
          <a:xfrm>
            <a:off x="812800" y="2209800"/>
            <a:ext cx="4445000" cy="3022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0" name="TextBox 6"/>
          <p:cNvSpPr txBox="1"/>
          <p:nvPr/>
        </p:nvSpPr>
        <p:spPr>
          <a:xfrm>
            <a:off x="1066800" y="2438400"/>
            <a:ext cx="3937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PROTOCOL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451" name="TextBox 7"/>
          <p:cNvSpPr txBox="1"/>
          <p:nvPr/>
        </p:nvSpPr>
        <p:spPr>
          <a:xfrm>
            <a:off x="1066800" y="27686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1  Match on merit features.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452" name="TextBox 8"/>
          <p:cNvSpPr txBox="1"/>
          <p:nvPr/>
        </p:nvSpPr>
        <p:spPr>
          <a:xfrm>
            <a:off x="1066800" y="32004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2  Swap name, pronouns, affiliation, gap reason.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453" name="TextBox 9"/>
          <p:cNvSpPr txBox="1"/>
          <p:nvPr/>
        </p:nvSpPr>
        <p:spPr>
          <a:xfrm>
            <a:off x="1066800" y="37592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3  Score both with the same ranker.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454" name="TextBox 10"/>
          <p:cNvSpPr txBox="1"/>
          <p:nvPr/>
        </p:nvSpPr>
        <p:spPr>
          <a:xfrm>
            <a:off x="1066800" y="41910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4  Compare paired differences, not group means.</a:t>
            </a:r>
            <a:endParaRPr sz="1100">
              <a:solidFill>
                <a:srgbClr val="F0EFEC"/>
              </a:solidFill>
            </a:endParaRPr>
          </a:p>
        </p:txBody>
      </p:sp>
      <p:sp>
        <p:nvSpPr>
          <p:cNvPr id="455" name="TextBox 11"/>
          <p:cNvSpPr txBox="1"/>
          <p:nvPr/>
        </p:nvSpPr>
        <p:spPr>
          <a:xfrm>
            <a:off x="1066800" y="4749800"/>
            <a:ext cx="3937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Repeat across 8 job families.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456" name="Rectangle 12"/>
          <p:cNvSpPr/>
          <p:nvPr/>
        </p:nvSpPr>
        <p:spPr>
          <a:xfrm>
            <a:off x="5588000" y="2209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7" name="TextBox 13"/>
          <p:cNvSpPr txBox="1"/>
          <p:nvPr/>
        </p:nvSpPr>
        <p:spPr>
          <a:xfrm>
            <a:off x="5791200" y="2387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SCORE GAP  /  PAIR i, JOB j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58" name="TextBox 14"/>
          <p:cNvSpPr txBox="1"/>
          <p:nvPr/>
        </p:nvSpPr>
        <p:spPr>
          <a:xfrm>
            <a:off x="5791200" y="2667000"/>
            <a:ext cx="24130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dᵢⱼ = sᶠᵢⱼ − sᵐᵢⱼ</a:t>
            </a:r>
            <a:endParaRPr sz="1400" b="1">
              <a:solidFill>
                <a:srgbClr val="F0EFEC"/>
              </a:solidFill>
            </a:endParaRPr>
          </a:p>
        </p:txBody>
      </p:sp>
      <p:sp>
        <p:nvSpPr>
          <p:cNvPr id="459" name="TextBox 15"/>
          <p:cNvSpPr txBox="1"/>
          <p:nvPr/>
        </p:nvSpPr>
        <p:spPr>
          <a:xfrm>
            <a:off x="5791200" y="3098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The same CV, scored twice.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460" name="Rectangle 16"/>
          <p:cNvSpPr/>
          <p:nvPr/>
        </p:nvSpPr>
        <p:spPr>
          <a:xfrm>
            <a:off x="8585200" y="2209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1" name="TextBox 17"/>
          <p:cNvSpPr txBox="1"/>
          <p:nvPr/>
        </p:nvSpPr>
        <p:spPr>
          <a:xfrm>
            <a:off x="8788400" y="2387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SHORTLIST GAP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62" name="TextBox 18"/>
          <p:cNvSpPr txBox="1"/>
          <p:nvPr/>
        </p:nvSpPr>
        <p:spPr>
          <a:xfrm>
            <a:off x="8788400" y="2667000"/>
            <a:ext cx="2413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P(shortlist | F) − P(shortlist | M)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63" name="TextBox 19"/>
          <p:cNvSpPr txBox="1"/>
          <p:nvPr/>
        </p:nvSpPr>
        <p:spPr>
          <a:xfrm>
            <a:off x="8788400" y="3098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At the real cutoff, not a proxy.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464" name="Rectangle 20"/>
          <p:cNvSpPr/>
          <p:nvPr/>
        </p:nvSpPr>
        <p:spPr>
          <a:xfrm>
            <a:off x="5588000" y="3733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5" name="TextBox 21"/>
          <p:cNvSpPr txBox="1"/>
          <p:nvPr/>
        </p:nvSpPr>
        <p:spPr>
          <a:xfrm>
            <a:off x="5791200" y="3911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DEMOGRAPHIC PARITY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66" name="TextBox 22"/>
          <p:cNvSpPr txBox="1"/>
          <p:nvPr/>
        </p:nvSpPr>
        <p:spPr>
          <a:xfrm>
            <a:off x="5791200" y="4191000"/>
            <a:ext cx="2413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Δ = |P(Ŷ=1 | A=F) − P(Ŷ=1 | A=M)|</a:t>
            </a:r>
            <a:endParaRPr sz="1000" b="1">
              <a:solidFill>
                <a:srgbClr val="F0EFEC"/>
              </a:solidFill>
            </a:endParaRPr>
          </a:p>
        </p:txBody>
      </p:sp>
      <p:sp>
        <p:nvSpPr>
          <p:cNvPr id="467" name="TextBox 23"/>
          <p:cNvSpPr txBox="1"/>
          <p:nvPr/>
        </p:nvSpPr>
        <p:spPr>
          <a:xfrm>
            <a:off x="5791200" y="4622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 one-number selection check.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468" name="Rectangle 24"/>
          <p:cNvSpPr/>
          <p:nvPr/>
        </p:nvSpPr>
        <p:spPr>
          <a:xfrm>
            <a:off x="8585200" y="3733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9" name="TextBox 25"/>
          <p:cNvSpPr txBox="1"/>
          <p:nvPr/>
        </p:nvSpPr>
        <p:spPr>
          <a:xfrm>
            <a:off x="8788400" y="3911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BALANCED ACCURACY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70" name="TextBox 26"/>
          <p:cNvSpPr txBox="1"/>
          <p:nvPr/>
        </p:nvSpPr>
        <p:spPr>
          <a:xfrm>
            <a:off x="8788400" y="4191000"/>
            <a:ext cx="2413000" cy="40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50" b="1">
                <a:solidFill>
                  <a:srgbClr val="F0EFEC"/>
                </a:solidFill>
              </a:rPr>
              <a:t>½ (qualified acceptance</a:t>
            </a:r>
            <a:endParaRPr sz="950" b="1">
              <a:solidFill>
                <a:srgbClr val="F0EFEC"/>
              </a:solidFill>
            </a:endParaRPr>
          </a:p>
          <a:p>
            <a:pPr>
              <a:lnSpc>
                <a:spcPct val="110000"/>
              </a:lnSpc>
            </a:pPr>
            <a:r>
              <a:rPr sz="950" b="1">
                <a:solidFill>
                  <a:srgbClr val="F0EFEC"/>
                </a:solidFill>
              </a:rPr>
              <a:t>+ unqualified rejection)</a:t>
            </a:r>
            <a:endParaRPr sz="950" b="1">
              <a:solidFill>
                <a:srgbClr val="F0EFEC"/>
              </a:solidFill>
            </a:endParaRPr>
          </a:p>
        </p:txBody>
      </p:sp>
      <p:sp>
        <p:nvSpPr>
          <p:cNvPr id="471" name="TextBox 27"/>
          <p:cNvSpPr txBox="1"/>
          <p:nvPr/>
        </p:nvSpPr>
        <p:spPr>
          <a:xfrm>
            <a:off x="8788400" y="4622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Catches a model that rejects everyone.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472" name="Rectangle 28"/>
          <p:cNvSpPr/>
          <p:nvPr/>
        </p:nvSpPr>
        <p:spPr>
          <a:xfrm>
            <a:off x="812800" y="5486400"/>
            <a:ext cx="10795000" cy="558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3" name="TextBox 29"/>
          <p:cNvSpPr txBox="1"/>
          <p:nvPr/>
        </p:nvSpPr>
        <p:spPr>
          <a:xfrm>
            <a:off x="1066800" y="5626100"/>
            <a:ext cx="10287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9FE870"/>
                </a:solidFill>
              </a:rPr>
              <a:t>PASS GATE   |score gap| ≤ 1 pp   ·   |shortlist gap| ≤ 2 pp   ·   AUC within 1 point of baseline</a:t>
            </a:r>
            <a:endParaRPr sz="900">
              <a:solidFill>
                <a:srgbClr val="9FE870"/>
              </a:solidFill>
            </a:endParaRPr>
          </a:p>
        </p:txBody>
      </p:sp>
      <p:sp>
        <p:nvSpPr>
          <p:cNvPr id="474" name="TextBox 30"/>
          <p:cNvSpPr txBox="1"/>
          <p:nvPr/>
        </p:nvSpPr>
        <p:spPr>
          <a:xfrm>
            <a:off x="812800" y="6248400"/>
            <a:ext cx="1016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Behavioral bias is the distance between outcome distributions — not a single model card score.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475" name="TextBox 31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08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07  /  TEST 2 — ACTIVATION SPACE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479" name="TextBox 3"/>
          <p:cNvSpPr txBox="1"/>
          <p:nvPr/>
        </p:nvSpPr>
        <p:spPr>
          <a:xfrm>
            <a:off x="812800" y="812800"/>
            <a:ext cx="10795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Can a linear probe still read gender?</a:t>
            </a:r>
            <a:endParaRPr sz="3400" b="1">
              <a:solidFill>
                <a:srgbClr val="F0EFEC"/>
              </a:solidFill>
            </a:endParaRPr>
          </a:p>
        </p:txBody>
      </p:sp>
      <p:sp>
        <p:nvSpPr>
          <p:cNvPr id="480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If a simple classifier recovers gender from the hidden state, the representation still carries it.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481" name="Rectangle 5"/>
          <p:cNvSpPr/>
          <p:nvPr/>
        </p:nvSpPr>
        <p:spPr>
          <a:xfrm>
            <a:off x="812800" y="2209800"/>
            <a:ext cx="3530600" cy="3429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2" name="TextBox 6"/>
          <p:cNvSpPr txBox="1"/>
          <p:nvPr/>
        </p:nvSpPr>
        <p:spPr>
          <a:xfrm>
            <a:off x="1066800" y="2438400"/>
            <a:ext cx="3022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QUESTION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483" name="TextBox 7"/>
          <p:cNvSpPr txBox="1"/>
          <p:nvPr/>
        </p:nvSpPr>
        <p:spPr>
          <a:xfrm>
            <a:off x="1066800" y="2743200"/>
            <a:ext cx="3022600" cy="523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F0EFEC"/>
                </a:solidFill>
              </a:rPr>
              <a:t>Does the model’s internal state encode gender — after the name is gone?</a:t>
            </a:r>
            <a:endParaRPr sz="1200">
              <a:solidFill>
                <a:srgbClr val="F0EFEC"/>
              </a:solidFill>
            </a:endParaRPr>
          </a:p>
        </p:txBody>
      </p:sp>
      <p:sp>
        <p:nvSpPr>
          <p:cNvPr id="484" name="Rectangle 8"/>
          <p:cNvSpPr/>
          <p:nvPr/>
        </p:nvSpPr>
        <p:spPr>
          <a:xfrm>
            <a:off x="1066800" y="3683000"/>
            <a:ext cx="3022600" cy="9906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5" name="TextBox 9"/>
          <p:cNvSpPr txBox="1"/>
          <p:nvPr/>
        </p:nvSpPr>
        <p:spPr>
          <a:xfrm>
            <a:off x="1244600" y="3860800"/>
            <a:ext cx="2667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READ-OUT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86" name="TextBox 10"/>
          <p:cNvSpPr txBox="1"/>
          <p:nvPr/>
        </p:nvSpPr>
        <p:spPr>
          <a:xfrm>
            <a:off x="1244600" y="4114800"/>
            <a:ext cx="2667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5926"/>
                </a:solidFill>
              </a:rPr>
              <a:t>P(gender | hₗ)</a:t>
            </a:r>
            <a:endParaRPr sz="1600" b="1">
              <a:solidFill>
                <a:srgbClr val="D95926"/>
              </a:solidFill>
            </a:endParaRPr>
          </a:p>
        </p:txBody>
      </p:sp>
      <p:sp>
        <p:nvSpPr>
          <p:cNvPr id="487" name="TextBox 11"/>
          <p:cNvSpPr txBox="1"/>
          <p:nvPr/>
        </p:nvSpPr>
        <p:spPr>
          <a:xfrm>
            <a:off x="1066800" y="4876800"/>
            <a:ext cx="30226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Chance = 50%. Above chance = linear information remains.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488" name="Rectangle 12"/>
          <p:cNvSpPr/>
          <p:nvPr/>
        </p:nvSpPr>
        <p:spPr>
          <a:xfrm>
            <a:off x="45720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9" name="TextBox 13"/>
          <p:cNvSpPr txBox="1"/>
          <p:nvPr/>
        </p:nvSpPr>
        <p:spPr>
          <a:xfrm>
            <a:off x="47752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LINEAR PROBE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90" name="TextBox 14"/>
          <p:cNvSpPr txBox="1"/>
          <p:nvPr/>
        </p:nvSpPr>
        <p:spPr>
          <a:xfrm>
            <a:off x="4775200" y="2667000"/>
            <a:ext cx="19304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Logistic classifier on hₗ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491" name="TextBox 15"/>
          <p:cNvSpPr txBox="1"/>
          <p:nvPr/>
        </p:nvSpPr>
        <p:spPr>
          <a:xfrm>
            <a:off x="47752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5-fold, grouped by CV pair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92" name="Rectangle 16"/>
          <p:cNvSpPr/>
          <p:nvPr/>
        </p:nvSpPr>
        <p:spPr>
          <a:xfrm>
            <a:off x="70612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3" name="TextBox 17"/>
          <p:cNvSpPr txBox="1"/>
          <p:nvPr/>
        </p:nvSpPr>
        <p:spPr>
          <a:xfrm>
            <a:off x="72644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BIAS VECTOR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94" name="TextBox 18"/>
          <p:cNvSpPr txBox="1"/>
          <p:nvPr/>
        </p:nvSpPr>
        <p:spPr>
          <a:xfrm>
            <a:off x="7264400" y="2667000"/>
            <a:ext cx="19304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vₗ = E[hₗ | F] − E[hₗ | M]</a:t>
            </a:r>
            <a:endParaRPr sz="1000" b="1">
              <a:solidFill>
                <a:srgbClr val="F0EFEC"/>
              </a:solidFill>
            </a:endParaRPr>
          </a:p>
        </p:txBody>
      </p:sp>
      <p:sp>
        <p:nvSpPr>
          <p:cNvPr id="495" name="TextBox 19"/>
          <p:cNvSpPr txBox="1"/>
          <p:nvPr/>
        </p:nvSpPr>
        <p:spPr>
          <a:xfrm>
            <a:off x="72644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Mean difference direction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496" name="Rectangle 20"/>
          <p:cNvSpPr/>
          <p:nvPr/>
        </p:nvSpPr>
        <p:spPr>
          <a:xfrm>
            <a:off x="95504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7" name="TextBox 21"/>
          <p:cNvSpPr txBox="1"/>
          <p:nvPr/>
        </p:nvSpPr>
        <p:spPr>
          <a:xfrm>
            <a:off x="97536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RELATIVE MAGNITUDE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498" name="TextBox 22"/>
          <p:cNvSpPr txBox="1"/>
          <p:nvPr/>
        </p:nvSpPr>
        <p:spPr>
          <a:xfrm>
            <a:off x="9753600" y="2667000"/>
            <a:ext cx="19304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‖vₗ‖ / E‖hₗ‖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499" name="TextBox 23"/>
          <p:cNvSpPr txBox="1"/>
          <p:nvPr/>
        </p:nvSpPr>
        <p:spPr>
          <a:xfrm>
            <a:off x="97536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Scale-free signal size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500" name="Rectangle 24"/>
          <p:cNvSpPr/>
          <p:nvPr/>
        </p:nvSpPr>
        <p:spPr>
          <a:xfrm>
            <a:off x="45720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1" name="TextBox 25"/>
          <p:cNvSpPr txBox="1"/>
          <p:nvPr/>
        </p:nvSpPr>
        <p:spPr>
          <a:xfrm>
            <a:off x="47752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PRESENCE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502" name="TextBox 26"/>
          <p:cNvSpPr txBox="1"/>
          <p:nvPr/>
        </p:nvSpPr>
        <p:spPr>
          <a:xfrm>
            <a:off x="4775200" y="4318000"/>
            <a:ext cx="19304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‖vₗ‖ / ‖Σₗ‖</a:t>
            </a:r>
            <a:endParaRPr sz="1200" b="1">
              <a:solidFill>
                <a:srgbClr val="F0EFEC"/>
              </a:solidFill>
            </a:endParaRPr>
          </a:p>
        </p:txBody>
      </p:sp>
      <p:sp>
        <p:nvSpPr>
          <p:cNvPr id="503" name="TextBox 27"/>
          <p:cNvSpPr txBox="1"/>
          <p:nvPr/>
        </p:nvSpPr>
        <p:spPr>
          <a:xfrm>
            <a:off x="4775200" y="4724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Bias relative to feature spread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504" name="Rectangle 28"/>
          <p:cNvSpPr/>
          <p:nvPr/>
        </p:nvSpPr>
        <p:spPr>
          <a:xfrm>
            <a:off x="70612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5" name="TextBox 29"/>
          <p:cNvSpPr txBox="1"/>
          <p:nvPr/>
        </p:nvSpPr>
        <p:spPr>
          <a:xfrm>
            <a:off x="72644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RETENTION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506" name="TextBox 30"/>
          <p:cNvSpPr txBox="1"/>
          <p:nvPr/>
        </p:nvSpPr>
        <p:spPr>
          <a:xfrm>
            <a:off x="7264400" y="4292600"/>
            <a:ext cx="1930400" cy="34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750" b="1">
                <a:solidFill>
                  <a:srgbClr val="F0EFEC"/>
                </a:solidFill>
              </a:rPr>
              <a:t>R = (Presence(M′) − Presence(B))</a:t>
            </a:r>
            <a:endParaRPr sz="750" b="1">
              <a:solidFill>
                <a:srgbClr val="F0EFEC"/>
              </a:solidFill>
            </a:endParaRPr>
          </a:p>
          <a:p>
            <a:pPr>
              <a:lnSpc>
                <a:spcPct val="110000"/>
              </a:lnSpc>
            </a:pPr>
            <a:r>
              <a:rPr sz="750" b="1">
                <a:solidFill>
                  <a:srgbClr val="F0EFEC"/>
                </a:solidFill>
              </a:rPr>
              <a:t>/ (Presence(M_base) − Presence(B))</a:t>
            </a:r>
            <a:endParaRPr sz="750" b="1">
              <a:solidFill>
                <a:srgbClr val="F0EFEC"/>
              </a:solidFill>
            </a:endParaRPr>
          </a:p>
        </p:txBody>
      </p:sp>
      <p:sp>
        <p:nvSpPr>
          <p:cNvPr id="507" name="TextBox 31"/>
          <p:cNvSpPr txBox="1"/>
          <p:nvPr/>
        </p:nvSpPr>
        <p:spPr>
          <a:xfrm>
            <a:off x="7264400" y="4902200"/>
            <a:ext cx="19304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C3C2B7"/>
                </a:solidFill>
              </a:rPr>
              <a:t>How much bias is left vs a blind baseline</a:t>
            </a:r>
            <a:endParaRPr sz="750">
              <a:solidFill>
                <a:srgbClr val="C3C2B7"/>
              </a:solidFill>
            </a:endParaRPr>
          </a:p>
        </p:txBody>
      </p:sp>
      <p:sp>
        <p:nvSpPr>
          <p:cNvPr id="508" name="Rectangle 32"/>
          <p:cNvSpPr/>
          <p:nvPr/>
        </p:nvSpPr>
        <p:spPr>
          <a:xfrm>
            <a:off x="95504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9" name="TextBox 33"/>
          <p:cNvSpPr txBox="1"/>
          <p:nvPr/>
        </p:nvSpPr>
        <p:spPr>
          <a:xfrm>
            <a:off x="97536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COSINE SIMILARITY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510" name="TextBox 34"/>
          <p:cNvSpPr txBox="1"/>
          <p:nvPr/>
        </p:nvSpPr>
        <p:spPr>
          <a:xfrm>
            <a:off x="9753600" y="4318000"/>
            <a:ext cx="19304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cos(ψ_after, ψ_bias)</a:t>
            </a:r>
            <a:endParaRPr sz="1000" b="1">
              <a:solidFill>
                <a:srgbClr val="F0EFEC"/>
              </a:solidFill>
            </a:endParaRPr>
          </a:p>
        </p:txBody>
      </p:sp>
      <p:sp>
        <p:nvSpPr>
          <p:cNvPr id="511" name="TextBox 35"/>
          <p:cNvSpPr txBox="1"/>
          <p:nvPr/>
        </p:nvSpPr>
        <p:spPr>
          <a:xfrm>
            <a:off x="9753600" y="4724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Alignment with the original direction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512" name="TextBox 36"/>
          <p:cNvSpPr txBox="1"/>
          <p:nvPr/>
        </p:nvSpPr>
        <p:spPr>
          <a:xfrm>
            <a:off x="812800" y="58674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9FE870"/>
                </a:solidFill>
              </a:rPr>
              <a:t>Behavior can look fair while the representation still separates groups.</a:t>
            </a:r>
            <a:endParaRPr sz="1300">
              <a:solidFill>
                <a:srgbClr val="9FE870"/>
              </a:solidFill>
            </a:endParaRPr>
          </a:p>
        </p:txBody>
      </p:sp>
      <p:sp>
        <p:nvSpPr>
          <p:cNvPr id="513" name="TextBox 37"/>
          <p:cNvSpPr txBox="1"/>
          <p:nvPr/>
        </p:nvSpPr>
        <p:spPr>
          <a:xfrm>
            <a:off x="812800" y="6350000"/>
            <a:ext cx="965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All metrics computed at layer 6; probe accuracy reported out-of-fold.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514" name="TextBox 38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09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Picture 1" descr="gap_by_mitigatio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8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10</a:t>
            </a:r>
            <a:endParaRPr sz="8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Picture 2" descr="feature_ga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22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11</a:t>
            </a:r>
            <a:endParaRPr sz="8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Picture 2" descr="activation_pca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26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12</a:t>
            </a:r>
            <a:endParaRPr sz="8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1" descr="audit_consol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30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13</a:t>
            </a:r>
            <a:endParaRPr sz="8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3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08  /  SOLUTION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534" name="TextBox 3"/>
          <p:cNvSpPr txBox="1"/>
          <p:nvPr/>
        </p:nvSpPr>
        <p:spPr>
          <a:xfrm>
            <a:off x="812800" y="812800"/>
            <a:ext cx="10795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0EFEC"/>
                </a:solidFill>
              </a:rPr>
              <a:t>Scrub the representation. Gate the behavior.</a:t>
            </a:r>
            <a:endParaRPr sz="3200" b="1">
              <a:solidFill>
                <a:srgbClr val="F0EFEC"/>
              </a:solidFill>
            </a:endParaRPr>
          </a:p>
        </p:txBody>
      </p:sp>
      <p:sp>
        <p:nvSpPr>
          <p:cNvPr id="535" name="TextBox 4"/>
          <p:cNvSpPr txBox="1"/>
          <p:nvPr/>
        </p:nvSpPr>
        <p:spPr>
          <a:xfrm>
            <a:off x="812800" y="1473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closed-form edit inside the model, plus a deployment gate that refuses to ship on one metric.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536" name="Rectangle 5"/>
          <p:cNvSpPr/>
          <p:nvPr/>
        </p:nvSpPr>
        <p:spPr>
          <a:xfrm>
            <a:off x="8128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7" name="TextBox 6"/>
          <p:cNvSpPr txBox="1"/>
          <p:nvPr/>
        </p:nvSpPr>
        <p:spPr>
          <a:xfrm>
            <a:off x="10160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SCAN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38" name="TextBox 7"/>
          <p:cNvSpPr txBox="1"/>
          <p:nvPr/>
        </p:nvSpPr>
        <p:spPr>
          <a:xfrm>
            <a:off x="10160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Paired audit</a:t>
            </a:r>
            <a:endParaRPr sz="1400" b="1">
              <a:solidFill>
                <a:srgbClr val="F0EFEC"/>
              </a:solidFill>
            </a:endParaRPr>
          </a:p>
        </p:txBody>
      </p:sp>
      <p:sp>
        <p:nvSpPr>
          <p:cNvPr id="539" name="TextBox 8"/>
          <p:cNvSpPr txBox="1"/>
          <p:nvPr/>
        </p:nvSpPr>
        <p:spPr>
          <a:xfrm>
            <a:off x="10160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Find the leak channels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540" name="Arrow 9"/>
          <p:cNvSpPr/>
          <p:nvPr/>
        </p:nvSpPr>
        <p:spPr>
          <a:xfrm>
            <a:off x="33020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1" name="Rectangle 10"/>
          <p:cNvSpPr/>
          <p:nvPr/>
        </p:nvSpPr>
        <p:spPr>
          <a:xfrm>
            <a:off x="35814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2" name="TextBox 11"/>
          <p:cNvSpPr txBox="1"/>
          <p:nvPr/>
        </p:nvSpPr>
        <p:spPr>
          <a:xfrm>
            <a:off x="37846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ERASE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43" name="TextBox 12"/>
          <p:cNvSpPr txBox="1"/>
          <p:nvPr/>
        </p:nvSpPr>
        <p:spPr>
          <a:xfrm>
            <a:off x="37846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5926"/>
                </a:solidFill>
              </a:rPr>
              <a:t>LEACE</a:t>
            </a:r>
            <a:endParaRPr sz="1400" b="1">
              <a:solidFill>
                <a:srgbClr val="D95926"/>
              </a:solidFill>
            </a:endParaRPr>
          </a:p>
        </p:txBody>
      </p:sp>
      <p:sp>
        <p:nvSpPr>
          <p:cNvPr id="544" name="TextBox 13"/>
          <p:cNvSpPr txBox="1"/>
          <p:nvPr/>
        </p:nvSpPr>
        <p:spPr>
          <a:xfrm>
            <a:off x="37846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Project out gender subspace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545" name="Arrow 14"/>
          <p:cNvSpPr/>
          <p:nvPr/>
        </p:nvSpPr>
        <p:spPr>
          <a:xfrm>
            <a:off x="60706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6" name="Rectangle 15"/>
          <p:cNvSpPr/>
          <p:nvPr/>
        </p:nvSpPr>
        <p:spPr>
          <a:xfrm>
            <a:off x="63500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7" name="TextBox 16"/>
          <p:cNvSpPr txBox="1"/>
          <p:nvPr/>
        </p:nvSpPr>
        <p:spPr>
          <a:xfrm>
            <a:off x="65532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RECALIBRATE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48" name="TextBox 17"/>
          <p:cNvSpPr txBox="1"/>
          <p:nvPr/>
        </p:nvSpPr>
        <p:spPr>
          <a:xfrm>
            <a:off x="65532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Linear head</a:t>
            </a:r>
            <a:endParaRPr sz="1400" b="1">
              <a:solidFill>
                <a:srgbClr val="F0EFEC"/>
              </a:solidFill>
            </a:endParaRPr>
          </a:p>
        </p:txBody>
      </p:sp>
      <p:sp>
        <p:nvSpPr>
          <p:cNvPr id="549" name="TextBox 18"/>
          <p:cNvSpPr txBox="1"/>
          <p:nvPr/>
        </p:nvSpPr>
        <p:spPr>
          <a:xfrm>
            <a:off x="65532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AUC 0.742 → 0.735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550" name="Arrow 19"/>
          <p:cNvSpPr/>
          <p:nvPr/>
        </p:nvSpPr>
        <p:spPr>
          <a:xfrm>
            <a:off x="88392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1" name="Rectangle 20"/>
          <p:cNvSpPr/>
          <p:nvPr/>
        </p:nvSpPr>
        <p:spPr>
          <a:xfrm>
            <a:off x="91186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2" name="TextBox 21"/>
          <p:cNvSpPr txBox="1"/>
          <p:nvPr/>
        </p:nvSpPr>
        <p:spPr>
          <a:xfrm>
            <a:off x="93218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GATE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53" name="TextBox 22"/>
          <p:cNvSpPr txBox="1"/>
          <p:nvPr/>
        </p:nvSpPr>
        <p:spPr>
          <a:xfrm>
            <a:off x="93218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CA30C"/>
                </a:solidFill>
              </a:rPr>
              <a:t>4 checks</a:t>
            </a:r>
            <a:endParaRPr sz="1400" b="1">
              <a:solidFill>
                <a:srgbClr val="0CA30C"/>
              </a:solidFill>
            </a:endParaRPr>
          </a:p>
        </p:txBody>
      </p:sp>
      <p:sp>
        <p:nvSpPr>
          <p:cNvPr id="554" name="TextBox 23"/>
          <p:cNvSpPr txBox="1"/>
          <p:nvPr/>
        </p:nvSpPr>
        <p:spPr>
          <a:xfrm>
            <a:off x="93218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Ship only if all pass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555" name="Rectangle 24"/>
          <p:cNvSpPr/>
          <p:nvPr/>
        </p:nvSpPr>
        <p:spPr>
          <a:xfrm>
            <a:off x="812800" y="3987800"/>
            <a:ext cx="5461000" cy="185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6" name="TextBox 25"/>
          <p:cNvSpPr txBox="1"/>
          <p:nvPr/>
        </p:nvSpPr>
        <p:spPr>
          <a:xfrm>
            <a:off x="1066800" y="4191000"/>
            <a:ext cx="4953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EDIT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57" name="TextBox 26"/>
          <p:cNvSpPr txBox="1"/>
          <p:nvPr/>
        </p:nvSpPr>
        <p:spPr>
          <a:xfrm>
            <a:off x="1066800" y="4495800"/>
            <a:ext cx="49530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0EFEC"/>
                </a:solidFill>
              </a:rPr>
              <a:t>r(h) = h − P h</a:t>
            </a:r>
            <a:endParaRPr sz="2400" b="1">
              <a:solidFill>
                <a:srgbClr val="F0EFEC"/>
              </a:solidFill>
            </a:endParaRPr>
          </a:p>
        </p:txBody>
      </p:sp>
      <p:sp>
        <p:nvSpPr>
          <p:cNvPr id="558" name="TextBox 27"/>
          <p:cNvSpPr txBox="1"/>
          <p:nvPr/>
        </p:nvSpPr>
        <p:spPr>
          <a:xfrm>
            <a:off x="1066800" y="5054600"/>
            <a:ext cx="4953000" cy="424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>
                <a:solidFill>
                  <a:srgbClr val="C3C2B7"/>
                </a:solidFill>
              </a:rPr>
              <a:t>P projects out the gender direction. Closed-form, deterministic, and applied to standardized layer-6 states.</a:t>
            </a:r>
            <a:endParaRPr sz="950">
              <a:solidFill>
                <a:srgbClr val="C3C2B7"/>
              </a:solidFill>
            </a:endParaRPr>
          </a:p>
        </p:txBody>
      </p:sp>
      <p:sp>
        <p:nvSpPr>
          <p:cNvPr id="559" name="Rectangle 28"/>
          <p:cNvSpPr/>
          <p:nvPr/>
        </p:nvSpPr>
        <p:spPr>
          <a:xfrm>
            <a:off x="6578600" y="3987800"/>
            <a:ext cx="4800600" cy="185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60" name="TextBox 29"/>
          <p:cNvSpPr txBox="1"/>
          <p:nvPr/>
        </p:nvSpPr>
        <p:spPr>
          <a:xfrm>
            <a:off x="6832600" y="4191000"/>
            <a:ext cx="4292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WHY IT FITS AN ATS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61" name="TextBox 30"/>
          <p:cNvSpPr txBox="1"/>
          <p:nvPr/>
        </p:nvSpPr>
        <p:spPr>
          <a:xfrm>
            <a:off x="6832600" y="4470400"/>
            <a:ext cx="4292600" cy="81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No retraining from scratch — only the head is recalibrated.</a:t>
            </a:r>
            <a:endParaRPr sz="95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Edits the representation, not the applicant.</a:t>
            </a:r>
            <a:endParaRPr sz="95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Cheap enough to rerun on every model update.</a:t>
            </a:r>
            <a:endParaRPr sz="950">
              <a:solidFill>
                <a:srgbClr val="C3C2B7"/>
              </a:solidFill>
            </a:endParaRP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Fails loudly when the probe or the gap returns.</a:t>
            </a:r>
            <a:endParaRPr sz="950">
              <a:solidFill>
                <a:srgbClr val="C3C2B7"/>
              </a:solidFill>
            </a:endParaRPr>
          </a:p>
        </p:txBody>
      </p:sp>
      <p:sp>
        <p:nvSpPr>
          <p:cNvPr id="562" name="TextBox 31"/>
          <p:cNvSpPr txBox="1"/>
          <p:nvPr/>
        </p:nvSpPr>
        <p:spPr>
          <a:xfrm>
            <a:off x="812800" y="60960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9FE870"/>
                </a:solidFill>
              </a:rPr>
              <a:t>The model changes. The applicant does not have to.</a:t>
            </a:r>
            <a:endParaRPr sz="1300">
              <a:solidFill>
                <a:srgbClr val="9FE870"/>
              </a:solidFill>
            </a:endParaRPr>
          </a:p>
        </p:txBody>
      </p:sp>
      <p:sp>
        <p:nvSpPr>
          <p:cNvPr id="563" name="TextBox 32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14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66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09  /  LANDSCAPE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567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Existing fixes stop at the score. This one goes inside.</a:t>
            </a:r>
            <a:endParaRPr sz="3000" b="1">
              <a:solidFill>
                <a:srgbClr val="F0EFEC"/>
              </a:solidFill>
            </a:endParaRPr>
          </a:p>
        </p:txBody>
      </p:sp>
      <p:sp>
        <p:nvSpPr>
          <p:cNvPr id="568" name="TextBox 4"/>
          <p:cNvSpPr txBox="1"/>
          <p:nvPr/>
        </p:nvSpPr>
        <p:spPr>
          <a:xfrm>
            <a:off x="812800" y="1422400"/>
            <a:ext cx="10160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Six families of mitigation. Each leaves a different hole.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569" name="TextBox 5"/>
          <p:cNvSpPr txBox="1"/>
          <p:nvPr/>
        </p:nvSpPr>
        <p:spPr>
          <a:xfrm>
            <a:off x="1016000" y="19304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METHOD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70" name="TextBox 6"/>
          <p:cNvSpPr txBox="1"/>
          <p:nvPr/>
        </p:nvSpPr>
        <p:spPr>
          <a:xfrm>
            <a:off x="3556000" y="1930400"/>
            <a:ext cx="304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FIXES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71" name="TextBox 7"/>
          <p:cNvSpPr txBox="1"/>
          <p:nvPr/>
        </p:nvSpPr>
        <p:spPr>
          <a:xfrm>
            <a:off x="7112000" y="1930400"/>
            <a:ext cx="419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MISSES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572" name="Rectangle 8"/>
          <p:cNvSpPr/>
          <p:nvPr/>
        </p:nvSpPr>
        <p:spPr>
          <a:xfrm>
            <a:off x="812800" y="22098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73" name="TextBox 9"/>
          <p:cNvSpPr txBox="1"/>
          <p:nvPr/>
        </p:nvSpPr>
        <p:spPr>
          <a:xfrm>
            <a:off x="1016000" y="23368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Blind screening / redaction</a:t>
            </a:r>
            <a:endParaRPr sz="950" b="1">
              <a:solidFill>
                <a:srgbClr val="F0EFEC"/>
              </a:solidFill>
            </a:endParaRPr>
          </a:p>
        </p:txBody>
      </p:sp>
      <p:sp>
        <p:nvSpPr>
          <p:cNvPr id="574" name="TextBox 10"/>
          <p:cNvSpPr txBox="1"/>
          <p:nvPr/>
        </p:nvSpPr>
        <p:spPr>
          <a:xfrm>
            <a:off x="3556000" y="23368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Visible name, some fields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75" name="TextBox 11"/>
          <p:cNvSpPr txBox="1"/>
          <p:nvPr/>
        </p:nvSpPr>
        <p:spPr>
          <a:xfrm>
            <a:off x="7112000" y="23368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D95926"/>
                </a:solidFill>
              </a:rPr>
              <a:t>Proxies remain; 7.7 pp score gap here</a:t>
            </a:r>
            <a:endParaRPr sz="900">
              <a:solidFill>
                <a:srgbClr val="D95926"/>
              </a:solidFill>
            </a:endParaRPr>
          </a:p>
        </p:txBody>
      </p:sp>
      <p:sp>
        <p:nvSpPr>
          <p:cNvPr id="576" name="Rectangle 12"/>
          <p:cNvSpPr/>
          <p:nvPr/>
        </p:nvSpPr>
        <p:spPr>
          <a:xfrm>
            <a:off x="812800" y="28702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77" name="TextBox 13"/>
          <p:cNvSpPr txBox="1"/>
          <p:nvPr/>
        </p:nvSpPr>
        <p:spPr>
          <a:xfrm>
            <a:off x="1016000" y="29972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Fairness fine-tuning (LoRA/OFT)</a:t>
            </a:r>
            <a:endParaRPr sz="950" b="1">
              <a:solidFill>
                <a:srgbClr val="F0EFEC"/>
              </a:solidFill>
            </a:endParaRPr>
          </a:p>
        </p:txBody>
      </p:sp>
      <p:sp>
        <p:nvSpPr>
          <p:cNvPr id="578" name="TextBox 14"/>
          <p:cNvSpPr txBox="1"/>
          <p:nvPr/>
        </p:nvSpPr>
        <p:spPr>
          <a:xfrm>
            <a:off x="3556000" y="29972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Output behavior on an audit set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79" name="TextBox 15"/>
          <p:cNvSpPr txBox="1"/>
          <p:nvPr/>
        </p:nvSpPr>
        <p:spPr>
          <a:xfrm>
            <a:off x="7112000" y="29972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Needs labels + compute; can over-debias (JobFair)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80" name="Rectangle 16"/>
          <p:cNvSpPr/>
          <p:nvPr/>
        </p:nvSpPr>
        <p:spPr>
          <a:xfrm>
            <a:off x="812800" y="35306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1" name="TextBox 17"/>
          <p:cNvSpPr txBox="1"/>
          <p:nvPr/>
        </p:nvSpPr>
        <p:spPr>
          <a:xfrm>
            <a:off x="1016000" y="36576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Adversarial debiasing</a:t>
            </a:r>
            <a:endParaRPr sz="950" b="1">
              <a:solidFill>
                <a:srgbClr val="F0EFEC"/>
              </a:solidFill>
            </a:endParaRPr>
          </a:p>
        </p:txBody>
      </p:sp>
      <p:sp>
        <p:nvSpPr>
          <p:cNvPr id="582" name="TextBox 18"/>
          <p:cNvSpPr txBox="1"/>
          <p:nvPr/>
        </p:nvSpPr>
        <p:spPr>
          <a:xfrm>
            <a:off x="3556000" y="36576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Learned representation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83" name="TextBox 19"/>
          <p:cNvSpPr txBox="1"/>
          <p:nvPr/>
        </p:nvSpPr>
        <p:spPr>
          <a:xfrm>
            <a:off x="7112000" y="36576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Unstable; hard to audit; sensitive to hyperparameters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84" name="Rectangle 20"/>
          <p:cNvSpPr/>
          <p:nvPr/>
        </p:nvSpPr>
        <p:spPr>
          <a:xfrm>
            <a:off x="812800" y="41910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5" name="TextBox 21"/>
          <p:cNvSpPr txBox="1"/>
          <p:nvPr/>
        </p:nvSpPr>
        <p:spPr>
          <a:xfrm>
            <a:off x="1016000" y="43180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Post-processing thresholds</a:t>
            </a:r>
            <a:endParaRPr sz="950" b="1">
              <a:solidFill>
                <a:srgbClr val="F0EFEC"/>
              </a:solidFill>
            </a:endParaRPr>
          </a:p>
        </p:txBody>
      </p:sp>
      <p:sp>
        <p:nvSpPr>
          <p:cNvPr id="586" name="TextBox 22"/>
          <p:cNvSpPr txBox="1"/>
          <p:nvPr/>
        </p:nvSpPr>
        <p:spPr>
          <a:xfrm>
            <a:off x="3556000" y="43180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Selection rates at the cutoff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87" name="TextBox 23"/>
          <p:cNvSpPr txBox="1"/>
          <p:nvPr/>
        </p:nvSpPr>
        <p:spPr>
          <a:xfrm>
            <a:off x="7112000" y="43180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Symptom only; the representation is untouched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88" name="Rectangle 24"/>
          <p:cNvSpPr/>
          <p:nvPr/>
        </p:nvSpPr>
        <p:spPr>
          <a:xfrm>
            <a:off x="812800" y="48514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9" name="TextBox 25"/>
          <p:cNvSpPr txBox="1"/>
          <p:nvPr/>
        </p:nvSpPr>
        <p:spPr>
          <a:xfrm>
            <a:off x="1016000" y="49784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Prompt guardrails</a:t>
            </a:r>
            <a:endParaRPr sz="950" b="1">
              <a:solidFill>
                <a:srgbClr val="F0EFEC"/>
              </a:solidFill>
            </a:endParaRPr>
          </a:p>
        </p:txBody>
      </p:sp>
      <p:sp>
        <p:nvSpPr>
          <p:cNvPr id="590" name="TextBox 26"/>
          <p:cNvSpPr txBox="1"/>
          <p:nvPr/>
        </p:nvSpPr>
        <p:spPr>
          <a:xfrm>
            <a:off x="3556000" y="49784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LLM outputs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91" name="TextBox 27"/>
          <p:cNvSpPr txBox="1"/>
          <p:nvPr/>
        </p:nvSpPr>
        <p:spPr>
          <a:xfrm>
            <a:off x="7112000" y="49784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Model-dependent; prompt injection; partial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92" name="Rectangle 28"/>
          <p:cNvSpPr/>
          <p:nvPr/>
        </p:nvSpPr>
        <p:spPr>
          <a:xfrm>
            <a:off x="812800" y="55118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3" name="Rectangle 29"/>
          <p:cNvSpPr/>
          <p:nvPr/>
        </p:nvSpPr>
        <p:spPr>
          <a:xfrm>
            <a:off x="812800" y="5613400"/>
            <a:ext cx="10769600" cy="685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4" name="TextBox 30"/>
          <p:cNvSpPr txBox="1"/>
          <p:nvPr/>
        </p:nvSpPr>
        <p:spPr>
          <a:xfrm>
            <a:off x="1016000" y="57404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FE870"/>
                </a:solidFill>
              </a:rPr>
              <a:t>LEACE + dual gate  (ours)</a:t>
            </a:r>
            <a:endParaRPr sz="950" b="1">
              <a:solidFill>
                <a:srgbClr val="9FE870"/>
              </a:solidFill>
            </a:endParaRPr>
          </a:p>
        </p:txBody>
      </p:sp>
      <p:sp>
        <p:nvSpPr>
          <p:cNvPr id="595" name="TextBox 31"/>
          <p:cNvSpPr txBox="1"/>
          <p:nvPr/>
        </p:nvSpPr>
        <p:spPr>
          <a:xfrm>
            <a:off x="3556000" y="57404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Linear gender subspace + behavior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96" name="TextBox 32"/>
          <p:cNvSpPr txBox="1"/>
          <p:nvPr/>
        </p:nvSpPr>
        <p:spPr>
          <a:xfrm>
            <a:off x="7112000" y="57404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Nonlinear residual remains; needs layer choice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597" name="TextBox 33"/>
          <p:cNvSpPr txBox="1"/>
          <p:nvPr/>
        </p:nvSpPr>
        <p:spPr>
          <a:xfrm>
            <a:off x="1016000" y="6426200"/>
            <a:ext cx="1041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Behavior-only fixes act after the score. LEACE acts before it.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598" name="TextBox 34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15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0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10  /  WHY THIS WINS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602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Better fit for the post-anonymization failure mode.</a:t>
            </a:r>
            <a:endParaRPr sz="3000" b="1">
              <a:solidFill>
                <a:srgbClr val="F0EFEC"/>
              </a:solidFill>
            </a:endParaRPr>
          </a:p>
        </p:txBody>
      </p:sp>
      <p:sp>
        <p:nvSpPr>
          <p:cNvPr id="603" name="TextBox 4"/>
          <p:cNvSpPr txBox="1"/>
          <p:nvPr/>
        </p:nvSpPr>
        <p:spPr>
          <a:xfrm>
            <a:off x="812800" y="14224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Not a universal winner — a targeted fix for the case where the name is already gone.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604" name="Rectangle 5"/>
          <p:cNvSpPr/>
          <p:nvPr/>
        </p:nvSpPr>
        <p:spPr>
          <a:xfrm>
            <a:off x="812800" y="2184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05" name="TextBox 6"/>
          <p:cNvSpPr txBox="1"/>
          <p:nvPr/>
        </p:nvSpPr>
        <p:spPr>
          <a:xfrm>
            <a:off x="1066800" y="2362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POST-MASKING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606" name="TextBox 7"/>
          <p:cNvSpPr txBox="1"/>
          <p:nvPr/>
        </p:nvSpPr>
        <p:spPr>
          <a:xfrm>
            <a:off x="1066800" y="2641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CA30C"/>
                </a:solidFill>
              </a:rPr>
              <a:t>7.5 pp</a:t>
            </a:r>
            <a:endParaRPr sz="2800" b="1">
              <a:solidFill>
                <a:srgbClr val="0CA30C"/>
              </a:solidFill>
            </a:endParaRPr>
          </a:p>
        </p:txBody>
      </p:sp>
      <p:sp>
        <p:nvSpPr>
          <p:cNvPr id="607" name="TextBox 8"/>
          <p:cNvSpPr txBox="1"/>
          <p:nvPr/>
        </p:nvSpPr>
        <p:spPr>
          <a:xfrm>
            <a:off x="1066800" y="3200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of residual gap removed: 7.7 → 0.2 pp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608" name="Rectangle 9"/>
          <p:cNvSpPr/>
          <p:nvPr/>
        </p:nvSpPr>
        <p:spPr>
          <a:xfrm>
            <a:off x="6197600" y="2184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09" name="TextBox 10"/>
          <p:cNvSpPr txBox="1"/>
          <p:nvPr/>
        </p:nvSpPr>
        <p:spPr>
          <a:xfrm>
            <a:off x="6451600" y="2362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REPRESENTATION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610" name="TextBox 11"/>
          <p:cNvSpPr txBox="1"/>
          <p:nvPr/>
        </p:nvSpPr>
        <p:spPr>
          <a:xfrm>
            <a:off x="6451600" y="2641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5926"/>
                </a:solidFill>
              </a:rPr>
              <a:t>100 → 58%</a:t>
            </a:r>
            <a:endParaRPr sz="2800" b="1">
              <a:solidFill>
                <a:srgbClr val="D95926"/>
              </a:solidFill>
            </a:endParaRPr>
          </a:p>
        </p:txBody>
      </p:sp>
      <p:sp>
        <p:nvSpPr>
          <p:cNvPr id="611" name="TextBox 12"/>
          <p:cNvSpPr txBox="1"/>
          <p:nvPr/>
        </p:nvSpPr>
        <p:spPr>
          <a:xfrm>
            <a:off x="6451600" y="3200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gender probe before → after; chance = 50%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612" name="Rectangle 13"/>
          <p:cNvSpPr/>
          <p:nvPr/>
        </p:nvSpPr>
        <p:spPr>
          <a:xfrm>
            <a:off x="812800" y="3835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13" name="TextBox 14"/>
          <p:cNvSpPr txBox="1"/>
          <p:nvPr/>
        </p:nvSpPr>
        <p:spPr>
          <a:xfrm>
            <a:off x="1066800" y="4013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RANKING QUALITY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614" name="TextBox 15"/>
          <p:cNvSpPr txBox="1"/>
          <p:nvPr/>
        </p:nvSpPr>
        <p:spPr>
          <a:xfrm>
            <a:off x="1066800" y="4292600"/>
            <a:ext cx="46736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987E5"/>
                </a:solidFill>
              </a:rPr>
              <a:t>0.742 → 0.735</a:t>
            </a:r>
            <a:endParaRPr sz="2400" b="1">
              <a:solidFill>
                <a:srgbClr val="3987E5"/>
              </a:solidFill>
            </a:endParaRPr>
          </a:p>
        </p:txBody>
      </p:sp>
      <p:sp>
        <p:nvSpPr>
          <p:cNvPr id="615" name="TextBox 16"/>
          <p:cNvSpPr txBox="1"/>
          <p:nvPr/>
        </p:nvSpPr>
        <p:spPr>
          <a:xfrm>
            <a:off x="1066800" y="4851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AUC preserved; head recalibrated, not retrained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616" name="Rectangle 17"/>
          <p:cNvSpPr/>
          <p:nvPr/>
        </p:nvSpPr>
        <p:spPr>
          <a:xfrm>
            <a:off x="6197600" y="3835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17" name="TextBox 18"/>
          <p:cNvSpPr txBox="1"/>
          <p:nvPr/>
        </p:nvSpPr>
        <p:spPr>
          <a:xfrm>
            <a:off x="6451600" y="4013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GOVERNANCE</a:t>
            </a:r>
            <a:endParaRPr sz="800">
              <a:solidFill>
                <a:srgbClr val="898781"/>
              </a:solidFill>
            </a:endParaRPr>
          </a:p>
        </p:txBody>
      </p:sp>
      <p:sp>
        <p:nvSpPr>
          <p:cNvPr id="618" name="TextBox 19"/>
          <p:cNvSpPr txBox="1"/>
          <p:nvPr/>
        </p:nvSpPr>
        <p:spPr>
          <a:xfrm>
            <a:off x="6451600" y="4292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CA30C"/>
                </a:solidFill>
              </a:rPr>
              <a:t>4 gates</a:t>
            </a:r>
            <a:endParaRPr sz="2800" b="1">
              <a:solidFill>
                <a:srgbClr val="0CA30C"/>
              </a:solidFill>
            </a:endParaRPr>
          </a:p>
        </p:txBody>
      </p:sp>
      <p:sp>
        <p:nvSpPr>
          <p:cNvPr id="619" name="TextBox 20"/>
          <p:cNvSpPr txBox="1"/>
          <p:nvPr/>
        </p:nvSpPr>
        <p:spPr>
          <a:xfrm>
            <a:off x="6451600" y="4851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behavior + probe + AUC + retention; all must pass</a:t>
            </a:r>
            <a:endParaRPr sz="900">
              <a:solidFill>
                <a:srgbClr val="C3C2B7"/>
              </a:solidFill>
            </a:endParaRPr>
          </a:p>
        </p:txBody>
      </p:sp>
      <p:sp>
        <p:nvSpPr>
          <p:cNvPr id="620" name="TextBox 21"/>
          <p:cNvSpPr txBox="1"/>
          <p:nvPr/>
        </p:nvSpPr>
        <p:spPr>
          <a:xfrm>
            <a:off x="812800" y="5664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9FE870"/>
                </a:solidFill>
              </a:rPr>
              <a:t>Blind screening removed 1.1 pp. LEACE removed 7.5 pp. The difference is where the edit happens.</a:t>
            </a:r>
            <a:endParaRPr sz="1200">
              <a:solidFill>
                <a:srgbClr val="9FE870"/>
              </a:solidFill>
            </a:endParaRPr>
          </a:p>
        </p:txBody>
      </p:sp>
      <p:sp>
        <p:nvSpPr>
          <p:cNvPr id="621" name="TextBox 22"/>
          <p:cNvSpPr txBox="1"/>
          <p:nvPr/>
        </p:nvSpPr>
        <p:spPr>
          <a:xfrm>
            <a:off x="812800" y="6299200"/>
            <a:ext cx="1066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Caveat: LEACE targets linear subspaces. A 58% probe means residual signal remains; the gate is the backstop.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622" name="TextBox 23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16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5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11  /  LIMITS &amp; NEXT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626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What this proves — and what it doesn’t.</a:t>
            </a:r>
            <a:endParaRPr sz="3000" b="1">
              <a:solidFill>
                <a:srgbClr val="F0EFEC"/>
              </a:solidFill>
            </a:endParaRPr>
          </a:p>
        </p:txBody>
      </p:sp>
      <p:sp>
        <p:nvSpPr>
          <p:cNvPr id="627" name="TextBox 4"/>
          <p:cNvSpPr txBox="1"/>
          <p:nvPr/>
        </p:nvSpPr>
        <p:spPr>
          <a:xfrm>
            <a:off x="812800" y="14224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benchmark can validate the audit. It cannot certify a production system.</a:t>
            </a:r>
            <a:endParaRPr sz="1200">
              <a:solidFill>
                <a:srgbClr val="C3C2B7"/>
              </a:solidFill>
            </a:endParaRPr>
          </a:p>
        </p:txBody>
      </p:sp>
      <p:sp>
        <p:nvSpPr>
          <p:cNvPr id="628" name="Rectangle 5"/>
          <p:cNvSpPr/>
          <p:nvPr/>
        </p:nvSpPr>
        <p:spPr>
          <a:xfrm>
            <a:off x="812800" y="2108200"/>
            <a:ext cx="5181600" cy="27686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9" name="TextBox 6"/>
          <p:cNvSpPr txBox="1"/>
          <p:nvPr/>
        </p:nvSpPr>
        <p:spPr>
          <a:xfrm>
            <a:off x="1066800" y="23114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CA30C"/>
                </a:solidFill>
              </a:rPr>
              <a:t>WHAT IT PROVES</a:t>
            </a:r>
            <a:endParaRPr sz="800" b="1">
              <a:solidFill>
                <a:srgbClr val="0CA30C"/>
              </a:solidFill>
            </a:endParaRPr>
          </a:p>
        </p:txBody>
      </p:sp>
      <p:sp>
        <p:nvSpPr>
          <p:cNvPr id="630" name="TextBox 7"/>
          <p:cNvSpPr txBox="1"/>
          <p:nvPr/>
        </p:nvSpPr>
        <p:spPr>
          <a:xfrm>
            <a:off x="1066800" y="2641600"/>
            <a:ext cx="4673600" cy="95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The audit recovers a known injected bias.</a:t>
            </a:r>
            <a:endParaRPr sz="1050">
              <a:solidFill>
                <a:srgbClr val="F0EFEC"/>
              </a:solidFill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Name masking alone leaves most of the gap.</a:t>
            </a:r>
            <a:endParaRPr sz="1050">
              <a:solidFill>
                <a:srgbClr val="F0EFEC"/>
              </a:solidFill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LEACE reduces both behavioral and activation metrics.</a:t>
            </a:r>
            <a:endParaRPr sz="1050">
              <a:solidFill>
                <a:srgbClr val="F0EFEC"/>
              </a:solidFill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Ranking quality stays essentially flat.</a:t>
            </a:r>
            <a:endParaRPr sz="1050">
              <a:solidFill>
                <a:srgbClr val="F0EFEC"/>
              </a:solidFill>
            </a:endParaRPr>
          </a:p>
        </p:txBody>
      </p:sp>
      <p:sp>
        <p:nvSpPr>
          <p:cNvPr id="631" name="Rectangle 8"/>
          <p:cNvSpPr/>
          <p:nvPr/>
        </p:nvSpPr>
        <p:spPr>
          <a:xfrm>
            <a:off x="6197600" y="2108200"/>
            <a:ext cx="5181600" cy="2768600"/>
          </a:xfrm>
          <a:prstGeom prst="roundRect">
            <a:avLst/>
          </a:prstGeom>
          <a:solidFill>
            <a:srgbClr val="1D1512"/>
          </a:solidFill>
          <a:ln w="12700">
            <a:solidFill>
              <a:srgbClr val="D959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32" name="TextBox 9"/>
          <p:cNvSpPr txBox="1"/>
          <p:nvPr/>
        </p:nvSpPr>
        <p:spPr>
          <a:xfrm>
            <a:off x="6451600" y="23114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95926"/>
                </a:solidFill>
              </a:rPr>
              <a:t>WHAT IT DOES NOT PROVE</a:t>
            </a:r>
            <a:endParaRPr sz="800" b="1">
              <a:solidFill>
                <a:srgbClr val="D95926"/>
              </a:solidFill>
            </a:endParaRPr>
          </a:p>
        </p:txBody>
      </p:sp>
      <p:sp>
        <p:nvSpPr>
          <p:cNvPr id="633" name="TextBox 10"/>
          <p:cNvSpPr txBox="1"/>
          <p:nvPr/>
        </p:nvSpPr>
        <p:spPr>
          <a:xfrm>
            <a:off x="6451600" y="2641600"/>
            <a:ext cx="4673600" cy="95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Behavior of any specific commercial ATS.</a:t>
            </a:r>
            <a:endParaRPr sz="1050">
              <a:solidFill>
                <a:srgbClr val="F0EFEC"/>
              </a:solidFill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Real-world label bias or legal compliance.</a:t>
            </a:r>
            <a:endParaRPr sz="1050">
              <a:solidFill>
                <a:srgbClr val="F0EFEC"/>
              </a:solidFill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Race, nonbinary, disability, or intersectional effects.</a:t>
            </a:r>
            <a:endParaRPr sz="1050">
              <a:solidFill>
                <a:srgbClr val="F0EFEC"/>
              </a:solidFill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Robustness to adaptive or adversarial candidates.</a:t>
            </a:r>
            <a:endParaRPr sz="1050">
              <a:solidFill>
                <a:srgbClr val="F0EFEC"/>
              </a:solidFill>
            </a:endParaRPr>
          </a:p>
        </p:txBody>
      </p:sp>
      <p:sp>
        <p:nvSpPr>
          <p:cNvPr id="634" name="TextBox 11"/>
          <p:cNvSpPr txBox="1"/>
          <p:nvPr/>
        </p:nvSpPr>
        <p:spPr>
          <a:xfrm>
            <a:off x="812800" y="5080000"/>
            <a:ext cx="381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898781"/>
                </a:solidFill>
              </a:rPr>
              <a:t>NEXT 90 DAYS  /  RUN IT ON REAL LOGS</a:t>
            </a:r>
            <a:endParaRPr sz="800" b="1">
              <a:solidFill>
                <a:srgbClr val="898781"/>
              </a:solidFill>
            </a:endParaRPr>
          </a:p>
        </p:txBody>
      </p:sp>
      <p:sp>
        <p:nvSpPr>
          <p:cNvPr id="635" name="Rectangle 12"/>
          <p:cNvSpPr/>
          <p:nvPr/>
        </p:nvSpPr>
        <p:spPr>
          <a:xfrm>
            <a:off x="8128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36" name="TextBox 13"/>
          <p:cNvSpPr txBox="1"/>
          <p:nvPr/>
        </p:nvSpPr>
        <p:spPr>
          <a:xfrm>
            <a:off x="9906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987E5"/>
                </a:solidFill>
              </a:rPr>
              <a:t>W1–2  /  INSTRUMENT</a:t>
            </a:r>
            <a:endParaRPr sz="750" b="1">
              <a:solidFill>
                <a:srgbClr val="3987E5"/>
              </a:solidFill>
            </a:endParaRPr>
          </a:p>
        </p:txBody>
      </p:sp>
      <p:sp>
        <p:nvSpPr>
          <p:cNvPr id="637" name="TextBox 14"/>
          <p:cNvSpPr txBox="1"/>
          <p:nvPr/>
        </p:nvSpPr>
        <p:spPr>
          <a:xfrm>
            <a:off x="9906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Hook the encoder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638" name="Rectangle 15"/>
          <p:cNvSpPr/>
          <p:nvPr/>
        </p:nvSpPr>
        <p:spPr>
          <a:xfrm>
            <a:off x="34544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39" name="TextBox 16"/>
          <p:cNvSpPr txBox="1"/>
          <p:nvPr/>
        </p:nvSpPr>
        <p:spPr>
          <a:xfrm>
            <a:off x="36322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95926"/>
                </a:solidFill>
              </a:rPr>
              <a:t>W3–4  /  AUDIT</a:t>
            </a:r>
            <a:endParaRPr sz="750" b="1">
              <a:solidFill>
                <a:srgbClr val="D95926"/>
              </a:solidFill>
            </a:endParaRPr>
          </a:p>
        </p:txBody>
      </p:sp>
      <p:sp>
        <p:nvSpPr>
          <p:cNvPr id="640" name="TextBox 17"/>
          <p:cNvSpPr txBox="1"/>
          <p:nvPr/>
        </p:nvSpPr>
        <p:spPr>
          <a:xfrm>
            <a:off x="36322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Paired + probe baseline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641" name="Rectangle 18"/>
          <p:cNvSpPr/>
          <p:nvPr/>
        </p:nvSpPr>
        <p:spPr>
          <a:xfrm>
            <a:off x="60960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42" name="TextBox 19"/>
          <p:cNvSpPr txBox="1"/>
          <p:nvPr/>
        </p:nvSpPr>
        <p:spPr>
          <a:xfrm>
            <a:off x="62738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987E5"/>
                </a:solidFill>
              </a:rPr>
              <a:t>W5–6  /  MITIGATE</a:t>
            </a:r>
            <a:endParaRPr sz="750" b="1">
              <a:solidFill>
                <a:srgbClr val="3987E5"/>
              </a:solidFill>
            </a:endParaRPr>
          </a:p>
        </p:txBody>
      </p:sp>
      <p:sp>
        <p:nvSpPr>
          <p:cNvPr id="643" name="TextBox 20"/>
          <p:cNvSpPr txBox="1"/>
          <p:nvPr/>
        </p:nvSpPr>
        <p:spPr>
          <a:xfrm>
            <a:off x="62738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LEACE + recalibrate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644" name="Rectangle 21"/>
          <p:cNvSpPr/>
          <p:nvPr/>
        </p:nvSpPr>
        <p:spPr>
          <a:xfrm>
            <a:off x="8737600" y="5384800"/>
            <a:ext cx="2641600" cy="685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45" name="TextBox 22"/>
          <p:cNvSpPr txBox="1"/>
          <p:nvPr/>
        </p:nvSpPr>
        <p:spPr>
          <a:xfrm>
            <a:off x="8915400" y="5511800"/>
            <a:ext cx="2311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CA30C"/>
                </a:solidFill>
              </a:rPr>
              <a:t>W7–8  /  GATE</a:t>
            </a:r>
            <a:endParaRPr sz="750" b="1">
              <a:solidFill>
                <a:srgbClr val="0CA30C"/>
              </a:solidFill>
            </a:endParaRPr>
          </a:p>
        </p:txBody>
      </p:sp>
      <p:sp>
        <p:nvSpPr>
          <p:cNvPr id="646" name="TextBox 23"/>
          <p:cNvSpPr txBox="1"/>
          <p:nvPr/>
        </p:nvSpPr>
        <p:spPr>
          <a:xfrm>
            <a:off x="8915400" y="5765800"/>
            <a:ext cx="23114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Ship / block decision</a:t>
            </a:r>
            <a:endParaRPr sz="850">
              <a:solidFill>
                <a:srgbClr val="C3C2B7"/>
              </a:solidFill>
            </a:endParaRPr>
          </a:p>
        </p:txBody>
      </p:sp>
      <p:sp>
        <p:nvSpPr>
          <p:cNvPr id="647" name="TextBox 24"/>
          <p:cNvSpPr txBox="1"/>
          <p:nvPr/>
        </p:nvSpPr>
        <p:spPr>
          <a:xfrm>
            <a:off x="812800" y="6248400"/>
            <a:ext cx="1054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Before any pilot: legal review, candidate notice, and an intersectional red-team.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648" name="TextBox 2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17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APPENDIX  /  FORMULAS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652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The test suite, in one place.</a:t>
            </a:r>
            <a:endParaRPr sz="3000" b="1">
              <a:solidFill>
                <a:srgbClr val="F0EFEC"/>
              </a:solidFill>
            </a:endParaRPr>
          </a:p>
        </p:txBody>
      </p:sp>
      <p:sp>
        <p:nvSpPr>
          <p:cNvPr id="653" name="TextBox 4"/>
          <p:cNvSpPr txBox="1"/>
          <p:nvPr/>
        </p:nvSpPr>
        <p:spPr>
          <a:xfrm>
            <a:off x="812800" y="1422400"/>
            <a:ext cx="10414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C3C2B7"/>
                </a:solidFill>
              </a:rPr>
              <a:t>Definitions used in the audit. Dots denote model outputs; A is the protected attribute.</a:t>
            </a:r>
            <a:endParaRPr sz="1100">
              <a:solidFill>
                <a:srgbClr val="C3C2B7"/>
              </a:solidFill>
            </a:endParaRPr>
          </a:p>
        </p:txBody>
      </p:sp>
      <p:sp>
        <p:nvSpPr>
          <p:cNvPr id="654" name="Rectangle 5"/>
          <p:cNvSpPr/>
          <p:nvPr/>
        </p:nvSpPr>
        <p:spPr>
          <a:xfrm>
            <a:off x="812800" y="20828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5" name="TextBox 6"/>
          <p:cNvSpPr txBox="1"/>
          <p:nvPr/>
        </p:nvSpPr>
        <p:spPr>
          <a:xfrm>
            <a:off x="1016000" y="22098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BEHAVIORAL BIAS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56" name="TextBox 7"/>
          <p:cNvSpPr txBox="1"/>
          <p:nvPr/>
        </p:nvSpPr>
        <p:spPr>
          <a:xfrm>
            <a:off x="1016000" y="24384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d(P(Ỹ | A=a), P(Ỹ | A=a′))</a:t>
            </a:r>
            <a:endParaRPr sz="1000" b="1">
              <a:solidFill>
                <a:srgbClr val="F0EFEC"/>
              </a:solidFill>
            </a:endParaRPr>
          </a:p>
        </p:txBody>
      </p:sp>
      <p:sp>
        <p:nvSpPr>
          <p:cNvPr id="657" name="Rectangle 8"/>
          <p:cNvSpPr/>
          <p:nvPr/>
        </p:nvSpPr>
        <p:spPr>
          <a:xfrm>
            <a:off x="6197600" y="20828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8" name="TextBox 9"/>
          <p:cNvSpPr txBox="1"/>
          <p:nvPr/>
        </p:nvSpPr>
        <p:spPr>
          <a:xfrm>
            <a:off x="6400800" y="22098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ACTIVATION-SPACE VECTOR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59" name="TextBox 10"/>
          <p:cNvSpPr txBox="1"/>
          <p:nvPr/>
        </p:nvSpPr>
        <p:spPr>
          <a:xfrm>
            <a:off x="6400800" y="24384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vₗ = E[hₗ | A=a] − E[hₗ | A=a′]</a:t>
            </a:r>
            <a:endParaRPr sz="1000" b="1">
              <a:solidFill>
                <a:srgbClr val="F0EFEC"/>
              </a:solidFill>
            </a:endParaRPr>
          </a:p>
        </p:txBody>
      </p:sp>
      <p:sp>
        <p:nvSpPr>
          <p:cNvPr id="660" name="Rectangle 11"/>
          <p:cNvSpPr/>
          <p:nvPr/>
        </p:nvSpPr>
        <p:spPr>
          <a:xfrm>
            <a:off x="812800" y="28702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1" name="TextBox 12"/>
          <p:cNvSpPr txBox="1"/>
          <p:nvPr/>
        </p:nvSpPr>
        <p:spPr>
          <a:xfrm>
            <a:off x="1016000" y="29972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ACTIVATION-SPACE BIAS RATIO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62" name="TextBox 13"/>
          <p:cNvSpPr txBox="1"/>
          <p:nvPr/>
        </p:nvSpPr>
        <p:spPr>
          <a:xfrm>
            <a:off x="1016000" y="3225800"/>
            <a:ext cx="4775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‖vₗ‖ / E‖hₗ‖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663" name="Rectangle 14"/>
          <p:cNvSpPr/>
          <p:nvPr/>
        </p:nvSpPr>
        <p:spPr>
          <a:xfrm>
            <a:off x="6197600" y="28702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4" name="TextBox 15"/>
          <p:cNvSpPr txBox="1"/>
          <p:nvPr/>
        </p:nvSpPr>
        <p:spPr>
          <a:xfrm>
            <a:off x="6400800" y="29972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DEMOGRAPHIC DISPARITY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65" name="TextBox 16"/>
          <p:cNvSpPr txBox="1"/>
          <p:nvPr/>
        </p:nvSpPr>
        <p:spPr>
          <a:xfrm>
            <a:off x="6400800" y="32258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Δ = |P(Ŷ=1 | A=White) − P(Ŷ=1 | A=Black)|</a:t>
            </a:r>
            <a:endParaRPr sz="900" b="1">
              <a:solidFill>
                <a:srgbClr val="F0EFEC"/>
              </a:solidFill>
            </a:endParaRPr>
          </a:p>
        </p:txBody>
      </p:sp>
      <p:sp>
        <p:nvSpPr>
          <p:cNvPr id="666" name="Rectangle 17"/>
          <p:cNvSpPr/>
          <p:nvPr/>
        </p:nvSpPr>
        <p:spPr>
          <a:xfrm>
            <a:off x="812800" y="36576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7" name="TextBox 18"/>
          <p:cNvSpPr txBox="1"/>
          <p:nvPr/>
        </p:nvSpPr>
        <p:spPr>
          <a:xfrm>
            <a:off x="1016000" y="37846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PRESENCE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68" name="TextBox 19"/>
          <p:cNvSpPr txBox="1"/>
          <p:nvPr/>
        </p:nvSpPr>
        <p:spPr>
          <a:xfrm>
            <a:off x="1016000" y="4013200"/>
            <a:ext cx="4775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‖vₗ‖ / ‖Σₗ‖</a:t>
            </a:r>
            <a:endParaRPr sz="1100" b="1">
              <a:solidFill>
                <a:srgbClr val="F0EFEC"/>
              </a:solidFill>
            </a:endParaRPr>
          </a:p>
        </p:txBody>
      </p:sp>
      <p:sp>
        <p:nvSpPr>
          <p:cNvPr id="669" name="Rectangle 20"/>
          <p:cNvSpPr/>
          <p:nvPr/>
        </p:nvSpPr>
        <p:spPr>
          <a:xfrm>
            <a:off x="6197600" y="36576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0" name="TextBox 21"/>
          <p:cNvSpPr txBox="1"/>
          <p:nvPr/>
        </p:nvSpPr>
        <p:spPr>
          <a:xfrm>
            <a:off x="6400800" y="37846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RETENTION FRACTION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71" name="TextBox 22"/>
          <p:cNvSpPr txBox="1"/>
          <p:nvPr/>
        </p:nvSpPr>
        <p:spPr>
          <a:xfrm>
            <a:off x="6400800" y="39878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F0EFEC"/>
                </a:solidFill>
              </a:rPr>
              <a:t>(Presence(M′) − Presence(B)) / (Presence(M_base) − Presence(B))</a:t>
            </a:r>
            <a:endParaRPr sz="750" b="1">
              <a:solidFill>
                <a:srgbClr val="F0EFEC"/>
              </a:solidFill>
            </a:endParaRPr>
          </a:p>
        </p:txBody>
      </p:sp>
      <p:sp>
        <p:nvSpPr>
          <p:cNvPr id="672" name="Rectangle 23"/>
          <p:cNvSpPr/>
          <p:nvPr/>
        </p:nvSpPr>
        <p:spPr>
          <a:xfrm>
            <a:off x="812800" y="44450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3" name="TextBox 24"/>
          <p:cNvSpPr txBox="1"/>
          <p:nvPr/>
        </p:nvSpPr>
        <p:spPr>
          <a:xfrm>
            <a:off x="1016000" y="45720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COSINE SIMILARITY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74" name="TextBox 25"/>
          <p:cNvSpPr txBox="1"/>
          <p:nvPr/>
        </p:nvSpPr>
        <p:spPr>
          <a:xfrm>
            <a:off x="1016000" y="48006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cos(ψ_after, ψ_bias)</a:t>
            </a:r>
            <a:endParaRPr sz="1000" b="1">
              <a:solidFill>
                <a:srgbClr val="F0EFEC"/>
              </a:solidFill>
            </a:endParaRPr>
          </a:p>
        </p:txBody>
      </p:sp>
      <p:sp>
        <p:nvSpPr>
          <p:cNvPr id="675" name="Rectangle 26"/>
          <p:cNvSpPr/>
          <p:nvPr/>
        </p:nvSpPr>
        <p:spPr>
          <a:xfrm>
            <a:off x="6197600" y="44450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6" name="TextBox 27"/>
          <p:cNvSpPr txBox="1"/>
          <p:nvPr/>
        </p:nvSpPr>
        <p:spPr>
          <a:xfrm>
            <a:off x="6400800" y="45720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BALANCED ACCURACY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77" name="TextBox 28"/>
          <p:cNvSpPr txBox="1"/>
          <p:nvPr/>
        </p:nvSpPr>
        <p:spPr>
          <a:xfrm>
            <a:off x="6400800" y="48006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½(qualified acceptance + unqualified rejection)</a:t>
            </a:r>
            <a:endParaRPr sz="900" b="1">
              <a:solidFill>
                <a:srgbClr val="F0EFEC"/>
              </a:solidFill>
            </a:endParaRPr>
          </a:p>
        </p:txBody>
      </p:sp>
      <p:sp>
        <p:nvSpPr>
          <p:cNvPr id="678" name="Rectangle 29"/>
          <p:cNvSpPr/>
          <p:nvPr/>
        </p:nvSpPr>
        <p:spPr>
          <a:xfrm>
            <a:off x="812800" y="52324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9" name="TextBox 30"/>
          <p:cNvSpPr txBox="1"/>
          <p:nvPr/>
        </p:nvSpPr>
        <p:spPr>
          <a:xfrm>
            <a:off x="1016000" y="53594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CV SCORE DIFFERENCE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80" name="TextBox 31"/>
          <p:cNvSpPr txBox="1"/>
          <p:nvPr/>
        </p:nvSpPr>
        <p:spPr>
          <a:xfrm>
            <a:off x="1016000" y="55880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dᵢⱼ = s(CVᶠᵢ, jobⱼ) − s(CVᵐᵢ, jobⱼ)</a:t>
            </a:r>
            <a:endParaRPr sz="900" b="1">
              <a:solidFill>
                <a:srgbClr val="F0EFEC"/>
              </a:solidFill>
            </a:endParaRPr>
          </a:p>
        </p:txBody>
      </p:sp>
      <p:sp>
        <p:nvSpPr>
          <p:cNvPr id="681" name="Rectangle 32"/>
          <p:cNvSpPr/>
          <p:nvPr/>
        </p:nvSpPr>
        <p:spPr>
          <a:xfrm>
            <a:off x="6197600" y="52324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82" name="TextBox 33"/>
          <p:cNvSpPr txBox="1"/>
          <p:nvPr/>
        </p:nvSpPr>
        <p:spPr>
          <a:xfrm>
            <a:off x="6400800" y="53594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LEACE PROJECTION</a:t>
            </a:r>
            <a:endParaRPr sz="700">
              <a:solidFill>
                <a:srgbClr val="898781"/>
              </a:solidFill>
            </a:endParaRPr>
          </a:p>
        </p:txBody>
      </p:sp>
      <p:sp>
        <p:nvSpPr>
          <p:cNvPr id="683" name="TextBox 34"/>
          <p:cNvSpPr txBox="1"/>
          <p:nvPr/>
        </p:nvSpPr>
        <p:spPr>
          <a:xfrm>
            <a:off x="6400800" y="5562600"/>
            <a:ext cx="47752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r(h) = h − Wᵀ(WWᵀ)⁻¹Wh</a:t>
            </a:r>
            <a:endParaRPr sz="950" b="1">
              <a:solidFill>
                <a:srgbClr val="F0EFEC"/>
              </a:solidFill>
            </a:endParaRPr>
          </a:p>
        </p:txBody>
      </p:sp>
      <p:sp>
        <p:nvSpPr>
          <p:cNvPr id="684" name="TextBox 35"/>
          <p:cNvSpPr txBox="1"/>
          <p:nvPr/>
        </p:nvSpPr>
        <p:spPr>
          <a:xfrm>
            <a:off x="812800" y="6121400"/>
            <a:ext cx="1066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 = blind baseline; M_base = biased baseline; M′ = mitigated model; hₗ = layer-l hidden state.</a:t>
            </a:r>
            <a:endParaRPr sz="800">
              <a:solidFill>
                <a:srgbClr val="6F7682"/>
              </a:solidFill>
            </a:endParaRPr>
          </a:p>
        </p:txBody>
      </p:sp>
      <p:sp>
        <p:nvSpPr>
          <p:cNvPr id="685" name="TextBox 36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18</a:t>
            </a:r>
            <a:endParaRPr sz="90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8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APPENDIX  /  SOURCES</a:t>
            </a:r>
            <a:endParaRPr sz="900">
              <a:solidFill>
                <a:srgbClr val="898781"/>
              </a:solidFill>
            </a:endParaRPr>
          </a:p>
        </p:txBody>
      </p:sp>
      <p:sp>
        <p:nvSpPr>
          <p:cNvPr id="689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Sources and reproducibility.</a:t>
            </a:r>
            <a:endParaRPr sz="3000" b="1">
              <a:solidFill>
                <a:srgbClr val="F0EFEC"/>
              </a:solidFill>
            </a:endParaRPr>
          </a:p>
        </p:txBody>
      </p:sp>
      <p:sp>
        <p:nvSpPr>
          <p:cNvPr id="690" name="TextBox 4"/>
          <p:cNvSpPr txBox="1"/>
          <p:nvPr/>
        </p:nvSpPr>
        <p:spPr>
          <a:xfrm>
            <a:off x="812800" y="1422400"/>
            <a:ext cx="10414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C3C2B7"/>
                </a:solidFill>
              </a:rPr>
              <a:t>Every statistic in this deck is traceable to the benchmark or the cited literature.</a:t>
            </a:r>
            <a:endParaRPr sz="1100">
              <a:solidFill>
                <a:srgbClr val="C3C2B7"/>
              </a:solidFill>
            </a:endParaRPr>
          </a:p>
        </p:txBody>
      </p:sp>
      <p:sp>
        <p:nvSpPr>
          <p:cNvPr id="691" name="Rectangle 5"/>
          <p:cNvSpPr/>
          <p:nvPr/>
        </p:nvSpPr>
        <p:spPr>
          <a:xfrm>
            <a:off x="812800" y="1955800"/>
            <a:ext cx="5181600" cy="317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92" name="TextBox 6"/>
          <p:cNvSpPr txBox="1"/>
          <p:nvPr/>
        </p:nvSpPr>
        <p:spPr>
          <a:xfrm>
            <a:off x="1016000" y="21336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LITERATURE  /  1–4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693" name="TextBox 7"/>
          <p:cNvSpPr txBox="1"/>
          <p:nvPr/>
        </p:nvSpPr>
        <p:spPr>
          <a:xfrm>
            <a:off x="1016000" y="2413000"/>
            <a:ext cx="4775200" cy="163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1  Wilson, K. &amp; Caliskan, A. (2024). Gender, Race, and Intersectional Bias in Resume Screening via Language Model Retrieval. AIES. doi:10.1609/aies.v7i1.31748</a:t>
            </a: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2  An, J., Huang, D., Lin, C. &amp; Tai, M. (2025). Measuring gender and racial biases in large language models. PNAS Nexus. doi:10.1093/pnasnexus/pgaf089</a:t>
            </a: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3  Goldin, C. &amp; Rouse, C. (2000). Orchestrating Impartiality: The Impact of “Blind” Auditions on Female Musicians. AER 90(4), 715–741.</a:t>
            </a: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4  Wang, Z. et al. (2024). JobFair: A Framework for Benchmarking Gender Hiring Bias in LLMs. Findings of EMNLP. doi:10.18653/v1/2024.findings-emnlp.184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694" name="Rectangle 8"/>
          <p:cNvSpPr/>
          <p:nvPr/>
        </p:nvSpPr>
        <p:spPr>
          <a:xfrm>
            <a:off x="6197600" y="1955800"/>
            <a:ext cx="5181600" cy="317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95" name="TextBox 9"/>
          <p:cNvSpPr txBox="1"/>
          <p:nvPr/>
        </p:nvSpPr>
        <p:spPr>
          <a:xfrm>
            <a:off x="6400800" y="21336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METHODS  /  5–8</a:t>
            </a:r>
            <a:endParaRPr sz="750">
              <a:solidFill>
                <a:srgbClr val="898781"/>
              </a:solidFill>
            </a:endParaRPr>
          </a:p>
        </p:txBody>
      </p:sp>
      <p:sp>
        <p:nvSpPr>
          <p:cNvPr id="696" name="TextBox 10"/>
          <p:cNvSpPr txBox="1"/>
          <p:nvPr/>
        </p:nvSpPr>
        <p:spPr>
          <a:xfrm>
            <a:off x="6400800" y="2413000"/>
            <a:ext cx="4775200" cy="1493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5  Belrose, N. et al. (2023). LEACE: Perfect linear concept erasure in closed form. arXiv:2306.03819.</a:t>
            </a: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6  Dastin, J. (2018). Amazon scraps secret AI recruiting tool that showed bias against women. Reuters, 10 Oct.</a:t>
            </a: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7  Ravfogel, S. et al. (2020). Null It Out: Guarding Protected Attributes by Iterative Nullspace Projection. ACL.</a:t>
            </a: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8  Barocas, S. &amp; Selbst, A. (2016). Big Data’s Disparate Impact. California Law Review 104:671.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697" name="Rectangle 11"/>
          <p:cNvSpPr/>
          <p:nvPr/>
        </p:nvSpPr>
        <p:spPr>
          <a:xfrm>
            <a:off x="812800" y="5334000"/>
            <a:ext cx="10566400" cy="787400"/>
          </a:xfrm>
          <a:prstGeom prst="roundRect">
            <a:avLst/>
          </a:prstGeom>
          <a:solidFill>
            <a:srgbClr val="0F141D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98" name="TextBox 12"/>
          <p:cNvSpPr txBox="1"/>
          <p:nvPr/>
        </p:nvSpPr>
        <p:spPr>
          <a:xfrm>
            <a:off x="1016000" y="5461000"/>
            <a:ext cx="10160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9FE870"/>
                </a:solidFill>
              </a:rPr>
              <a:t>REPRODUCIBILITY</a:t>
            </a:r>
            <a:endParaRPr sz="750" b="1">
              <a:solidFill>
                <a:srgbClr val="9FE870"/>
              </a:solidFill>
            </a:endParaRPr>
          </a:p>
        </p:txBody>
      </p:sp>
      <p:sp>
        <p:nvSpPr>
          <p:cNvPr id="699" name="TextBox 13"/>
          <p:cNvSpPr txBox="1"/>
          <p:nvPr/>
        </p:nvSpPr>
        <p:spPr>
          <a:xfrm>
            <a:off x="1016000" y="5689600"/>
            <a:ext cx="10160000" cy="371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1,600 synthetic CVs · 800 matched pairs · 8 job families · 10 features · seed 7 · MiniLM-L6-v2, layer 6, mean-pooled states · scikit-learn 1.9.1 · concept-erasure 0.2.4 · 80/20 split by candidate · 5-fold group CV. Synthetic labels with a known injected gap; not a production audit.</a:t>
            </a:r>
            <a:endParaRPr sz="800">
              <a:solidFill>
                <a:srgbClr val="C3C2B7"/>
              </a:solidFill>
            </a:endParaRPr>
          </a:p>
        </p:txBody>
      </p:sp>
      <p:sp>
        <p:nvSpPr>
          <p:cNvPr id="700" name="TextBox 14"/>
          <p:cNvSpPr txBox="1"/>
          <p:nvPr/>
        </p:nvSpPr>
        <p:spPr>
          <a:xfrm>
            <a:off x="812800" y="6350000"/>
            <a:ext cx="10668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6F7682"/>
                </a:solidFill>
              </a:rPr>
              <a:t>Primary sources were checked against OpenAlex/DOI records; exact figures are quoted from the abstracts.</a:t>
            </a:r>
            <a:endParaRPr sz="750">
              <a:solidFill>
                <a:srgbClr val="6F7682"/>
              </a:solidFill>
            </a:endParaRPr>
          </a:p>
        </p:txBody>
      </p:sp>
      <p:sp>
        <p:nvSpPr>
          <p:cNvPr id="701" name="TextBox 1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19</a:t>
            </a:r>
            <a:endParaRPr sz="900">
              <a:solidFill>
                <a:srgbClr val="6F7682"/>
              </a:solidFill>
            </a:endParaRPr>
          </a:p>
        </p:txBody>
      </p:sp>
      <p:sp>
        <p:nvSpPr>
          <p:cNvPr id="704" name="TextBox 16"/>
          <p:cNvSpPr txBox="1"/>
          <p:nvPr/>
        </p:nvSpPr>
        <p:spPr>
          <a:xfrm>
            <a:off x="1016000" y="4267200"/>
            <a:ext cx="4775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HOW THE NUMBERS MAP</a:t>
            </a:r>
            <a:endParaRPr sz="750">
              <a:solidFill>
                <a:srgbClr val="6F7682"/>
              </a:solidFill>
            </a:endParaRPr>
          </a:p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8.8 / 7.7 pp = benchmark; 85.1% = (1); 1–3 pp = (2); reverse bias = (4).</a:t>
            </a:r>
            <a:endParaRPr sz="750">
              <a:solidFill>
                <a:srgbClr val="6F7682"/>
              </a:solidFill>
            </a:endParaRPr>
          </a:p>
        </p:txBody>
      </p:sp>
      <p:sp>
        <p:nvSpPr>
          <p:cNvPr id="705" name="TextBox 17"/>
          <p:cNvSpPr txBox="1"/>
          <p:nvPr/>
        </p:nvSpPr>
        <p:spPr>
          <a:xfrm>
            <a:off x="6400800" y="4267200"/>
            <a:ext cx="4775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AUDIT OUTPUTS</a:t>
            </a:r>
            <a:endParaRPr sz="750">
              <a:solidFill>
                <a:srgbClr val="6F7682"/>
              </a:solidFill>
            </a:endParaRPr>
          </a:p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probe 100 → 58%; relative bias 0.77 → 0.05; retention 4.7%; AUC 0.742 → 0.735.</a:t>
            </a:r>
            <a:endParaRPr sz="750">
              <a:solidFill>
                <a:srgbClr val="6F768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19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