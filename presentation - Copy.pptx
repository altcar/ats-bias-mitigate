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9" r:id="rId3"/>
    <p:sldId id="275" r:id="rId4"/>
    <p:sldId id="276" r:id="rId5"/>
    <p:sldId id="258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12192000" cy="6858000"/>
  <p:notesSz cx="6858000" cy="9144000"/>
  <p:defaultTextStyle>
    <a:lvl1pPr marL="0" algn="l">
      <a:defRPr sz="1800" kern="1200">
        <a:solidFill>
          <a:schemeClr val="tx1"/>
        </a:solidFill>
        <a:latin typeface="+mn-lt"/>
      </a:defRPr>
    </a:lvl1pPr>
    <a:lvl2pPr marL="457200" algn="l">
      <a:defRPr sz="1800" kern="1200">
        <a:solidFill>
          <a:schemeClr val="tx1"/>
        </a:solidFill>
        <a:latin typeface="+mn-lt"/>
      </a:defRPr>
    </a:lvl2pPr>
    <a:lvl3pPr marL="914400" algn="l">
      <a:defRPr sz="1800" kern="1200">
        <a:solidFill>
          <a:schemeClr val="tx1"/>
        </a:solidFill>
        <a:latin typeface="+mn-lt"/>
      </a:defRPr>
    </a:lvl3pPr>
    <a:lvl4pPr marL="1371600" algn="l">
      <a:defRPr sz="1800" kern="1200">
        <a:solidFill>
          <a:schemeClr val="tx1"/>
        </a:solidFill>
        <a:latin typeface="+mn-lt"/>
      </a:defRPr>
    </a:lvl4pPr>
    <a:lvl5pPr marL="1828800" algn="l">
      <a:defRPr sz="1800" kern="1200">
        <a:solidFill>
          <a:schemeClr val="tx1"/>
        </a:solidFill>
        <a:latin typeface="+mn-lt"/>
      </a:defRPr>
    </a:lvl5pPr>
    <a:lvl6pPr marL="2286000" algn="l">
      <a:defRPr sz="1800" kern="1200">
        <a:solidFill>
          <a:schemeClr val="tx1"/>
        </a:solidFill>
        <a:latin typeface="+mn-lt"/>
      </a:defRPr>
    </a:lvl6pPr>
    <a:lvl7pPr marL="2743200" algn="l">
      <a:defRPr sz="1800" kern="1200">
        <a:solidFill>
          <a:schemeClr val="tx1"/>
        </a:solidFill>
        <a:latin typeface="+mn-lt"/>
      </a:defRPr>
    </a:lvl7pPr>
    <a:lvl8pPr marL="3200400" algn="l">
      <a:defRPr sz="1800" kern="1200">
        <a:solidFill>
          <a:schemeClr val="tx1"/>
        </a:solidFill>
        <a:latin typeface="+mn-lt"/>
      </a:defRPr>
    </a:lvl8pPr>
    <a:lvl9pPr marL="3657600" algn="l">
      <a:defRPr sz="1800" kern="1200">
        <a:solidFill>
          <a:schemeClr val="tx1"/>
        </a:solidFill>
        <a:latin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FBF1FA9-B14C-42FA-8612-4BE70852297A}" v="1" dt="2026-10-25T11:00:22.3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032" autoAdjust="0"/>
  </p:normalViewPr>
  <p:slideViewPr>
    <p:cSldViewPr snapToGrid="0">
      <p:cViewPr varScale="1">
        <p:scale>
          <a:sx n="79" d="100"/>
          <a:sy n="79" d="100"/>
        </p:scale>
        <p:origin x="54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lev Lau (Student)" userId="9a376fe1-899c-4f89-9fe8-4857f71a0fb0" providerId="ADAL" clId="{57D68540-773D-4FB8-ACD5-4CB15A7E1AD7}"/>
    <pc:docChg chg="undo custSel addSld delSld modSld sldOrd">
      <pc:chgData name="Shalev Lau (Student)" userId="9a376fe1-899c-4f89-9fe8-4857f71a0fb0" providerId="ADAL" clId="{57D68540-773D-4FB8-ACD5-4CB15A7E1AD7}" dt="2026-10-25T12:02:39.531" v="209" actId="21"/>
      <pc:docMkLst>
        <pc:docMk/>
      </pc:docMkLst>
      <pc:sldChg chg="addSp delSp modSp mod">
        <pc:chgData name="Shalev Lau (Student)" userId="9a376fe1-899c-4f89-9fe8-4857f71a0fb0" providerId="ADAL" clId="{57D68540-773D-4FB8-ACD5-4CB15A7E1AD7}" dt="2026-10-25T10:22:46.473" v="16" actId="1076"/>
        <pc:sldMkLst>
          <pc:docMk/>
          <pc:sldMk cId="0" sldId="256"/>
        </pc:sldMkLst>
        <pc:spChg chg="add del mod">
          <ac:chgData name="Shalev Lau (Student)" userId="9a376fe1-899c-4f89-9fe8-4857f71a0fb0" providerId="ADAL" clId="{57D68540-773D-4FB8-ACD5-4CB15A7E1AD7}" dt="2026-10-25T10:22:46.473" v="16" actId="1076"/>
          <ac:spMkLst>
            <pc:docMk/>
            <pc:sldMk cId="0" sldId="256"/>
            <ac:spMk id="260" creationId="{00000000-0000-0000-0000-000000000000}"/>
          </ac:spMkLst>
        </pc:spChg>
        <pc:spChg chg="add del">
          <ac:chgData name="Shalev Lau (Student)" userId="9a376fe1-899c-4f89-9fe8-4857f71a0fb0" providerId="ADAL" clId="{57D68540-773D-4FB8-ACD5-4CB15A7E1AD7}" dt="2026-10-25T10:17:28.621" v="8" actId="478"/>
          <ac:spMkLst>
            <pc:docMk/>
            <pc:sldMk cId="0" sldId="256"/>
            <ac:spMk id="265" creationId="{00000000-0000-0000-0000-000000000000}"/>
          </ac:spMkLst>
        </pc:spChg>
        <pc:spChg chg="add del">
          <ac:chgData name="Shalev Lau (Student)" userId="9a376fe1-899c-4f89-9fe8-4857f71a0fb0" providerId="ADAL" clId="{57D68540-773D-4FB8-ACD5-4CB15A7E1AD7}" dt="2026-10-25T10:22:45.571" v="14" actId="478"/>
          <ac:spMkLst>
            <pc:docMk/>
            <pc:sldMk cId="0" sldId="256"/>
            <ac:spMk id="266" creationId="{00000000-0000-0000-0000-000000000000}"/>
          </ac:spMkLst>
        </pc:spChg>
      </pc:sldChg>
      <pc:sldChg chg="del">
        <pc:chgData name="Shalev Lau (Student)" userId="9a376fe1-899c-4f89-9fe8-4857f71a0fb0" providerId="ADAL" clId="{57D68540-773D-4FB8-ACD5-4CB15A7E1AD7}" dt="2026-10-25T10:42:02.992" v="134" actId="47"/>
        <pc:sldMkLst>
          <pc:docMk/>
          <pc:sldMk cId="0" sldId="257"/>
        </pc:sldMkLst>
      </pc:sldChg>
      <pc:sldChg chg="modSp mod">
        <pc:chgData name="Shalev Lau (Student)" userId="9a376fe1-899c-4f89-9fe8-4857f71a0fb0" providerId="ADAL" clId="{57D68540-773D-4FB8-ACD5-4CB15A7E1AD7}" dt="2026-10-25T10:39:02.484" v="45" actId="1076"/>
        <pc:sldMkLst>
          <pc:docMk/>
          <pc:sldMk cId="0" sldId="258"/>
        </pc:sldMkLst>
        <pc:picChg chg="mod">
          <ac:chgData name="Shalev Lau (Student)" userId="9a376fe1-899c-4f89-9fe8-4857f71a0fb0" providerId="ADAL" clId="{57D68540-773D-4FB8-ACD5-4CB15A7E1AD7}" dt="2026-10-25T10:39:02.484" v="45" actId="1076"/>
          <ac:picMkLst>
            <pc:docMk/>
            <pc:sldMk cId="0" sldId="258"/>
            <ac:picMk id="294" creationId="{00000000-0000-0000-0000-000000000000}"/>
          </ac:picMkLst>
        </pc:picChg>
      </pc:sldChg>
      <pc:sldChg chg="ord">
        <pc:chgData name="Shalev Lau (Student)" userId="9a376fe1-899c-4f89-9fe8-4857f71a0fb0" providerId="ADAL" clId="{57D68540-773D-4FB8-ACD5-4CB15A7E1AD7}" dt="2026-10-25T10:35:45.740" v="34"/>
        <pc:sldMkLst>
          <pc:docMk/>
          <pc:sldMk cId="0" sldId="259"/>
        </pc:sldMkLst>
      </pc:sldChg>
      <pc:sldChg chg="delSp modSp mod">
        <pc:chgData name="Shalev Lau (Student)" userId="9a376fe1-899c-4f89-9fe8-4857f71a0fb0" providerId="ADAL" clId="{57D68540-773D-4FB8-ACD5-4CB15A7E1AD7}" dt="2026-10-25T10:48:01.330" v="164" actId="21"/>
        <pc:sldMkLst>
          <pc:docMk/>
          <pc:sldMk cId="0" sldId="261"/>
        </pc:sldMkLst>
        <pc:spChg chg="del">
          <ac:chgData name="Shalev Lau (Student)" userId="9a376fe1-899c-4f89-9fe8-4857f71a0fb0" providerId="ADAL" clId="{57D68540-773D-4FB8-ACD5-4CB15A7E1AD7}" dt="2026-10-25T10:47:31.499" v="157" actId="478"/>
          <ac:spMkLst>
            <pc:docMk/>
            <pc:sldMk cId="0" sldId="261"/>
            <ac:spMk id="358" creationId="{00000000-0000-0000-0000-000000000000}"/>
          </ac:spMkLst>
        </pc:spChg>
        <pc:spChg chg="del">
          <ac:chgData name="Shalev Lau (Student)" userId="9a376fe1-899c-4f89-9fe8-4857f71a0fb0" providerId="ADAL" clId="{57D68540-773D-4FB8-ACD5-4CB15A7E1AD7}" dt="2026-10-25T10:48:01.330" v="164" actId="21"/>
          <ac:spMkLst>
            <pc:docMk/>
            <pc:sldMk cId="0" sldId="261"/>
            <ac:spMk id="363" creationId="{00000000-0000-0000-0000-000000000000}"/>
          </ac:spMkLst>
        </pc:spChg>
        <pc:spChg chg="del">
          <ac:chgData name="Shalev Lau (Student)" userId="9a376fe1-899c-4f89-9fe8-4857f71a0fb0" providerId="ADAL" clId="{57D68540-773D-4FB8-ACD5-4CB15A7E1AD7}" dt="2026-10-25T10:48:01.330" v="164" actId="21"/>
          <ac:spMkLst>
            <pc:docMk/>
            <pc:sldMk cId="0" sldId="261"/>
            <ac:spMk id="364" creationId="{00000000-0000-0000-0000-000000000000}"/>
          </ac:spMkLst>
        </pc:spChg>
        <pc:spChg chg="mod">
          <ac:chgData name="Shalev Lau (Student)" userId="9a376fe1-899c-4f89-9fe8-4857f71a0fb0" providerId="ADAL" clId="{57D68540-773D-4FB8-ACD5-4CB15A7E1AD7}" dt="2026-10-25T10:47:19.198" v="156" actId="1076"/>
          <ac:spMkLst>
            <pc:docMk/>
            <pc:sldMk cId="0" sldId="261"/>
            <ac:spMk id="367" creationId="{00000000-0000-0000-0000-000000000000}"/>
          </ac:spMkLst>
        </pc:spChg>
        <pc:spChg chg="del">
          <ac:chgData name="Shalev Lau (Student)" userId="9a376fe1-899c-4f89-9fe8-4857f71a0fb0" providerId="ADAL" clId="{57D68540-773D-4FB8-ACD5-4CB15A7E1AD7}" dt="2026-10-25T10:48:01.330" v="164" actId="21"/>
          <ac:spMkLst>
            <pc:docMk/>
            <pc:sldMk cId="0" sldId="261"/>
            <ac:spMk id="368" creationId="{00000000-0000-0000-0000-000000000000}"/>
          </ac:spMkLst>
        </pc:spChg>
        <pc:spChg chg="del">
          <ac:chgData name="Shalev Lau (Student)" userId="9a376fe1-899c-4f89-9fe8-4857f71a0fb0" providerId="ADAL" clId="{57D68540-773D-4FB8-ACD5-4CB15A7E1AD7}" dt="2026-10-25T10:48:01.330" v="164" actId="21"/>
          <ac:spMkLst>
            <pc:docMk/>
            <pc:sldMk cId="0" sldId="261"/>
            <ac:spMk id="369" creationId="{00000000-0000-0000-0000-000000000000}"/>
          </ac:spMkLst>
        </pc:spChg>
        <pc:spChg chg="del">
          <ac:chgData name="Shalev Lau (Student)" userId="9a376fe1-899c-4f89-9fe8-4857f71a0fb0" providerId="ADAL" clId="{57D68540-773D-4FB8-ACD5-4CB15A7E1AD7}" dt="2026-10-25T10:48:01.330" v="164" actId="21"/>
          <ac:spMkLst>
            <pc:docMk/>
            <pc:sldMk cId="0" sldId="261"/>
            <ac:spMk id="371" creationId="{00000000-0000-0000-0000-000000000000}"/>
          </ac:spMkLst>
        </pc:spChg>
        <pc:spChg chg="del">
          <ac:chgData name="Shalev Lau (Student)" userId="9a376fe1-899c-4f89-9fe8-4857f71a0fb0" providerId="ADAL" clId="{57D68540-773D-4FB8-ACD5-4CB15A7E1AD7}" dt="2026-10-25T10:48:01.330" v="164" actId="21"/>
          <ac:spMkLst>
            <pc:docMk/>
            <pc:sldMk cId="0" sldId="261"/>
            <ac:spMk id="375" creationId="{00000000-0000-0000-0000-000000000000}"/>
          </ac:spMkLst>
        </pc:spChg>
        <pc:spChg chg="mod">
          <ac:chgData name="Shalev Lau (Student)" userId="9a376fe1-899c-4f89-9fe8-4857f71a0fb0" providerId="ADAL" clId="{57D68540-773D-4FB8-ACD5-4CB15A7E1AD7}" dt="2026-10-25T10:47:42.692" v="160" actId="1076"/>
          <ac:spMkLst>
            <pc:docMk/>
            <pc:sldMk cId="0" sldId="261"/>
            <ac:spMk id="377" creationId="{00000000-0000-0000-0000-000000000000}"/>
          </ac:spMkLst>
        </pc:spChg>
        <pc:spChg chg="mod">
          <ac:chgData name="Shalev Lau (Student)" userId="9a376fe1-899c-4f89-9fe8-4857f71a0fb0" providerId="ADAL" clId="{57D68540-773D-4FB8-ACD5-4CB15A7E1AD7}" dt="2026-10-25T10:47:42.692" v="160" actId="1076"/>
          <ac:spMkLst>
            <pc:docMk/>
            <pc:sldMk cId="0" sldId="261"/>
            <ac:spMk id="378" creationId="{00000000-0000-0000-0000-000000000000}"/>
          </ac:spMkLst>
        </pc:spChg>
        <pc:spChg chg="mod">
          <ac:chgData name="Shalev Lau (Student)" userId="9a376fe1-899c-4f89-9fe8-4857f71a0fb0" providerId="ADAL" clId="{57D68540-773D-4FB8-ACD5-4CB15A7E1AD7}" dt="2026-10-25T10:47:42.692" v="160" actId="1076"/>
          <ac:spMkLst>
            <pc:docMk/>
            <pc:sldMk cId="0" sldId="261"/>
            <ac:spMk id="379" creationId="{00000000-0000-0000-0000-000000000000}"/>
          </ac:spMkLst>
        </pc:spChg>
        <pc:spChg chg="del mod">
          <ac:chgData name="Shalev Lau (Student)" userId="9a376fe1-899c-4f89-9fe8-4857f71a0fb0" providerId="ADAL" clId="{57D68540-773D-4FB8-ACD5-4CB15A7E1AD7}" dt="2026-10-25T10:48:01.330" v="164" actId="21"/>
          <ac:spMkLst>
            <pc:docMk/>
            <pc:sldMk cId="0" sldId="261"/>
            <ac:spMk id="380" creationId="{00000000-0000-0000-0000-000000000000}"/>
          </ac:spMkLst>
        </pc:spChg>
        <pc:spChg chg="del mod">
          <ac:chgData name="Shalev Lau (Student)" userId="9a376fe1-899c-4f89-9fe8-4857f71a0fb0" providerId="ADAL" clId="{57D68540-773D-4FB8-ACD5-4CB15A7E1AD7}" dt="2026-10-25T10:48:01.330" v="164" actId="21"/>
          <ac:spMkLst>
            <pc:docMk/>
            <pc:sldMk cId="0" sldId="261"/>
            <ac:spMk id="381" creationId="{00000000-0000-0000-0000-000000000000}"/>
          </ac:spMkLst>
        </pc:spChg>
        <pc:spChg chg="del mod">
          <ac:chgData name="Shalev Lau (Student)" userId="9a376fe1-899c-4f89-9fe8-4857f71a0fb0" providerId="ADAL" clId="{57D68540-773D-4FB8-ACD5-4CB15A7E1AD7}" dt="2026-10-25T10:48:01.330" v="164" actId="21"/>
          <ac:spMkLst>
            <pc:docMk/>
            <pc:sldMk cId="0" sldId="261"/>
            <ac:spMk id="382" creationId="{00000000-0000-0000-0000-000000000000}"/>
          </ac:spMkLst>
        </pc:spChg>
        <pc:spChg chg="mod">
          <ac:chgData name="Shalev Lau (Student)" userId="9a376fe1-899c-4f89-9fe8-4857f71a0fb0" providerId="ADAL" clId="{57D68540-773D-4FB8-ACD5-4CB15A7E1AD7}" dt="2026-10-25T10:47:47.168" v="161" actId="1076"/>
          <ac:spMkLst>
            <pc:docMk/>
            <pc:sldMk cId="0" sldId="261"/>
            <ac:spMk id="383" creationId="{00000000-0000-0000-0000-000000000000}"/>
          </ac:spMkLst>
        </pc:spChg>
        <pc:spChg chg="del mod">
          <ac:chgData name="Shalev Lau (Student)" userId="9a376fe1-899c-4f89-9fe8-4857f71a0fb0" providerId="ADAL" clId="{57D68540-773D-4FB8-ACD5-4CB15A7E1AD7}" dt="2026-10-25T10:48:01.330" v="164" actId="21"/>
          <ac:spMkLst>
            <pc:docMk/>
            <pc:sldMk cId="0" sldId="261"/>
            <ac:spMk id="384" creationId="{00000000-0000-0000-0000-000000000000}"/>
          </ac:spMkLst>
        </pc:spChg>
        <pc:spChg chg="mod">
          <ac:chgData name="Shalev Lau (Student)" userId="9a376fe1-899c-4f89-9fe8-4857f71a0fb0" providerId="ADAL" clId="{57D68540-773D-4FB8-ACD5-4CB15A7E1AD7}" dt="2026-10-25T10:47:48.927" v="162" actId="1076"/>
          <ac:spMkLst>
            <pc:docMk/>
            <pc:sldMk cId="0" sldId="261"/>
            <ac:spMk id="388" creationId="{00000000-0000-0000-0000-000000000000}"/>
          </ac:spMkLst>
        </pc:spChg>
        <pc:spChg chg="mod">
          <ac:chgData name="Shalev Lau (Student)" userId="9a376fe1-899c-4f89-9fe8-4857f71a0fb0" providerId="ADAL" clId="{57D68540-773D-4FB8-ACD5-4CB15A7E1AD7}" dt="2026-10-25T10:47:51.646" v="163" actId="1076"/>
          <ac:spMkLst>
            <pc:docMk/>
            <pc:sldMk cId="0" sldId="261"/>
            <ac:spMk id="389" creationId="{00000000-0000-0000-0000-000000000000}"/>
          </ac:spMkLst>
        </pc:spChg>
      </pc:sldChg>
      <pc:sldChg chg="addSp delSp modSp mod">
        <pc:chgData name="Shalev Lau (Student)" userId="9a376fe1-899c-4f89-9fe8-4857f71a0fb0" providerId="ADAL" clId="{57D68540-773D-4FB8-ACD5-4CB15A7E1AD7}" dt="2026-10-25T11:21:28.048" v="207" actId="478"/>
        <pc:sldMkLst>
          <pc:docMk/>
          <pc:sldMk cId="0" sldId="262"/>
        </pc:sldMkLst>
        <pc:spChg chg="mod">
          <ac:chgData name="Shalev Lau (Student)" userId="9a376fe1-899c-4f89-9fe8-4857f71a0fb0" providerId="ADAL" clId="{57D68540-773D-4FB8-ACD5-4CB15A7E1AD7}" dt="2026-10-25T10:27:01.359" v="28" actId="1076"/>
          <ac:spMkLst>
            <pc:docMk/>
            <pc:sldMk cId="0" sldId="262"/>
            <ac:spMk id="394" creationId="{00000000-0000-0000-0000-000000000000}"/>
          </ac:spMkLst>
        </pc:spChg>
        <pc:picChg chg="add del mod">
          <ac:chgData name="Shalev Lau (Student)" userId="9a376fe1-899c-4f89-9fe8-4857f71a0fb0" providerId="ADAL" clId="{57D68540-773D-4FB8-ACD5-4CB15A7E1AD7}" dt="2026-10-25T10:22:45.176" v="13" actId="22"/>
          <ac:picMkLst>
            <pc:docMk/>
            <pc:sldMk cId="0" sldId="262"/>
            <ac:picMk id="3" creationId="{6A28FD7C-B836-FD5F-73CD-205873CF3643}"/>
          </ac:picMkLst>
        </pc:picChg>
        <pc:picChg chg="add del mod">
          <ac:chgData name="Shalev Lau (Student)" userId="9a376fe1-899c-4f89-9fe8-4857f71a0fb0" providerId="ADAL" clId="{57D68540-773D-4FB8-ACD5-4CB15A7E1AD7}" dt="2026-10-25T11:21:28.048" v="207" actId="478"/>
          <ac:picMkLst>
            <pc:docMk/>
            <pc:sldMk cId="0" sldId="262"/>
            <ac:picMk id="3" creationId="{6C4396F0-2846-D53D-27B0-369828A8C6A2}"/>
          </ac:picMkLst>
        </pc:picChg>
      </pc:sldChg>
      <pc:sldChg chg="modSp mod">
        <pc:chgData name="Shalev Lau (Student)" userId="9a376fe1-899c-4f89-9fe8-4857f71a0fb0" providerId="ADAL" clId="{57D68540-773D-4FB8-ACD5-4CB15A7E1AD7}" dt="2026-10-25T10:13:44.497" v="1" actId="1076"/>
        <pc:sldMkLst>
          <pc:docMk/>
          <pc:sldMk cId="0" sldId="270"/>
        </pc:sldMkLst>
        <pc:spChg chg="mod">
          <ac:chgData name="Shalev Lau (Student)" userId="9a376fe1-899c-4f89-9fe8-4857f71a0fb0" providerId="ADAL" clId="{57D68540-773D-4FB8-ACD5-4CB15A7E1AD7}" dt="2026-10-25T10:13:44.497" v="1" actId="1076"/>
          <ac:spMkLst>
            <pc:docMk/>
            <pc:sldMk cId="0" sldId="270"/>
            <ac:spMk id="565" creationId="{00000000-0000-0000-0000-000000000000}"/>
          </ac:spMkLst>
        </pc:spChg>
      </pc:sldChg>
      <pc:sldChg chg="modSp mod">
        <pc:chgData name="Shalev Lau (Student)" userId="9a376fe1-899c-4f89-9fe8-4857f71a0fb0" providerId="ADAL" clId="{57D68540-773D-4FB8-ACD5-4CB15A7E1AD7}" dt="2026-10-25T11:37:04.944" v="208" actId="14100"/>
        <pc:sldMkLst>
          <pc:docMk/>
          <pc:sldMk cId="0" sldId="272"/>
        </pc:sldMkLst>
        <pc:spChg chg="mod">
          <ac:chgData name="Shalev Lau (Student)" userId="9a376fe1-899c-4f89-9fe8-4857f71a0fb0" providerId="ADAL" clId="{57D68540-773D-4FB8-ACD5-4CB15A7E1AD7}" dt="2026-10-25T11:37:04.944" v="208" actId="14100"/>
          <ac:spMkLst>
            <pc:docMk/>
            <pc:sldMk cId="0" sldId="272"/>
            <ac:spMk id="628" creationId="{00000000-0000-0000-0000-000000000000}"/>
          </ac:spMkLst>
        </pc:spChg>
        <pc:spChg chg="mod">
          <ac:chgData name="Shalev Lau (Student)" userId="9a376fe1-899c-4f89-9fe8-4857f71a0fb0" providerId="ADAL" clId="{57D68540-773D-4FB8-ACD5-4CB15A7E1AD7}" dt="2026-10-25T10:22:46.901" v="18" actId="14100"/>
          <ac:spMkLst>
            <pc:docMk/>
            <pc:sldMk cId="0" sldId="272"/>
            <ac:spMk id="631" creationId="{00000000-0000-0000-0000-000000000000}"/>
          </ac:spMkLst>
        </pc:spChg>
        <pc:spChg chg="mod">
          <ac:chgData name="Shalev Lau (Student)" userId="9a376fe1-899c-4f89-9fe8-4857f71a0fb0" providerId="ADAL" clId="{57D68540-773D-4FB8-ACD5-4CB15A7E1AD7}" dt="2026-10-25T10:22:46.694" v="17" actId="1076"/>
          <ac:spMkLst>
            <pc:docMk/>
            <pc:sldMk cId="0" sldId="272"/>
            <ac:spMk id="632" creationId="{00000000-0000-0000-0000-000000000000}"/>
          </ac:spMkLst>
        </pc:spChg>
        <pc:spChg chg="mod">
          <ac:chgData name="Shalev Lau (Student)" userId="9a376fe1-899c-4f89-9fe8-4857f71a0fb0" providerId="ADAL" clId="{57D68540-773D-4FB8-ACD5-4CB15A7E1AD7}" dt="2026-10-25T10:22:46.694" v="17" actId="1076"/>
          <ac:spMkLst>
            <pc:docMk/>
            <pc:sldMk cId="0" sldId="272"/>
            <ac:spMk id="633" creationId="{00000000-0000-0000-0000-000000000000}"/>
          </ac:spMkLst>
        </pc:spChg>
      </pc:sldChg>
      <pc:sldChg chg="addSp delSp modSp add mod">
        <pc:chgData name="Shalev Lau (Student)" userId="9a376fe1-899c-4f89-9fe8-4857f71a0fb0" providerId="ADAL" clId="{57D68540-773D-4FB8-ACD5-4CB15A7E1AD7}" dt="2026-10-25T12:02:39.531" v="209" actId="21"/>
        <pc:sldMkLst>
          <pc:docMk/>
          <pc:sldMk cId="3088538431" sldId="275"/>
        </pc:sldMkLst>
        <pc:spChg chg="add mod">
          <ac:chgData name="Shalev Lau (Student)" userId="9a376fe1-899c-4f89-9fe8-4857f71a0fb0" providerId="ADAL" clId="{57D68540-773D-4FB8-ACD5-4CB15A7E1AD7}" dt="2026-10-25T11:04:00.125" v="189" actId="1076"/>
          <ac:spMkLst>
            <pc:docMk/>
            <pc:sldMk cId="3088538431" sldId="275"/>
            <ac:spMk id="19" creationId="{410BC7C1-9F03-0383-9E9A-270913C786C6}"/>
          </ac:spMkLst>
        </pc:spChg>
        <pc:spChg chg="add mod">
          <ac:chgData name="Shalev Lau (Student)" userId="9a376fe1-899c-4f89-9fe8-4857f71a0fb0" providerId="ADAL" clId="{57D68540-773D-4FB8-ACD5-4CB15A7E1AD7}" dt="2026-10-25T11:04:00.125" v="189" actId="1076"/>
          <ac:spMkLst>
            <pc:docMk/>
            <pc:sldMk cId="3088538431" sldId="275"/>
            <ac:spMk id="21" creationId="{9BDDF4D3-3C1B-BFAC-AC7D-C254551E16C9}"/>
          </ac:spMkLst>
        </pc:spChg>
        <pc:spChg chg="add mod">
          <ac:chgData name="Shalev Lau (Student)" userId="9a376fe1-899c-4f89-9fe8-4857f71a0fb0" providerId="ADAL" clId="{57D68540-773D-4FB8-ACD5-4CB15A7E1AD7}" dt="2026-10-25T11:04:00.125" v="189" actId="1076"/>
          <ac:spMkLst>
            <pc:docMk/>
            <pc:sldMk cId="3088538431" sldId="275"/>
            <ac:spMk id="27" creationId="{1C590422-0636-D9FF-140E-067A1ECE6CB2}"/>
          </ac:spMkLst>
        </pc:spChg>
        <pc:spChg chg="add mod">
          <ac:chgData name="Shalev Lau (Student)" userId="9a376fe1-899c-4f89-9fe8-4857f71a0fb0" providerId="ADAL" clId="{57D68540-773D-4FB8-ACD5-4CB15A7E1AD7}" dt="2026-10-25T11:04:00.125" v="189" actId="1076"/>
          <ac:spMkLst>
            <pc:docMk/>
            <pc:sldMk cId="3088538431" sldId="275"/>
            <ac:spMk id="31" creationId="{E02E69B5-C2B0-6D1C-1BAF-5765E7F9D51B}"/>
          </ac:spMkLst>
        </pc:spChg>
        <pc:spChg chg="add mod">
          <ac:chgData name="Shalev Lau (Student)" userId="9a376fe1-899c-4f89-9fe8-4857f71a0fb0" providerId="ADAL" clId="{57D68540-773D-4FB8-ACD5-4CB15A7E1AD7}" dt="2026-10-25T11:04:00.125" v="189" actId="1076"/>
          <ac:spMkLst>
            <pc:docMk/>
            <pc:sldMk cId="3088538431" sldId="275"/>
            <ac:spMk id="33" creationId="{AA329CBE-FD2B-6EEB-1CA3-8F77FE454B7B}"/>
          </ac:spMkLst>
        </pc:spChg>
        <pc:spChg chg="add mod">
          <ac:chgData name="Shalev Lau (Student)" userId="9a376fe1-899c-4f89-9fe8-4857f71a0fb0" providerId="ADAL" clId="{57D68540-773D-4FB8-ACD5-4CB15A7E1AD7}" dt="2026-10-25T11:04:00.125" v="189" actId="1076"/>
          <ac:spMkLst>
            <pc:docMk/>
            <pc:sldMk cId="3088538431" sldId="275"/>
            <ac:spMk id="35" creationId="{8B703BF3-BBB0-EB92-8676-63EA27A49F5E}"/>
          </ac:spMkLst>
        </pc:spChg>
        <pc:spChg chg="add mod">
          <ac:chgData name="Shalev Lau (Student)" userId="9a376fe1-899c-4f89-9fe8-4857f71a0fb0" providerId="ADAL" clId="{57D68540-773D-4FB8-ACD5-4CB15A7E1AD7}" dt="2026-10-25T11:04:00.125" v="189" actId="1076"/>
          <ac:spMkLst>
            <pc:docMk/>
            <pc:sldMk cId="3088538431" sldId="275"/>
            <ac:spMk id="43" creationId="{3F198CAC-D201-4AB6-E3C2-0249EF734581}"/>
          </ac:spMkLst>
        </pc:spChg>
        <pc:spChg chg="add mod">
          <ac:chgData name="Shalev Lau (Student)" userId="9a376fe1-899c-4f89-9fe8-4857f71a0fb0" providerId="ADAL" clId="{57D68540-773D-4FB8-ACD5-4CB15A7E1AD7}" dt="2026-10-25T11:04:06.594" v="190" actId="1076"/>
          <ac:spMkLst>
            <pc:docMk/>
            <pc:sldMk cId="3088538431" sldId="275"/>
            <ac:spMk id="45" creationId="{72889EFA-7FF0-944B-AFCE-44CCD3223B45}"/>
          </ac:spMkLst>
        </pc:spChg>
        <pc:spChg chg="mod">
          <ac:chgData name="Shalev Lau (Student)" userId="9a376fe1-899c-4f89-9fe8-4857f71a0fb0" providerId="ADAL" clId="{57D68540-773D-4FB8-ACD5-4CB15A7E1AD7}" dt="2026-10-25T11:04:06.594" v="190" actId="1076"/>
          <ac:spMkLst>
            <pc:docMk/>
            <pc:sldMk cId="3088538431" sldId="275"/>
            <ac:spMk id="47" creationId="{887F732A-0293-90A7-5E5D-EA6E10D9DBB4}"/>
          </ac:spMkLst>
        </pc:spChg>
        <pc:spChg chg="mod">
          <ac:chgData name="Shalev Lau (Student)" userId="9a376fe1-899c-4f89-9fe8-4857f71a0fb0" providerId="ADAL" clId="{57D68540-773D-4FB8-ACD5-4CB15A7E1AD7}" dt="2026-10-25T11:04:06.594" v="190" actId="1076"/>
          <ac:spMkLst>
            <pc:docMk/>
            <pc:sldMk cId="3088538431" sldId="275"/>
            <ac:spMk id="49" creationId="{C356130C-611B-C0CA-3AED-789D8E5CB37E}"/>
          </ac:spMkLst>
        </pc:spChg>
        <pc:spChg chg="mod">
          <ac:chgData name="Shalev Lau (Student)" userId="9a376fe1-899c-4f89-9fe8-4857f71a0fb0" providerId="ADAL" clId="{57D68540-773D-4FB8-ACD5-4CB15A7E1AD7}" dt="2026-10-25T11:04:06.594" v="190" actId="1076"/>
          <ac:spMkLst>
            <pc:docMk/>
            <pc:sldMk cId="3088538431" sldId="275"/>
            <ac:spMk id="51" creationId="{C7D4DB66-DCB4-860E-13C6-C4304C559FD4}"/>
          </ac:spMkLst>
        </pc:spChg>
        <pc:spChg chg="mod">
          <ac:chgData name="Shalev Lau (Student)" userId="9a376fe1-899c-4f89-9fe8-4857f71a0fb0" providerId="ADAL" clId="{57D68540-773D-4FB8-ACD5-4CB15A7E1AD7}" dt="2026-10-25T11:04:06.594" v="190" actId="1076"/>
          <ac:spMkLst>
            <pc:docMk/>
            <pc:sldMk cId="3088538431" sldId="275"/>
            <ac:spMk id="53" creationId="{F3F582DD-3E61-13C6-142C-025AA2C78F4E}"/>
          </ac:spMkLst>
        </pc:spChg>
        <pc:spChg chg="mod">
          <ac:chgData name="Shalev Lau (Student)" userId="9a376fe1-899c-4f89-9fe8-4857f71a0fb0" providerId="ADAL" clId="{57D68540-773D-4FB8-ACD5-4CB15A7E1AD7}" dt="2026-10-25T11:04:06.594" v="190" actId="1076"/>
          <ac:spMkLst>
            <pc:docMk/>
            <pc:sldMk cId="3088538431" sldId="275"/>
            <ac:spMk id="55" creationId="{7BFECAFB-931F-D58A-944F-53594D957EDC}"/>
          </ac:spMkLst>
        </pc:spChg>
        <pc:spChg chg="add mod">
          <ac:chgData name="Shalev Lau (Student)" userId="9a376fe1-899c-4f89-9fe8-4857f71a0fb0" providerId="ADAL" clId="{57D68540-773D-4FB8-ACD5-4CB15A7E1AD7}" dt="2026-10-25T11:04:06.594" v="190" actId="1076"/>
          <ac:spMkLst>
            <pc:docMk/>
            <pc:sldMk cId="3088538431" sldId="275"/>
            <ac:spMk id="57" creationId="{4A1F4416-0111-2257-EBEA-A9F9AEFCBE4A}"/>
          </ac:spMkLst>
        </pc:spChg>
        <pc:spChg chg="add mod">
          <ac:chgData name="Shalev Lau (Student)" userId="9a376fe1-899c-4f89-9fe8-4857f71a0fb0" providerId="ADAL" clId="{57D68540-773D-4FB8-ACD5-4CB15A7E1AD7}" dt="2026-10-25T11:04:06.594" v="190" actId="1076"/>
          <ac:spMkLst>
            <pc:docMk/>
            <pc:sldMk cId="3088538431" sldId="275"/>
            <ac:spMk id="59" creationId="{87515CC2-EF37-6D1B-AACF-2B4F80EA885E}"/>
          </ac:spMkLst>
        </pc:spChg>
        <pc:spChg chg="mod">
          <ac:chgData name="Shalev Lau (Student)" userId="9a376fe1-899c-4f89-9fe8-4857f71a0fb0" providerId="ADAL" clId="{57D68540-773D-4FB8-ACD5-4CB15A7E1AD7}" dt="2026-10-25T10:41:38.708" v="124" actId="1076"/>
          <ac:spMkLst>
            <pc:docMk/>
            <pc:sldMk cId="3088538431" sldId="275"/>
            <ac:spMk id="260" creationId="{FC043F1D-5DF0-9056-3CAB-3091B0A2708A}"/>
          </ac:spMkLst>
        </pc:spChg>
        <pc:spChg chg="mod">
          <ac:chgData name="Shalev Lau (Student)" userId="9a376fe1-899c-4f89-9fe8-4857f71a0fb0" providerId="ADAL" clId="{57D68540-773D-4FB8-ACD5-4CB15A7E1AD7}" dt="2026-10-25T10:41:54.259" v="132" actId="313"/>
          <ac:spMkLst>
            <pc:docMk/>
            <pc:sldMk cId="3088538431" sldId="275"/>
            <ac:spMk id="261" creationId="{627E7473-FCC6-DF54-5F0B-3F086F83646E}"/>
          </ac:spMkLst>
        </pc:spChg>
        <pc:spChg chg="del">
          <ac:chgData name="Shalev Lau (Student)" userId="9a376fe1-899c-4f89-9fe8-4857f71a0fb0" providerId="ADAL" clId="{57D68540-773D-4FB8-ACD5-4CB15A7E1AD7}" dt="2026-10-25T10:41:43.526" v="125" actId="478"/>
          <ac:spMkLst>
            <pc:docMk/>
            <pc:sldMk cId="3088538431" sldId="275"/>
            <ac:spMk id="262" creationId="{D0A2A4E5-DD3A-7CEB-3031-96DE5748023A}"/>
          </ac:spMkLst>
        </pc:spChg>
        <pc:spChg chg="del">
          <ac:chgData name="Shalev Lau (Student)" userId="9a376fe1-899c-4f89-9fe8-4857f71a0fb0" providerId="ADAL" clId="{57D68540-773D-4FB8-ACD5-4CB15A7E1AD7}" dt="2026-10-25T10:41:48.672" v="126" actId="478"/>
          <ac:spMkLst>
            <pc:docMk/>
            <pc:sldMk cId="3088538431" sldId="275"/>
            <ac:spMk id="264" creationId="{0A2FBEB5-6E99-0784-8739-FADDC8094911}"/>
          </ac:spMkLst>
        </pc:spChg>
        <pc:spChg chg="del">
          <ac:chgData name="Shalev Lau (Student)" userId="9a376fe1-899c-4f89-9fe8-4857f71a0fb0" providerId="ADAL" clId="{57D68540-773D-4FB8-ACD5-4CB15A7E1AD7}" dt="2026-10-25T11:02:59.601" v="185" actId="478"/>
          <ac:spMkLst>
            <pc:docMk/>
            <pc:sldMk cId="3088538431" sldId="275"/>
            <ac:spMk id="265" creationId="{F9B6910C-7B46-39AC-AD4F-C4A1B55216FD}"/>
          </ac:spMkLst>
        </pc:spChg>
        <pc:spChg chg="del">
          <ac:chgData name="Shalev Lau (Student)" userId="9a376fe1-899c-4f89-9fe8-4857f71a0fb0" providerId="ADAL" clId="{57D68540-773D-4FB8-ACD5-4CB15A7E1AD7}" dt="2026-10-25T11:02:58.790" v="184" actId="478"/>
          <ac:spMkLst>
            <pc:docMk/>
            <pc:sldMk cId="3088538431" sldId="275"/>
            <ac:spMk id="266" creationId="{A209CFE5-BB16-0117-4740-BB125990FCF8}"/>
          </ac:spMkLst>
        </pc:spChg>
        <pc:spChg chg="del mod">
          <ac:chgData name="Shalev Lau (Student)" userId="9a376fe1-899c-4f89-9fe8-4857f71a0fb0" providerId="ADAL" clId="{57D68540-773D-4FB8-ACD5-4CB15A7E1AD7}" dt="2026-10-25T11:04:14.200" v="192" actId="478"/>
          <ac:spMkLst>
            <pc:docMk/>
            <pc:sldMk cId="3088538431" sldId="275"/>
            <ac:spMk id="267" creationId="{459B4ABF-3A92-9F06-6EEC-C272B2E93A16}"/>
          </ac:spMkLst>
        </pc:spChg>
        <pc:picChg chg="add del mod">
          <ac:chgData name="Shalev Lau (Student)" userId="9a376fe1-899c-4f89-9fe8-4857f71a0fb0" providerId="ADAL" clId="{57D68540-773D-4FB8-ACD5-4CB15A7E1AD7}" dt="2026-10-25T10:38:18.117" v="43" actId="478"/>
          <ac:picMkLst>
            <pc:docMk/>
            <pc:sldMk cId="3088538431" sldId="275"/>
            <ac:picMk id="3" creationId="{22A31C69-4E93-62E5-0403-9A72936A92D6}"/>
          </ac:picMkLst>
        </pc:picChg>
        <pc:picChg chg="add del mod">
          <ac:chgData name="Shalev Lau (Student)" userId="9a376fe1-899c-4f89-9fe8-4857f71a0fb0" providerId="ADAL" clId="{57D68540-773D-4FB8-ACD5-4CB15A7E1AD7}" dt="2026-10-25T12:02:39.531" v="209" actId="21"/>
          <ac:picMkLst>
            <pc:docMk/>
            <pc:sldMk cId="3088538431" sldId="275"/>
            <ac:picMk id="5" creationId="{1A0BC9FC-21CC-FEA9-CE6A-F0B0CC884A5F}"/>
          </ac:picMkLst>
        </pc:picChg>
        <pc:picChg chg="add del mod">
          <ac:chgData name="Shalev Lau (Student)" userId="9a376fe1-899c-4f89-9fe8-4857f71a0fb0" providerId="ADAL" clId="{57D68540-773D-4FB8-ACD5-4CB15A7E1AD7}" dt="2026-10-25T12:02:39.531" v="209" actId="21"/>
          <ac:picMkLst>
            <pc:docMk/>
            <pc:sldMk cId="3088538431" sldId="275"/>
            <ac:picMk id="7" creationId="{887E3627-8C13-CF5A-EF0C-F0FD6C043CD5}"/>
          </ac:picMkLst>
        </pc:picChg>
        <pc:picChg chg="add mod">
          <ac:chgData name="Shalev Lau (Student)" userId="9a376fe1-899c-4f89-9fe8-4857f71a0fb0" providerId="ADAL" clId="{57D68540-773D-4FB8-ACD5-4CB15A7E1AD7}" dt="2026-10-25T10:40:36.746" v="50" actId="1076"/>
          <ac:picMkLst>
            <pc:docMk/>
            <pc:sldMk cId="3088538431" sldId="275"/>
            <ac:picMk id="9" creationId="{71586272-2EF8-BDC4-5668-89D21D4AEBBE}"/>
          </ac:picMkLst>
        </pc:picChg>
        <pc:picChg chg="add del mod">
          <ac:chgData name="Shalev Lau (Student)" userId="9a376fe1-899c-4f89-9fe8-4857f71a0fb0" providerId="ADAL" clId="{57D68540-773D-4FB8-ACD5-4CB15A7E1AD7}" dt="2026-10-25T11:04:43.296" v="202" actId="478"/>
          <ac:picMkLst>
            <pc:docMk/>
            <pc:sldMk cId="3088538431" sldId="275"/>
            <ac:picMk id="11" creationId="{67098B48-E9DD-177E-21FE-1D16A4DE30D0}"/>
          </ac:picMkLst>
        </pc:picChg>
        <pc:picChg chg="add del mod">
          <ac:chgData name="Shalev Lau (Student)" userId="9a376fe1-899c-4f89-9fe8-4857f71a0fb0" providerId="ADAL" clId="{57D68540-773D-4FB8-ACD5-4CB15A7E1AD7}" dt="2026-10-25T11:02:53.921" v="183" actId="478"/>
          <ac:picMkLst>
            <pc:docMk/>
            <pc:sldMk cId="3088538431" sldId="275"/>
            <ac:picMk id="13" creationId="{E6E07F7B-6A1A-593C-87C9-273A1FEC9286}"/>
          </ac:picMkLst>
        </pc:picChg>
        <pc:picChg chg="add mod">
          <ac:chgData name="Shalev Lau (Student)" userId="9a376fe1-899c-4f89-9fe8-4857f71a0fb0" providerId="ADAL" clId="{57D68540-773D-4FB8-ACD5-4CB15A7E1AD7}" dt="2026-10-25T11:04:52.477" v="204" actId="1076"/>
          <ac:picMkLst>
            <pc:docMk/>
            <pc:sldMk cId="3088538431" sldId="275"/>
            <ac:picMk id="61" creationId="{28FC9921-0CC8-C70B-5517-F7EC61497436}"/>
          </ac:picMkLst>
        </pc:picChg>
      </pc:sldChg>
      <pc:sldChg chg="addSp delSp modSp add mod modNotesTx">
        <pc:chgData name="Shalev Lau (Student)" userId="9a376fe1-899c-4f89-9fe8-4857f71a0fb0" providerId="ADAL" clId="{57D68540-773D-4FB8-ACD5-4CB15A7E1AD7}" dt="2026-10-25T11:18:59.893" v="205" actId="1076"/>
        <pc:sldMkLst>
          <pc:docMk/>
          <pc:sldMk cId="2700880771" sldId="276"/>
        </pc:sldMkLst>
        <pc:spChg chg="add del mod">
          <ac:chgData name="Shalev Lau (Student)" userId="9a376fe1-899c-4f89-9fe8-4857f71a0fb0" providerId="ADAL" clId="{57D68540-773D-4FB8-ACD5-4CB15A7E1AD7}" dt="2026-10-25T11:03:53.220" v="187" actId="21"/>
          <ac:spMkLst>
            <pc:docMk/>
            <pc:sldMk cId="2700880771" sldId="276"/>
            <ac:spMk id="16" creationId="{F9151D3F-3276-D895-B1B3-9B971EE2A153}"/>
          </ac:spMkLst>
        </pc:spChg>
        <pc:spChg chg="add del mod">
          <ac:chgData name="Shalev Lau (Student)" userId="9a376fe1-899c-4f89-9fe8-4857f71a0fb0" providerId="ADAL" clId="{57D68540-773D-4FB8-ACD5-4CB15A7E1AD7}" dt="2026-10-25T11:03:53.220" v="187" actId="21"/>
          <ac:spMkLst>
            <pc:docMk/>
            <pc:sldMk cId="2700880771" sldId="276"/>
            <ac:spMk id="26" creationId="{F070B8A3-FECF-A6E9-846A-F13887F019A0}"/>
          </ac:spMkLst>
        </pc:spChg>
        <pc:spChg chg="add del mod">
          <ac:chgData name="Shalev Lau (Student)" userId="9a376fe1-899c-4f89-9fe8-4857f71a0fb0" providerId="ADAL" clId="{57D68540-773D-4FB8-ACD5-4CB15A7E1AD7}" dt="2026-10-25T11:03:53.220" v="187" actId="21"/>
          <ac:spMkLst>
            <pc:docMk/>
            <pc:sldMk cId="2700880771" sldId="276"/>
            <ac:spMk id="34" creationId="{3466A47F-EB16-4E21-1191-15A6B327C9E6}"/>
          </ac:spMkLst>
        </pc:spChg>
        <pc:spChg chg="add del mod">
          <ac:chgData name="Shalev Lau (Student)" userId="9a376fe1-899c-4f89-9fe8-4857f71a0fb0" providerId="ADAL" clId="{57D68540-773D-4FB8-ACD5-4CB15A7E1AD7}" dt="2026-10-25T11:03:53.220" v="187" actId="21"/>
          <ac:spMkLst>
            <pc:docMk/>
            <pc:sldMk cId="2700880771" sldId="276"/>
            <ac:spMk id="36" creationId="{EBC49D95-400E-4212-8CF5-BE5F6EC64AAD}"/>
          </ac:spMkLst>
        </pc:spChg>
        <pc:spChg chg="add del mod">
          <ac:chgData name="Shalev Lau (Student)" userId="9a376fe1-899c-4f89-9fe8-4857f71a0fb0" providerId="ADAL" clId="{57D68540-773D-4FB8-ACD5-4CB15A7E1AD7}" dt="2026-10-25T11:03:53.220" v="187" actId="21"/>
          <ac:spMkLst>
            <pc:docMk/>
            <pc:sldMk cId="2700880771" sldId="276"/>
            <ac:spMk id="38" creationId="{CCD067EA-9015-10F7-1D4B-98C7DBF96503}"/>
          </ac:spMkLst>
        </pc:spChg>
        <pc:spChg chg="add del mod">
          <ac:chgData name="Shalev Lau (Student)" userId="9a376fe1-899c-4f89-9fe8-4857f71a0fb0" providerId="ADAL" clId="{57D68540-773D-4FB8-ACD5-4CB15A7E1AD7}" dt="2026-10-25T11:03:53.220" v="187" actId="21"/>
          <ac:spMkLst>
            <pc:docMk/>
            <pc:sldMk cId="2700880771" sldId="276"/>
            <ac:spMk id="40" creationId="{0F2EFE74-EFE8-4A08-5909-D7AE10852386}"/>
          </ac:spMkLst>
        </pc:spChg>
        <pc:spChg chg="add del mod">
          <ac:chgData name="Shalev Lau (Student)" userId="9a376fe1-899c-4f89-9fe8-4857f71a0fb0" providerId="ADAL" clId="{57D68540-773D-4FB8-ACD5-4CB15A7E1AD7}" dt="2026-10-25T11:03:53.220" v="187" actId="21"/>
          <ac:spMkLst>
            <pc:docMk/>
            <pc:sldMk cId="2700880771" sldId="276"/>
            <ac:spMk id="48" creationId="{AFF40853-0F72-36BD-2AFC-2748FCFAADC6}"/>
          </ac:spMkLst>
        </pc:spChg>
        <pc:spChg chg="add del mod">
          <ac:chgData name="Shalev Lau (Student)" userId="9a376fe1-899c-4f89-9fe8-4857f71a0fb0" providerId="ADAL" clId="{57D68540-773D-4FB8-ACD5-4CB15A7E1AD7}" dt="2026-10-25T11:03:53.220" v="187" actId="21"/>
          <ac:spMkLst>
            <pc:docMk/>
            <pc:sldMk cId="2700880771" sldId="276"/>
            <ac:spMk id="54" creationId="{3E6DE509-A218-DDA5-C84F-0D206A6679DA}"/>
          </ac:spMkLst>
        </pc:spChg>
        <pc:spChg chg="add del mod">
          <ac:chgData name="Shalev Lau (Student)" userId="9a376fe1-899c-4f89-9fe8-4857f71a0fb0" providerId="ADAL" clId="{57D68540-773D-4FB8-ACD5-4CB15A7E1AD7}" dt="2026-10-25T11:03:53.220" v="187" actId="21"/>
          <ac:spMkLst>
            <pc:docMk/>
            <pc:sldMk cId="2700880771" sldId="276"/>
            <ac:spMk id="58" creationId="{DE65483C-D533-E388-1935-7918FFAD3CC3}"/>
          </ac:spMkLst>
        </pc:spChg>
        <pc:spChg chg="add del mod">
          <ac:chgData name="Shalev Lau (Student)" userId="9a376fe1-899c-4f89-9fe8-4857f71a0fb0" providerId="ADAL" clId="{57D68540-773D-4FB8-ACD5-4CB15A7E1AD7}" dt="2026-10-25T11:03:53.220" v="187" actId="21"/>
          <ac:spMkLst>
            <pc:docMk/>
            <pc:sldMk cId="2700880771" sldId="276"/>
            <ac:spMk id="60" creationId="{A9C60F20-EF41-7890-67F9-E5BD0219F80C}"/>
          </ac:spMkLst>
        </pc:spChg>
        <pc:spChg chg="del">
          <ac:chgData name="Shalev Lau (Student)" userId="9a376fe1-899c-4f89-9fe8-4857f71a0fb0" providerId="ADAL" clId="{57D68540-773D-4FB8-ACD5-4CB15A7E1AD7}" dt="2026-10-25T10:45:21.968" v="152" actId="478"/>
          <ac:spMkLst>
            <pc:docMk/>
            <pc:sldMk cId="2700880771" sldId="276"/>
            <ac:spMk id="266" creationId="{07A039F5-D67E-EF8A-96BF-7310DD91134F}"/>
          </ac:spMkLst>
        </pc:spChg>
        <pc:picChg chg="add mod">
          <ac:chgData name="Shalev Lau (Student)" userId="9a376fe1-899c-4f89-9fe8-4857f71a0fb0" providerId="ADAL" clId="{57D68540-773D-4FB8-ACD5-4CB15A7E1AD7}" dt="2026-10-25T10:45:11.280" v="148" actId="1076"/>
          <ac:picMkLst>
            <pc:docMk/>
            <pc:sldMk cId="2700880771" sldId="276"/>
            <ac:picMk id="3" creationId="{9A73C6DD-0A0A-1DFF-51A8-5F121BCC0308}"/>
          </ac:picMkLst>
        </pc:picChg>
        <pc:picChg chg="del">
          <ac:chgData name="Shalev Lau (Student)" userId="9a376fe1-899c-4f89-9fe8-4857f71a0fb0" providerId="ADAL" clId="{57D68540-773D-4FB8-ACD5-4CB15A7E1AD7}" dt="2026-10-25T10:44:47.280" v="142" actId="478"/>
          <ac:picMkLst>
            <pc:docMk/>
            <pc:sldMk cId="2700880771" sldId="276"/>
            <ac:picMk id="5" creationId="{C3FA2987-51C7-12FA-AC1C-05E9631B3CFD}"/>
          </ac:picMkLst>
        </pc:picChg>
        <pc:picChg chg="add del">
          <ac:chgData name="Shalev Lau (Student)" userId="9a376fe1-899c-4f89-9fe8-4857f71a0fb0" providerId="ADAL" clId="{57D68540-773D-4FB8-ACD5-4CB15A7E1AD7}" dt="2026-10-25T10:45:09.335" v="146" actId="22"/>
          <ac:picMkLst>
            <pc:docMk/>
            <pc:sldMk cId="2700880771" sldId="276"/>
            <ac:picMk id="6" creationId="{B91D3EEB-5F27-6E02-9D9F-2494A7C5C847}"/>
          </ac:picMkLst>
        </pc:picChg>
        <pc:picChg chg="del">
          <ac:chgData name="Shalev Lau (Student)" userId="9a376fe1-899c-4f89-9fe8-4857f71a0fb0" providerId="ADAL" clId="{57D68540-773D-4FB8-ACD5-4CB15A7E1AD7}" dt="2026-10-25T10:44:47.280" v="142" actId="478"/>
          <ac:picMkLst>
            <pc:docMk/>
            <pc:sldMk cId="2700880771" sldId="276"/>
            <ac:picMk id="7" creationId="{2FB7489B-EFF9-5571-4134-4416CE159CCB}"/>
          </ac:picMkLst>
        </pc:picChg>
        <pc:picChg chg="del">
          <ac:chgData name="Shalev Lau (Student)" userId="9a376fe1-899c-4f89-9fe8-4857f71a0fb0" providerId="ADAL" clId="{57D68540-773D-4FB8-ACD5-4CB15A7E1AD7}" dt="2026-10-25T10:44:47.280" v="142" actId="478"/>
          <ac:picMkLst>
            <pc:docMk/>
            <pc:sldMk cId="2700880771" sldId="276"/>
            <ac:picMk id="9" creationId="{8260C5D0-B61D-34B9-4372-21C9A4A40356}"/>
          </ac:picMkLst>
        </pc:picChg>
        <pc:picChg chg="add mod">
          <ac:chgData name="Shalev Lau (Student)" userId="9a376fe1-899c-4f89-9fe8-4857f71a0fb0" providerId="ADAL" clId="{57D68540-773D-4FB8-ACD5-4CB15A7E1AD7}" dt="2026-10-25T10:45:19.894" v="151" actId="14100"/>
          <ac:picMkLst>
            <pc:docMk/>
            <pc:sldMk cId="2700880771" sldId="276"/>
            <ac:picMk id="10" creationId="{C1C776AE-BC75-4750-29B1-2C09C2F7DC5B}"/>
          </ac:picMkLst>
        </pc:picChg>
        <pc:picChg chg="del">
          <ac:chgData name="Shalev Lau (Student)" userId="9a376fe1-899c-4f89-9fe8-4857f71a0fb0" providerId="ADAL" clId="{57D68540-773D-4FB8-ACD5-4CB15A7E1AD7}" dt="2026-10-25T10:44:47.280" v="142" actId="478"/>
          <ac:picMkLst>
            <pc:docMk/>
            <pc:sldMk cId="2700880771" sldId="276"/>
            <ac:picMk id="11" creationId="{B70CD9A5-7B57-B389-D232-CA6563BBE7A3}"/>
          </ac:picMkLst>
        </pc:picChg>
        <pc:picChg chg="del">
          <ac:chgData name="Shalev Lau (Student)" userId="9a376fe1-899c-4f89-9fe8-4857f71a0fb0" providerId="ADAL" clId="{57D68540-773D-4FB8-ACD5-4CB15A7E1AD7}" dt="2026-10-25T10:44:47.280" v="142" actId="478"/>
          <ac:picMkLst>
            <pc:docMk/>
            <pc:sldMk cId="2700880771" sldId="276"/>
            <ac:picMk id="13" creationId="{687AB079-37F9-45BA-D389-D02FE2494D1A}"/>
          </ac:picMkLst>
        </pc:picChg>
        <pc:picChg chg="add mod">
          <ac:chgData name="Shalev Lau (Student)" userId="9a376fe1-899c-4f89-9fe8-4857f71a0fb0" providerId="ADAL" clId="{57D68540-773D-4FB8-ACD5-4CB15A7E1AD7}" dt="2026-10-25T10:56:35.356" v="174" actId="1076"/>
          <ac:picMkLst>
            <pc:docMk/>
            <pc:sldMk cId="2700880771" sldId="276"/>
            <ac:picMk id="14" creationId="{48BA0673-5E1F-4723-5F5D-8485E7377952}"/>
          </ac:picMkLst>
        </pc:picChg>
        <pc:picChg chg="add mod">
          <ac:chgData name="Shalev Lau (Student)" userId="9a376fe1-899c-4f89-9fe8-4857f71a0fb0" providerId="ADAL" clId="{57D68540-773D-4FB8-ACD5-4CB15A7E1AD7}" dt="2026-10-25T11:18:59.893" v="205" actId="1076"/>
          <ac:picMkLst>
            <pc:docMk/>
            <pc:sldMk cId="2700880771" sldId="276"/>
            <ac:picMk id="62" creationId="{D6E0B4D3-3203-857B-6884-439BFB9AA576}"/>
          </ac:picMkLst>
        </pc:picChg>
        <pc:picChg chg="add del mod">
          <ac:chgData name="Shalev Lau (Student)" userId="9a376fe1-899c-4f89-9fe8-4857f71a0fb0" providerId="ADAL" clId="{57D68540-773D-4FB8-ACD5-4CB15A7E1AD7}" dt="2026-10-25T11:04:27.540" v="194" actId="21"/>
          <ac:picMkLst>
            <pc:docMk/>
            <pc:sldMk cId="2700880771" sldId="276"/>
            <ac:picMk id="256" creationId="{DACEFADB-EE81-239C-CDA2-E632570AACF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8A5100-0075-4104-A99B-0C4A7B200368}" type="datetimeFigureOut">
              <a:rPr lang="en-GB" smtClean="0"/>
              <a:t>25/10/2026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4E852F-C255-446A-90CD-4D409177550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59438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stop at layer 1, you've reduced a lot of information, not just bias.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E852F-C255-446A-90CD-4D409177550B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09902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1524000" y="1117600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endParaRPr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1524000" y="3606800"/>
            <a:ext cx="9144000" cy="165100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</a:lstStyle>
          <a:p>
            <a:endParaRPr/>
          </a:p>
        </p:txBody>
      </p:sp>
      <p:sp>
        <p:nvSpPr>
          <p:cNvPr id="9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0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1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DC6D5D-A00E-4AA9-84F2-364CBECE0EEA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endParaRPr/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endParaRPr/>
          </a:p>
        </p:txBody>
      </p:sp>
      <p:sp>
        <p:nvSpPr>
          <p:cNvPr id="15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6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7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CD0F9E-EF7E-4C26-8662-25A73F2263DD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title"/>
          </p:nvPr>
        </p:nvSpPr>
        <p:spPr>
          <a:xfrm>
            <a:off x="825500" y="1714500"/>
            <a:ext cx="10541000" cy="285750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endParaRPr/>
          </a:p>
        </p:txBody>
      </p:sp>
      <p:sp>
        <p:nvSpPr>
          <p:cNvPr id="20" name="Text Placeholder 2"/>
          <p:cNvSpPr>
            <a:spLocks noGrp="1"/>
          </p:cNvSpPr>
          <p:nvPr>
            <p:ph type="body" idx="1"/>
          </p:nvPr>
        </p:nvSpPr>
        <p:spPr>
          <a:xfrm>
            <a:off x="825500" y="4597400"/>
            <a:ext cx="10541000" cy="149860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21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22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23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C18080-B33E-4073-8615-72D8F5AE8F78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endParaRPr/>
          </a:p>
        </p:txBody>
      </p:sp>
      <p:sp>
        <p:nvSpPr>
          <p:cNvPr id="26" name="Content Placeholder 2"/>
          <p:cNvSpPr>
            <a:spLocks noGrp="1"/>
          </p:cNvSpPr>
          <p:nvPr>
            <p:ph idx="1"/>
          </p:nvPr>
        </p:nvSpPr>
        <p:spPr>
          <a:xfrm>
            <a:off x="762000" y="1828800"/>
            <a:ext cx="5232400" cy="4356100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endParaRPr/>
          </a:p>
        </p:txBody>
      </p:sp>
      <p:sp>
        <p:nvSpPr>
          <p:cNvPr id="27" name="Content Placeholder 3"/>
          <p:cNvSpPr>
            <a:spLocks noGrp="1"/>
          </p:cNvSpPr>
          <p:nvPr>
            <p:ph idx="2"/>
          </p:nvPr>
        </p:nvSpPr>
        <p:spPr>
          <a:xfrm>
            <a:off x="6197600" y="1828800"/>
            <a:ext cx="5232400" cy="4356100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endParaRPr/>
          </a:p>
        </p:txBody>
      </p:sp>
      <p:sp>
        <p:nvSpPr>
          <p:cNvPr id="28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29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0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CB9569-04AF-4288-8880-64CE52ABE7A3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endParaRPr/>
          </a:p>
        </p:txBody>
      </p:sp>
      <p:sp>
        <p:nvSpPr>
          <p:cNvPr id="33" name="Text Placeholder 2"/>
          <p:cNvSpPr>
            <a:spLocks noGrp="1"/>
          </p:cNvSpPr>
          <p:nvPr>
            <p:ph type="body" idx="1"/>
          </p:nvPr>
        </p:nvSpPr>
        <p:spPr>
          <a:xfrm>
            <a:off x="762000" y="1689100"/>
            <a:ext cx="5232400" cy="7874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endParaRPr/>
          </a:p>
        </p:txBody>
      </p:sp>
      <p:sp>
        <p:nvSpPr>
          <p:cNvPr id="34" name="Content Placeholder 3"/>
          <p:cNvSpPr>
            <a:spLocks noGrp="1"/>
          </p:cNvSpPr>
          <p:nvPr>
            <p:ph idx="2"/>
          </p:nvPr>
        </p:nvSpPr>
        <p:spPr>
          <a:xfrm>
            <a:off x="762000" y="2514600"/>
            <a:ext cx="5232400" cy="3670300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endParaRPr/>
          </a:p>
        </p:txBody>
      </p:sp>
      <p:sp>
        <p:nvSpPr>
          <p:cNvPr id="35" name="Text Placeholder 4"/>
          <p:cNvSpPr>
            <a:spLocks noGrp="1"/>
          </p:cNvSpPr>
          <p:nvPr>
            <p:ph type="body" idx="3"/>
          </p:nvPr>
        </p:nvSpPr>
        <p:spPr>
          <a:xfrm>
            <a:off x="6197600" y="1689100"/>
            <a:ext cx="5232400" cy="78740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endParaRPr/>
          </a:p>
        </p:txBody>
      </p:sp>
      <p:sp>
        <p:nvSpPr>
          <p:cNvPr id="36" name="Content Placeholder 5"/>
          <p:cNvSpPr>
            <a:spLocks noGrp="1"/>
          </p:cNvSpPr>
          <p:nvPr>
            <p:ph idx="4"/>
          </p:nvPr>
        </p:nvSpPr>
        <p:spPr>
          <a:xfrm>
            <a:off x="6197600" y="2514600"/>
            <a:ext cx="5232400" cy="3670300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endParaRPr/>
          </a:p>
        </p:txBody>
      </p:sp>
      <p:sp>
        <p:nvSpPr>
          <p:cNvPr id="37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8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9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533E07-937E-4FED-8300-891295843456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endParaRPr/>
          </a:p>
        </p:txBody>
      </p:sp>
      <p:sp>
        <p:nvSpPr>
          <p:cNvPr id="42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3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4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28B55B-FA15-48BA-860D-0231187503D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7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8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E0EBC0-ADA9-4FA7-889C-9287646BC794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1"/>
          <p:cNvSpPr>
            <a:spLocks noGrp="1"/>
          </p:cNvSpPr>
          <p:nvPr>
            <p:ph type="title"/>
          </p:nvPr>
        </p:nvSpPr>
        <p:spPr>
          <a:xfrm>
            <a:off x="762000" y="457200"/>
            <a:ext cx="408940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endParaRPr/>
          </a:p>
        </p:txBody>
      </p:sp>
      <p:sp>
        <p:nvSpPr>
          <p:cNvPr id="51" name="Content Placeholder 2"/>
          <p:cNvSpPr>
            <a:spLocks noGrp="1"/>
          </p:cNvSpPr>
          <p:nvPr>
            <p:ph idx="1"/>
          </p:nvPr>
        </p:nvSpPr>
        <p:spPr>
          <a:xfrm>
            <a:off x="5232400" y="990600"/>
            <a:ext cx="6197600" cy="4876800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endParaRPr/>
          </a:p>
        </p:txBody>
      </p:sp>
      <p:sp>
        <p:nvSpPr>
          <p:cNvPr id="52" name="Text Placeholder 3"/>
          <p:cNvSpPr>
            <a:spLocks noGrp="1"/>
          </p:cNvSpPr>
          <p:nvPr>
            <p:ph type="body" idx="2"/>
          </p:nvPr>
        </p:nvSpPr>
        <p:spPr>
          <a:xfrm>
            <a:off x="762000" y="2057400"/>
            <a:ext cx="4089400" cy="381000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</a:lstStyle>
          <a:p>
            <a:endParaRPr/>
          </a:p>
        </p:txBody>
      </p:sp>
      <p:sp>
        <p:nvSpPr>
          <p:cNvPr id="53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4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5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A25AB8-FB3A-479C-8780-0B7E5F586C0F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1"/>
          <p:cNvSpPr>
            <a:spLocks noGrp="1"/>
          </p:cNvSpPr>
          <p:nvPr>
            <p:ph type="title"/>
          </p:nvPr>
        </p:nvSpPr>
        <p:spPr>
          <a:xfrm>
            <a:off x="762000" y="457200"/>
            <a:ext cx="408940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endParaRPr/>
          </a:p>
        </p:txBody>
      </p:sp>
      <p:sp>
        <p:nvSpPr>
          <p:cNvPr id="58" name="Picture Placeholder 2"/>
          <p:cNvSpPr>
            <a:spLocks noGrp="1"/>
          </p:cNvSpPr>
          <p:nvPr>
            <p:ph type="pic" idx="1"/>
          </p:nvPr>
        </p:nvSpPr>
        <p:spPr>
          <a:xfrm>
            <a:off x="5232400" y="990600"/>
            <a:ext cx="6197600" cy="4876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9" name="Text Placeholder 3"/>
          <p:cNvSpPr>
            <a:spLocks noGrp="1"/>
          </p:cNvSpPr>
          <p:nvPr>
            <p:ph type="body" idx="2"/>
          </p:nvPr>
        </p:nvSpPr>
        <p:spPr>
          <a:xfrm>
            <a:off x="762000" y="2057400"/>
            <a:ext cx="4089400" cy="381000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</a:lstStyle>
          <a:p>
            <a:endParaRPr/>
          </a:p>
        </p:txBody>
      </p:sp>
      <p:sp>
        <p:nvSpPr>
          <p:cNvPr id="60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1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2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EFC29A-6C4F-4141-86E3-1A3E2D58E3A2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endParaRPr/>
          </a:p>
        </p:txBody>
      </p:sp>
      <p:sp>
        <p:nvSpPr>
          <p:cNvPr id="65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 vert="eaVert" anchor="t">
            <a:normAutofit/>
          </a:bodyPr>
          <a:lstStyle/>
          <a:p>
            <a:endParaRPr/>
          </a:p>
        </p:txBody>
      </p:sp>
      <p:sp>
        <p:nvSpPr>
          <p:cNvPr id="66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7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8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9C649-D3E0-46CB-87C1-67136E4226A6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8300"/>
            <a:ext cx="2705100" cy="5816600"/>
          </a:xfrm>
          <a:prstGeom prst="rect">
            <a:avLst/>
          </a:prstGeom>
        </p:spPr>
        <p:txBody>
          <a:bodyPr vert="eaVert"/>
          <a:lstStyle/>
          <a:p>
            <a:endParaRPr/>
          </a:p>
        </p:txBody>
      </p:sp>
      <p:sp>
        <p:nvSpPr>
          <p:cNvPr id="71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68300"/>
            <a:ext cx="7772400" cy="5816600"/>
          </a:xfrm>
          <a:prstGeom prst="rect">
            <a:avLst/>
          </a:prstGeom>
        </p:spPr>
        <p:txBody>
          <a:bodyPr vert="eaVert" anchor="t">
            <a:normAutofit/>
          </a:bodyPr>
          <a:lstStyle/>
          <a:p>
            <a:endParaRPr/>
          </a:p>
        </p:txBody>
      </p:sp>
      <p:sp>
        <p:nvSpPr>
          <p:cNvPr id="72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73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74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EBE78A-EB3E-401E-81B5-D7F53201DAF3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Nocturn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68300"/>
            <a:ext cx="10668000" cy="13208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1828800"/>
            <a:ext cx="10668000" cy="4356100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r>
              <a:t>Click to edit Master text styles</a:t>
            </a:r>
          </a:p>
        </p:txBody>
      </p:sp>
      <p:sp>
        <p:nvSpPr>
          <p:cNvPr id="4" name="Date Placeholder"/>
          <p:cNvSpPr>
            <a:spLocks noGrp="1"/>
          </p:cNvSpPr>
          <p:nvPr>
            <p:ph type="dt" idx="10"/>
          </p:nvPr>
        </p:nvSpPr>
        <p:spPr>
          <a:xfrm>
            <a:off x="7620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Footer Placeholder"/>
          <p:cNvSpPr>
            <a:spLocks noGrp="1"/>
          </p:cNvSpPr>
          <p:nvPr>
            <p:ph type="ftr" idx="11"/>
          </p:nvPr>
        </p:nvSpPr>
        <p:spPr>
          <a:xfrm>
            <a:off x="4038600" y="6350000"/>
            <a:ext cx="4114800" cy="3556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"/>
          <p:cNvSpPr>
            <a:spLocks noGrp="1"/>
          </p:cNvSpPr>
          <p:nvPr>
            <p:ph type="sldNum" idx="12"/>
          </p:nvPr>
        </p:nvSpPr>
        <p:spPr>
          <a:xfrm>
            <a:off x="8686800" y="6350000"/>
            <a:ext cx="2743200" cy="355600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3D6AB1-0FDA-49F1-8390-8828CE9E6676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>
        <a:lnSpc>
          <a:spcPct val="90000"/>
        </a:lnSpc>
        <a:spcBef>
          <a:spcPts val="0"/>
        </a:spcBef>
        <a:buNone/>
        <a:defRPr sz="4400" kern="1200">
          <a:solidFill>
            <a:schemeClr val="tx1"/>
          </a:solidFill>
          <a:latin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</a:defRPr>
      </a:lvl1pPr>
      <a:lvl2pPr marL="685800" indent="-228600" algn="l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</a:defRPr>
      </a:lvl2pPr>
      <a:lvl3pPr marL="1143000" indent="-228600" algn="l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</a:defRPr>
      </a:lvl3pPr>
      <a:lvl4pPr marL="16002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4pPr>
      <a:lvl5pPr marL="20574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5pPr>
      <a:lvl6pPr marL="25146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lvl1pPr marL="0" algn="l">
        <a:defRPr sz="1800" kern="1200">
          <a:solidFill>
            <a:schemeClr val="tx1"/>
          </a:solidFill>
          <a:latin typeface="+mn-lt"/>
        </a:defRPr>
      </a:lvl1pPr>
      <a:lvl2pPr marL="457200" algn="l">
        <a:defRPr sz="1800" kern="1200">
          <a:solidFill>
            <a:schemeClr val="tx1"/>
          </a:solidFill>
          <a:latin typeface="+mn-lt"/>
        </a:defRPr>
      </a:lvl2pPr>
      <a:lvl3pPr marL="914400" algn="l">
        <a:defRPr sz="1800" kern="1200">
          <a:solidFill>
            <a:schemeClr val="tx1"/>
          </a:solidFill>
          <a:latin typeface="+mn-lt"/>
        </a:defRPr>
      </a:lvl3pPr>
      <a:lvl4pPr marL="1371600" algn="l">
        <a:defRPr sz="1800" kern="1200">
          <a:solidFill>
            <a:schemeClr val="tx1"/>
          </a:solidFill>
          <a:latin typeface="+mn-lt"/>
        </a:defRPr>
      </a:lvl4pPr>
      <a:lvl5pPr marL="1828800" algn="l">
        <a:defRPr sz="1800" kern="1200">
          <a:solidFill>
            <a:schemeClr val="tx1"/>
          </a:solidFill>
          <a:latin typeface="+mn-lt"/>
        </a:defRPr>
      </a:lvl5pPr>
      <a:lvl6pPr marL="2286000" algn="l">
        <a:defRPr sz="1800" kern="1200">
          <a:solidFill>
            <a:schemeClr val="tx1"/>
          </a:solidFill>
          <a:latin typeface="+mn-lt"/>
        </a:defRPr>
      </a:lvl6pPr>
      <a:lvl7pPr marL="2743200" algn="l">
        <a:defRPr sz="1800" kern="1200">
          <a:solidFill>
            <a:schemeClr val="tx1"/>
          </a:solidFill>
          <a:latin typeface="+mn-lt"/>
        </a:defRPr>
      </a:lvl7pPr>
      <a:lvl8pPr marL="3200400" algn="l">
        <a:defRPr sz="1800" kern="1200">
          <a:solidFill>
            <a:schemeClr val="tx1"/>
          </a:solidFill>
          <a:latin typeface="+mn-lt"/>
        </a:defRPr>
      </a:lvl8pPr>
      <a:lvl9pPr marL="3657600" algn="l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261" name="TextBox 4"/>
          <p:cNvSpPr txBox="1"/>
          <p:nvPr/>
        </p:nvSpPr>
        <p:spPr>
          <a:xfrm>
            <a:off x="812800" y="787400"/>
            <a:ext cx="10414000" cy="9144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5400" b="1" dirty="0">
                <a:solidFill>
                  <a:srgbClr val="F4F1EA"/>
                </a:solidFill>
              </a:rPr>
              <a:t>MASK THE NAME.</a:t>
            </a:r>
          </a:p>
        </p:txBody>
      </p:sp>
      <p:sp>
        <p:nvSpPr>
          <p:cNvPr id="262" name="TextBox 5"/>
          <p:cNvSpPr txBox="1"/>
          <p:nvPr/>
        </p:nvSpPr>
        <p:spPr>
          <a:xfrm>
            <a:off x="812800" y="1625600"/>
            <a:ext cx="10414000" cy="9144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5400" b="1" dirty="0">
                <a:solidFill>
                  <a:srgbClr val="9FE870"/>
                </a:solidFill>
              </a:rPr>
              <a:t>NOT THE BIAS.</a:t>
            </a:r>
          </a:p>
        </p:txBody>
      </p:sp>
      <p:sp>
        <p:nvSpPr>
          <p:cNvPr id="263" name="TextBox 4"/>
          <p:cNvSpPr txBox="1"/>
          <p:nvPr/>
        </p:nvSpPr>
        <p:spPr>
          <a:xfrm>
            <a:off x="812800" y="381000"/>
            <a:ext cx="8890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00">
                <a:solidFill>
                  <a:srgbClr val="898781"/>
                </a:solidFill>
              </a:rPr>
              <a:t>RESPONSIBLE AI HACKATHON  ·  UWE BRISTOL  ·  24 OCT 2026</a:t>
            </a:r>
          </a:p>
        </p:txBody>
      </p:sp>
      <p:sp>
        <p:nvSpPr>
          <p:cNvPr id="264" name="TextBox 5"/>
          <p:cNvSpPr txBox="1"/>
          <p:nvPr/>
        </p:nvSpPr>
        <p:spPr>
          <a:xfrm>
            <a:off x="812800" y="2946400"/>
            <a:ext cx="10414000" cy="889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1800" dirty="0">
                <a:solidFill>
                  <a:srgbClr val="C3C2B7"/>
                </a:solidFill>
              </a:rPr>
              <a:t>A dual audit for gender bias in ATS ranking — behavior and activation space.</a:t>
            </a:r>
          </a:p>
        </p:txBody>
      </p:sp>
      <p:sp>
        <p:nvSpPr>
          <p:cNvPr id="265" name="Rectangle 6"/>
          <p:cNvSpPr/>
          <p:nvPr/>
        </p:nvSpPr>
        <p:spPr>
          <a:xfrm>
            <a:off x="812800" y="4318000"/>
            <a:ext cx="1524000" cy="25400"/>
          </a:xfrm>
          <a:prstGeom prst="rect">
            <a:avLst/>
          </a:prstGeom>
          <a:solidFill>
            <a:srgbClr val="9FE87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266" name="TextBox 7"/>
          <p:cNvSpPr txBox="1"/>
          <p:nvPr/>
        </p:nvSpPr>
        <p:spPr>
          <a:xfrm>
            <a:off x="812800" y="4597400"/>
            <a:ext cx="6604000" cy="2895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300" dirty="0">
                <a:solidFill>
                  <a:srgbClr val="D95926"/>
                </a:solidFill>
              </a:rPr>
              <a:t>87% of the score gap survives name masking.</a:t>
            </a:r>
          </a:p>
        </p:txBody>
      </p:sp>
      <p:sp>
        <p:nvSpPr>
          <p:cNvPr id="267" name="TextBox 8"/>
          <p:cNvSpPr txBox="1"/>
          <p:nvPr/>
        </p:nvSpPr>
        <p:spPr>
          <a:xfrm>
            <a:off x="812800" y="5969000"/>
            <a:ext cx="96520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6F7682"/>
                </a:solidFill>
              </a:rPr>
              <a:t>PROTOTYPE BENCHMARK  ·  1,600 PAIRED CVS  ·  8 JOB FAMILIES  ·  10 FEATURES  ·  MINILM LAYER 6</a:t>
            </a:r>
          </a:p>
        </p:txBody>
      </p:sp>
      <p:sp>
        <p:nvSpPr>
          <p:cNvPr id="268" name="TextBox 9"/>
          <p:cNvSpPr txBox="1"/>
          <p:nvPr/>
        </p:nvSpPr>
        <p:spPr>
          <a:xfrm>
            <a:off x="11176000" y="381000"/>
            <a:ext cx="381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6F7682"/>
                </a:solidFill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298" name="TextBox 2"/>
          <p:cNvSpPr txBox="1"/>
          <p:nvPr/>
        </p:nvSpPr>
        <p:spPr>
          <a:xfrm>
            <a:off x="812800" y="381000"/>
            <a:ext cx="6350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00">
                <a:solidFill>
                  <a:srgbClr val="898781"/>
                </a:solidFill>
              </a:rPr>
              <a:t>02  /  THE EVIDENCE</a:t>
            </a:r>
          </a:p>
        </p:txBody>
      </p:sp>
      <p:sp>
        <p:nvSpPr>
          <p:cNvPr id="299" name="TextBox 3"/>
          <p:cNvSpPr txBox="1"/>
          <p:nvPr/>
        </p:nvSpPr>
        <p:spPr>
          <a:xfrm>
            <a:off x="812800" y="812800"/>
            <a:ext cx="10541000" cy="609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0EFEC"/>
                </a:solidFill>
              </a:rPr>
              <a:t>The direction varies. The harm does not.</a:t>
            </a:r>
          </a:p>
        </p:txBody>
      </p:sp>
      <p:sp>
        <p:nvSpPr>
          <p:cNvPr id="300" name="TextBox 4"/>
          <p:cNvSpPr txBox="1"/>
          <p:nvPr/>
        </p:nvSpPr>
        <p:spPr>
          <a:xfrm>
            <a:off x="812800" y="1473200"/>
            <a:ext cx="10160000" cy="3017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200">
                <a:solidFill>
                  <a:srgbClr val="C3C2B7"/>
                </a:solidFill>
              </a:rPr>
              <a:t>Gender is not a stable ‘female penalty’. It is a model- and job-specific signal — and it survives anonymization.</a:t>
            </a:r>
          </a:p>
        </p:txBody>
      </p:sp>
      <p:sp>
        <p:nvSpPr>
          <p:cNvPr id="301" name="Rectangle 5"/>
          <p:cNvSpPr/>
          <p:nvPr/>
        </p:nvSpPr>
        <p:spPr>
          <a:xfrm>
            <a:off x="812800" y="2336800"/>
            <a:ext cx="3352800" cy="31242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302" name="Rectangle 6"/>
          <p:cNvSpPr/>
          <p:nvPr/>
        </p:nvSpPr>
        <p:spPr>
          <a:xfrm>
            <a:off x="812800" y="2336800"/>
            <a:ext cx="3352800" cy="50800"/>
          </a:xfrm>
          <a:prstGeom prst="rect">
            <a:avLst/>
          </a:prstGeom>
          <a:solidFill>
            <a:srgbClr val="D03B3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303" name="TextBox 7"/>
          <p:cNvSpPr txBox="1"/>
          <p:nvPr/>
        </p:nvSpPr>
        <p:spPr>
          <a:xfrm>
            <a:off x="1066800" y="2590800"/>
            <a:ext cx="28575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 dirty="0">
                <a:solidFill>
                  <a:srgbClr val="898781"/>
                </a:solidFill>
              </a:rPr>
              <a:t>AMAZON  /  2018</a:t>
            </a:r>
          </a:p>
        </p:txBody>
      </p:sp>
      <p:sp>
        <p:nvSpPr>
          <p:cNvPr id="304" name="TextBox 8"/>
          <p:cNvSpPr txBox="1"/>
          <p:nvPr/>
        </p:nvSpPr>
        <p:spPr>
          <a:xfrm>
            <a:off x="1066800" y="2946400"/>
            <a:ext cx="2857500" cy="5029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D03B3B"/>
                </a:solidFill>
              </a:rPr>
              <a:t>PENALIZED</a:t>
            </a:r>
          </a:p>
        </p:txBody>
      </p:sp>
      <p:sp>
        <p:nvSpPr>
          <p:cNvPr id="305" name="TextBox 9"/>
          <p:cNvSpPr txBox="1"/>
          <p:nvPr/>
        </p:nvSpPr>
        <p:spPr>
          <a:xfrm>
            <a:off x="1066800" y="3683000"/>
            <a:ext cx="2794000" cy="6309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</a:pPr>
            <a:r>
              <a:rPr sz="1000" dirty="0">
                <a:solidFill>
                  <a:srgbClr val="C3C2B7"/>
                </a:solidFill>
              </a:rPr>
              <a:t>Scrapped a résumé ranker after it learned to penalize ‘women’s’ and downgrade two women’s colleges.</a:t>
            </a:r>
          </a:p>
        </p:txBody>
      </p:sp>
      <p:sp>
        <p:nvSpPr>
          <p:cNvPr id="306" name="TextBox 10"/>
          <p:cNvSpPr txBox="1"/>
          <p:nvPr/>
        </p:nvSpPr>
        <p:spPr>
          <a:xfrm>
            <a:off x="1066800" y="5003800"/>
            <a:ext cx="27940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6F7682"/>
                </a:solidFill>
              </a:rPr>
              <a:t>Reuters, 2018</a:t>
            </a:r>
          </a:p>
        </p:txBody>
      </p:sp>
      <p:sp>
        <p:nvSpPr>
          <p:cNvPr id="307" name="Rectangle 11"/>
          <p:cNvSpPr/>
          <p:nvPr/>
        </p:nvSpPr>
        <p:spPr>
          <a:xfrm>
            <a:off x="4419600" y="2336800"/>
            <a:ext cx="3352800" cy="31242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308" name="Rectangle 12"/>
          <p:cNvSpPr/>
          <p:nvPr/>
        </p:nvSpPr>
        <p:spPr>
          <a:xfrm>
            <a:off x="4419600" y="2336800"/>
            <a:ext cx="3352800" cy="50800"/>
          </a:xfrm>
          <a:prstGeom prst="rect">
            <a:avLst/>
          </a:prstGeom>
          <a:solidFill>
            <a:srgbClr val="D959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309" name="TextBox 13"/>
          <p:cNvSpPr txBox="1"/>
          <p:nvPr/>
        </p:nvSpPr>
        <p:spPr>
          <a:xfrm>
            <a:off x="4673600" y="2590800"/>
            <a:ext cx="28575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 dirty="0">
                <a:solidFill>
                  <a:srgbClr val="898781"/>
                </a:solidFill>
              </a:rPr>
              <a:t>WILSON &amp; CALISKAN  /  2024</a:t>
            </a:r>
          </a:p>
        </p:txBody>
      </p:sp>
      <p:sp>
        <p:nvSpPr>
          <p:cNvPr id="310" name="TextBox 14"/>
          <p:cNvSpPr txBox="1"/>
          <p:nvPr/>
        </p:nvSpPr>
        <p:spPr>
          <a:xfrm>
            <a:off x="4673600" y="2946400"/>
            <a:ext cx="2857500" cy="548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D95926"/>
                </a:solidFill>
              </a:rPr>
              <a:t>85.1%</a:t>
            </a:r>
          </a:p>
        </p:txBody>
      </p:sp>
      <p:sp>
        <p:nvSpPr>
          <p:cNvPr id="311" name="TextBox 15"/>
          <p:cNvSpPr txBox="1"/>
          <p:nvPr/>
        </p:nvSpPr>
        <p:spPr>
          <a:xfrm>
            <a:off x="4673600" y="3683000"/>
            <a:ext cx="2794000" cy="6309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</a:pPr>
            <a:r>
              <a:rPr sz="1000" dirty="0">
                <a:solidFill>
                  <a:srgbClr val="C3C2B7"/>
                </a:solidFill>
              </a:rPr>
              <a:t>of cases favored White-associated names; female-associated names were favored in only 11.1%. 500 resumes × 500 jobs.</a:t>
            </a:r>
          </a:p>
        </p:txBody>
      </p:sp>
      <p:sp>
        <p:nvSpPr>
          <p:cNvPr id="312" name="TextBox 16"/>
          <p:cNvSpPr txBox="1"/>
          <p:nvPr/>
        </p:nvSpPr>
        <p:spPr>
          <a:xfrm>
            <a:off x="4673600" y="5003800"/>
            <a:ext cx="27940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6F7682"/>
                </a:solidFill>
              </a:rPr>
              <a:t>AIES 2024  ·  arXiv:2407.20371</a:t>
            </a:r>
          </a:p>
        </p:txBody>
      </p:sp>
      <p:sp>
        <p:nvSpPr>
          <p:cNvPr id="313" name="Rectangle 17"/>
          <p:cNvSpPr/>
          <p:nvPr/>
        </p:nvSpPr>
        <p:spPr>
          <a:xfrm>
            <a:off x="8026400" y="2336800"/>
            <a:ext cx="3352800" cy="31242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314" name="Rectangle 18"/>
          <p:cNvSpPr/>
          <p:nvPr/>
        </p:nvSpPr>
        <p:spPr>
          <a:xfrm>
            <a:off x="8026400" y="2336800"/>
            <a:ext cx="3352800" cy="50800"/>
          </a:xfrm>
          <a:prstGeom prst="rect">
            <a:avLst/>
          </a:prstGeom>
          <a:solidFill>
            <a:srgbClr val="3987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315" name="TextBox 19"/>
          <p:cNvSpPr txBox="1"/>
          <p:nvPr/>
        </p:nvSpPr>
        <p:spPr>
          <a:xfrm>
            <a:off x="8280400" y="2590800"/>
            <a:ext cx="28575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898781"/>
                </a:solidFill>
              </a:rPr>
              <a:t>AN ET AL.  /  2025</a:t>
            </a:r>
          </a:p>
        </p:txBody>
      </p:sp>
      <p:sp>
        <p:nvSpPr>
          <p:cNvPr id="316" name="TextBox 20"/>
          <p:cNvSpPr txBox="1"/>
          <p:nvPr/>
        </p:nvSpPr>
        <p:spPr>
          <a:xfrm>
            <a:off x="8280400" y="2946400"/>
            <a:ext cx="2857500" cy="548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3987E5"/>
                </a:solidFill>
              </a:rPr>
              <a:t>1–3 pp</a:t>
            </a:r>
          </a:p>
        </p:txBody>
      </p:sp>
      <p:sp>
        <p:nvSpPr>
          <p:cNvPr id="317" name="TextBox 21"/>
          <p:cNvSpPr txBox="1"/>
          <p:nvPr/>
        </p:nvSpPr>
        <p:spPr>
          <a:xfrm>
            <a:off x="8280400" y="3683000"/>
            <a:ext cx="2794000" cy="8107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</a:pPr>
            <a:r>
              <a:rPr sz="1000">
                <a:solidFill>
                  <a:srgbClr val="C3C2B7"/>
                </a:solidFill>
              </a:rPr>
              <a:t>hiring-probability difference for otherwise similar candidates. Female candidates scored higher; Black male candidates lower.</a:t>
            </a:r>
          </a:p>
        </p:txBody>
      </p:sp>
      <p:sp>
        <p:nvSpPr>
          <p:cNvPr id="318" name="TextBox 22"/>
          <p:cNvSpPr txBox="1"/>
          <p:nvPr/>
        </p:nvSpPr>
        <p:spPr>
          <a:xfrm>
            <a:off x="8280400" y="5003800"/>
            <a:ext cx="27940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6F7682"/>
                </a:solidFill>
              </a:rPr>
              <a:t>PNAS Nexus, 2025</a:t>
            </a:r>
          </a:p>
        </p:txBody>
      </p:sp>
      <p:sp>
        <p:nvSpPr>
          <p:cNvPr id="319" name="TextBox 23"/>
          <p:cNvSpPr txBox="1"/>
          <p:nvPr/>
        </p:nvSpPr>
        <p:spPr>
          <a:xfrm>
            <a:off x="812800" y="5765800"/>
            <a:ext cx="10541000" cy="243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000" dirty="0" err="1">
                <a:solidFill>
                  <a:srgbClr val="9FE870"/>
                </a:solidFill>
              </a:rPr>
              <a:t>JobFair</a:t>
            </a:r>
            <a:r>
              <a:rPr sz="1000" dirty="0">
                <a:solidFill>
                  <a:srgbClr val="9FE870"/>
                </a:solidFill>
              </a:rPr>
              <a:t> (2024) finds bias against males in at least one industry in 7/10 LLMs — over-debiasing is real.</a:t>
            </a:r>
          </a:p>
        </p:txBody>
      </p:sp>
      <p:sp>
        <p:nvSpPr>
          <p:cNvPr id="320" name="TextBox 24"/>
          <p:cNvSpPr txBox="1"/>
          <p:nvPr/>
        </p:nvSpPr>
        <p:spPr>
          <a:xfrm>
            <a:off x="812800" y="6350000"/>
            <a:ext cx="88900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6F7682"/>
                </a:solidFill>
              </a:rPr>
              <a:t>SOURCES IN APPENDIX  ·  AIES = AAAI/ACM Conference on AI, Ethics, and Society</a:t>
            </a:r>
          </a:p>
        </p:txBody>
      </p:sp>
      <p:sp>
        <p:nvSpPr>
          <p:cNvPr id="321" name="TextBox 25"/>
          <p:cNvSpPr txBox="1"/>
          <p:nvPr/>
        </p:nvSpPr>
        <p:spPr>
          <a:xfrm>
            <a:off x="11176000" y="381000"/>
            <a:ext cx="381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6F7682"/>
                </a:solidFill>
              </a:rPr>
              <a:t>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2DABB-14F4-7D51-70EF-D70ECD951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Rectangle 3">
            <a:extLst>
              <a:ext uri="{FF2B5EF4-FFF2-40B4-BE49-F238E27FC236}">
                <a16:creationId xmlns:a16="http://schemas.microsoft.com/office/drawing/2014/main" id="{FC043F1D-5DF0-9056-3CAB-3091B0A2708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261" name="TextBox 4">
            <a:extLst>
              <a:ext uri="{FF2B5EF4-FFF2-40B4-BE49-F238E27FC236}">
                <a16:creationId xmlns:a16="http://schemas.microsoft.com/office/drawing/2014/main" id="{627E7473-FCC6-DF54-5F0B-3F086F83646E}"/>
              </a:ext>
            </a:extLst>
          </p:cNvPr>
          <p:cNvSpPr txBox="1"/>
          <p:nvPr/>
        </p:nvSpPr>
        <p:spPr>
          <a:xfrm>
            <a:off x="228035" y="516616"/>
            <a:ext cx="10414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4000" b="1" dirty="0">
                <a:solidFill>
                  <a:srgbClr val="F4F1EA"/>
                </a:solidFill>
              </a:rPr>
              <a:t>“</a:t>
            </a:r>
            <a:r>
              <a:rPr sz="4000" b="1" dirty="0">
                <a:solidFill>
                  <a:srgbClr val="F4F1EA"/>
                </a:solidFill>
              </a:rPr>
              <a:t>M</a:t>
            </a:r>
            <a:r>
              <a:rPr lang="en-GB" sz="4000" b="1" dirty="0">
                <a:solidFill>
                  <a:srgbClr val="F4F1EA"/>
                </a:solidFill>
              </a:rPr>
              <a:t>ASK THE NAME” they said</a:t>
            </a:r>
            <a:endParaRPr sz="4000" b="1" dirty="0">
              <a:solidFill>
                <a:srgbClr val="F4F1EA"/>
              </a:solidFill>
            </a:endParaRPr>
          </a:p>
        </p:txBody>
      </p:sp>
      <p:sp>
        <p:nvSpPr>
          <p:cNvPr id="263" name="TextBox 4">
            <a:extLst>
              <a:ext uri="{FF2B5EF4-FFF2-40B4-BE49-F238E27FC236}">
                <a16:creationId xmlns:a16="http://schemas.microsoft.com/office/drawing/2014/main" id="{D85E7B75-15E1-D2FE-C48E-91B108B0F9C8}"/>
              </a:ext>
            </a:extLst>
          </p:cNvPr>
          <p:cNvSpPr txBox="1"/>
          <p:nvPr/>
        </p:nvSpPr>
        <p:spPr>
          <a:xfrm>
            <a:off x="812800" y="381000"/>
            <a:ext cx="8890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00">
                <a:solidFill>
                  <a:srgbClr val="898781"/>
                </a:solidFill>
              </a:rPr>
              <a:t>RESPONSIBLE AI HACKATHON  ·  UWE BRISTOL  ·  24 OCT 2026</a:t>
            </a:r>
          </a:p>
        </p:txBody>
      </p:sp>
      <p:sp>
        <p:nvSpPr>
          <p:cNvPr id="268" name="TextBox 9">
            <a:extLst>
              <a:ext uri="{FF2B5EF4-FFF2-40B4-BE49-F238E27FC236}">
                <a16:creationId xmlns:a16="http://schemas.microsoft.com/office/drawing/2014/main" id="{46D6DDF3-15DC-616F-C7F3-9F72FAB463EB}"/>
              </a:ext>
            </a:extLst>
          </p:cNvPr>
          <p:cNvSpPr txBox="1"/>
          <p:nvPr/>
        </p:nvSpPr>
        <p:spPr>
          <a:xfrm>
            <a:off x="11176000" y="381000"/>
            <a:ext cx="381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6F7682"/>
                </a:solidFill>
              </a:rPr>
              <a:t>01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1586272-2EF8-BDC4-5668-89D21D4AEB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9650" y="292100"/>
            <a:ext cx="3847711" cy="2451100"/>
          </a:xfrm>
          <a:prstGeom prst="rect">
            <a:avLst/>
          </a:prstGeom>
        </p:spPr>
      </p:pic>
      <p:sp>
        <p:nvSpPr>
          <p:cNvPr id="15" name="Rectangle 5">
            <a:extLst>
              <a:ext uri="{FF2B5EF4-FFF2-40B4-BE49-F238E27FC236}">
                <a16:creationId xmlns:a16="http://schemas.microsoft.com/office/drawing/2014/main" id="{532A812C-3C97-24DA-88FC-1054ED10A19F}"/>
              </a:ext>
            </a:extLst>
          </p:cNvPr>
          <p:cNvSpPr/>
          <p:nvPr/>
        </p:nvSpPr>
        <p:spPr>
          <a:xfrm>
            <a:off x="620372" y="5420667"/>
            <a:ext cx="2082800" cy="11938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17" name="TextBox 6">
            <a:extLst>
              <a:ext uri="{FF2B5EF4-FFF2-40B4-BE49-F238E27FC236}">
                <a16:creationId xmlns:a16="http://schemas.microsoft.com/office/drawing/2014/main" id="{73896F03-37EF-62EB-7410-891B34A31FF8}"/>
              </a:ext>
            </a:extLst>
          </p:cNvPr>
          <p:cNvSpPr txBox="1"/>
          <p:nvPr/>
        </p:nvSpPr>
        <p:spPr>
          <a:xfrm>
            <a:off x="798172" y="5598467"/>
            <a:ext cx="17272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898781"/>
                </a:solidFill>
              </a:rPr>
              <a:t>01  /  DATA</a:t>
            </a:r>
          </a:p>
        </p:txBody>
      </p:sp>
      <p:sp>
        <p:nvSpPr>
          <p:cNvPr id="19" name="TextBox 7">
            <a:extLst>
              <a:ext uri="{FF2B5EF4-FFF2-40B4-BE49-F238E27FC236}">
                <a16:creationId xmlns:a16="http://schemas.microsoft.com/office/drawing/2014/main" id="{410BC7C1-9F03-0383-9E9A-270913C786C6}"/>
              </a:ext>
            </a:extLst>
          </p:cNvPr>
          <p:cNvSpPr txBox="1"/>
          <p:nvPr/>
        </p:nvSpPr>
        <p:spPr>
          <a:xfrm>
            <a:off x="798172" y="5852467"/>
            <a:ext cx="1727200" cy="457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0EFEC"/>
                </a:solidFill>
              </a:rPr>
              <a:t>800 matched CV pairs</a:t>
            </a:r>
          </a:p>
        </p:txBody>
      </p:sp>
      <p:sp>
        <p:nvSpPr>
          <p:cNvPr id="21" name="TextBox 8">
            <a:extLst>
              <a:ext uri="{FF2B5EF4-FFF2-40B4-BE49-F238E27FC236}">
                <a16:creationId xmlns:a16="http://schemas.microsoft.com/office/drawing/2014/main" id="{9BDDF4D3-3C1B-BFAC-AC7D-C254551E16C9}"/>
              </a:ext>
            </a:extLst>
          </p:cNvPr>
          <p:cNvSpPr txBox="1"/>
          <p:nvPr/>
        </p:nvSpPr>
        <p:spPr>
          <a:xfrm>
            <a:off x="798172" y="6335067"/>
            <a:ext cx="17272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C3C2B7"/>
                </a:solidFill>
              </a:rPr>
              <a:t>1,600 CVs total</a:t>
            </a:r>
          </a:p>
        </p:txBody>
      </p:sp>
      <p:sp>
        <p:nvSpPr>
          <p:cNvPr id="23" name="Arrow 9">
            <a:extLst>
              <a:ext uri="{FF2B5EF4-FFF2-40B4-BE49-F238E27FC236}">
                <a16:creationId xmlns:a16="http://schemas.microsoft.com/office/drawing/2014/main" id="{01D9732D-AE54-6805-0D16-2C5614FC5C7D}"/>
              </a:ext>
            </a:extLst>
          </p:cNvPr>
          <p:cNvSpPr/>
          <p:nvPr/>
        </p:nvSpPr>
        <p:spPr>
          <a:xfrm>
            <a:off x="2779372" y="5877867"/>
            <a:ext cx="228600" cy="254000"/>
          </a:xfrm>
          <a:prstGeom prst="rightArrow">
            <a:avLst/>
          </a:prstGeom>
          <a:solidFill>
            <a:srgbClr val="D959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25" name="Rectangle 10">
            <a:extLst>
              <a:ext uri="{FF2B5EF4-FFF2-40B4-BE49-F238E27FC236}">
                <a16:creationId xmlns:a16="http://schemas.microsoft.com/office/drawing/2014/main" id="{DE67803F-A544-178B-8225-3FAC4D2A4133}"/>
              </a:ext>
            </a:extLst>
          </p:cNvPr>
          <p:cNvSpPr/>
          <p:nvPr/>
        </p:nvSpPr>
        <p:spPr>
          <a:xfrm>
            <a:off x="3084172" y="5420667"/>
            <a:ext cx="2082800" cy="11938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27" name="TextBox 11">
            <a:extLst>
              <a:ext uri="{FF2B5EF4-FFF2-40B4-BE49-F238E27FC236}">
                <a16:creationId xmlns:a16="http://schemas.microsoft.com/office/drawing/2014/main" id="{1C590422-0636-D9FF-140E-067A1ECE6CB2}"/>
              </a:ext>
            </a:extLst>
          </p:cNvPr>
          <p:cNvSpPr txBox="1"/>
          <p:nvPr/>
        </p:nvSpPr>
        <p:spPr>
          <a:xfrm>
            <a:off x="3261972" y="5598467"/>
            <a:ext cx="17272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898781"/>
                </a:solidFill>
              </a:rPr>
              <a:t>02  /  ENCODER</a:t>
            </a:r>
          </a:p>
        </p:txBody>
      </p:sp>
      <p:sp>
        <p:nvSpPr>
          <p:cNvPr id="29" name="TextBox 12">
            <a:extLst>
              <a:ext uri="{FF2B5EF4-FFF2-40B4-BE49-F238E27FC236}">
                <a16:creationId xmlns:a16="http://schemas.microsoft.com/office/drawing/2014/main" id="{87313987-5010-F1FD-A0DB-76AE01331F71}"/>
              </a:ext>
            </a:extLst>
          </p:cNvPr>
          <p:cNvSpPr txBox="1"/>
          <p:nvPr/>
        </p:nvSpPr>
        <p:spPr>
          <a:xfrm>
            <a:off x="3261972" y="5852467"/>
            <a:ext cx="1727200" cy="274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0EFEC"/>
                </a:solidFill>
              </a:rPr>
              <a:t>MiniLM-L6</a:t>
            </a:r>
          </a:p>
        </p:txBody>
      </p:sp>
      <p:sp>
        <p:nvSpPr>
          <p:cNvPr id="31" name="TextBox 13">
            <a:extLst>
              <a:ext uri="{FF2B5EF4-FFF2-40B4-BE49-F238E27FC236}">
                <a16:creationId xmlns:a16="http://schemas.microsoft.com/office/drawing/2014/main" id="{E02E69B5-C2B0-6D1C-1BAF-5765E7F9D51B}"/>
              </a:ext>
            </a:extLst>
          </p:cNvPr>
          <p:cNvSpPr txBox="1"/>
          <p:nvPr/>
        </p:nvSpPr>
        <p:spPr>
          <a:xfrm>
            <a:off x="3261972" y="6335067"/>
            <a:ext cx="17272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C3C2B7"/>
                </a:solidFill>
              </a:rPr>
              <a:t>layer-6 hidden states</a:t>
            </a:r>
          </a:p>
        </p:txBody>
      </p:sp>
      <p:sp>
        <p:nvSpPr>
          <p:cNvPr id="33" name="Arrow 14">
            <a:extLst>
              <a:ext uri="{FF2B5EF4-FFF2-40B4-BE49-F238E27FC236}">
                <a16:creationId xmlns:a16="http://schemas.microsoft.com/office/drawing/2014/main" id="{AA329CBE-FD2B-6EEB-1CA3-8F77FE454B7B}"/>
              </a:ext>
            </a:extLst>
          </p:cNvPr>
          <p:cNvSpPr/>
          <p:nvPr/>
        </p:nvSpPr>
        <p:spPr>
          <a:xfrm>
            <a:off x="5243172" y="5877867"/>
            <a:ext cx="228600" cy="254000"/>
          </a:xfrm>
          <a:prstGeom prst="rightArrow">
            <a:avLst/>
          </a:prstGeom>
          <a:solidFill>
            <a:srgbClr val="D959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35" name="Rectangle 15">
            <a:extLst>
              <a:ext uri="{FF2B5EF4-FFF2-40B4-BE49-F238E27FC236}">
                <a16:creationId xmlns:a16="http://schemas.microsoft.com/office/drawing/2014/main" id="{8B703BF3-BBB0-EB92-8676-63EA27A49F5E}"/>
              </a:ext>
            </a:extLst>
          </p:cNvPr>
          <p:cNvSpPr/>
          <p:nvPr/>
        </p:nvSpPr>
        <p:spPr>
          <a:xfrm>
            <a:off x="5547972" y="5420667"/>
            <a:ext cx="2082800" cy="11938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37" name="TextBox 16">
            <a:extLst>
              <a:ext uri="{FF2B5EF4-FFF2-40B4-BE49-F238E27FC236}">
                <a16:creationId xmlns:a16="http://schemas.microsoft.com/office/drawing/2014/main" id="{A29345B9-FC0E-B196-25A7-770C87CE211C}"/>
              </a:ext>
            </a:extLst>
          </p:cNvPr>
          <p:cNvSpPr txBox="1"/>
          <p:nvPr/>
        </p:nvSpPr>
        <p:spPr>
          <a:xfrm>
            <a:off x="5725772" y="5598467"/>
            <a:ext cx="17272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898781"/>
                </a:solidFill>
              </a:rPr>
              <a:t>03  /  RANKER</a:t>
            </a:r>
          </a:p>
        </p:txBody>
      </p:sp>
      <p:sp>
        <p:nvSpPr>
          <p:cNvPr id="39" name="TextBox 17">
            <a:extLst>
              <a:ext uri="{FF2B5EF4-FFF2-40B4-BE49-F238E27FC236}">
                <a16:creationId xmlns:a16="http://schemas.microsoft.com/office/drawing/2014/main" id="{AC3B22D1-2C86-C762-3B14-DC7F5AB00A8C}"/>
              </a:ext>
            </a:extLst>
          </p:cNvPr>
          <p:cNvSpPr txBox="1"/>
          <p:nvPr/>
        </p:nvSpPr>
        <p:spPr>
          <a:xfrm>
            <a:off x="5725772" y="5852467"/>
            <a:ext cx="1727200" cy="274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0EFEC"/>
                </a:solidFill>
              </a:rPr>
              <a:t>Linear head</a:t>
            </a:r>
          </a:p>
        </p:txBody>
      </p:sp>
      <p:sp>
        <p:nvSpPr>
          <p:cNvPr id="41" name="TextBox 18">
            <a:extLst>
              <a:ext uri="{FF2B5EF4-FFF2-40B4-BE49-F238E27FC236}">
                <a16:creationId xmlns:a16="http://schemas.microsoft.com/office/drawing/2014/main" id="{C7B9B05F-0FC2-14E7-406F-2BAF04E94740}"/>
              </a:ext>
            </a:extLst>
          </p:cNvPr>
          <p:cNvSpPr txBox="1"/>
          <p:nvPr/>
        </p:nvSpPr>
        <p:spPr>
          <a:xfrm>
            <a:off x="5725772" y="6335067"/>
            <a:ext cx="17272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 dirty="0">
                <a:solidFill>
                  <a:srgbClr val="C3C2B7"/>
                </a:solidFill>
              </a:rPr>
              <a:t>shortlist probability</a:t>
            </a:r>
          </a:p>
        </p:txBody>
      </p:sp>
      <p:sp>
        <p:nvSpPr>
          <p:cNvPr id="43" name="Arrow 19">
            <a:extLst>
              <a:ext uri="{FF2B5EF4-FFF2-40B4-BE49-F238E27FC236}">
                <a16:creationId xmlns:a16="http://schemas.microsoft.com/office/drawing/2014/main" id="{3F198CAC-D201-4AB6-E3C2-0249EF734581}"/>
              </a:ext>
            </a:extLst>
          </p:cNvPr>
          <p:cNvSpPr/>
          <p:nvPr/>
        </p:nvSpPr>
        <p:spPr>
          <a:xfrm>
            <a:off x="7706972" y="5877867"/>
            <a:ext cx="228600" cy="254000"/>
          </a:xfrm>
          <a:prstGeom prst="rightArrow">
            <a:avLst/>
          </a:prstGeom>
          <a:solidFill>
            <a:srgbClr val="D959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45" name="Rectangle 20">
            <a:extLst>
              <a:ext uri="{FF2B5EF4-FFF2-40B4-BE49-F238E27FC236}">
                <a16:creationId xmlns:a16="http://schemas.microsoft.com/office/drawing/2014/main" id="{72889EFA-7FF0-944B-AFCE-44CCD3223B45}"/>
              </a:ext>
            </a:extLst>
          </p:cNvPr>
          <p:cNvSpPr/>
          <p:nvPr/>
        </p:nvSpPr>
        <p:spPr>
          <a:xfrm>
            <a:off x="8255000" y="4377690"/>
            <a:ext cx="1701800" cy="11938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47" name="TextBox 21">
            <a:extLst>
              <a:ext uri="{FF2B5EF4-FFF2-40B4-BE49-F238E27FC236}">
                <a16:creationId xmlns:a16="http://schemas.microsoft.com/office/drawing/2014/main" id="{887F732A-0293-90A7-5E5D-EA6E10D9DBB4}"/>
              </a:ext>
            </a:extLst>
          </p:cNvPr>
          <p:cNvSpPr txBox="1"/>
          <p:nvPr/>
        </p:nvSpPr>
        <p:spPr>
          <a:xfrm>
            <a:off x="8432800" y="4555490"/>
            <a:ext cx="13716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 dirty="0">
                <a:solidFill>
                  <a:srgbClr val="898781"/>
                </a:solidFill>
              </a:rPr>
              <a:t>04  /  AUDIT</a:t>
            </a:r>
          </a:p>
        </p:txBody>
      </p:sp>
      <p:sp>
        <p:nvSpPr>
          <p:cNvPr id="49" name="TextBox 22">
            <a:extLst>
              <a:ext uri="{FF2B5EF4-FFF2-40B4-BE49-F238E27FC236}">
                <a16:creationId xmlns:a16="http://schemas.microsoft.com/office/drawing/2014/main" id="{C356130C-611B-C0CA-3AED-789D8E5CB37E}"/>
              </a:ext>
            </a:extLst>
          </p:cNvPr>
          <p:cNvSpPr txBox="1"/>
          <p:nvPr/>
        </p:nvSpPr>
        <p:spPr>
          <a:xfrm>
            <a:off x="8432800" y="4809490"/>
            <a:ext cx="1371600" cy="274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0EFEC"/>
                </a:solidFill>
              </a:rPr>
              <a:t>Behavior</a:t>
            </a:r>
          </a:p>
        </p:txBody>
      </p:sp>
      <p:sp>
        <p:nvSpPr>
          <p:cNvPr id="51" name="TextBox 23">
            <a:extLst>
              <a:ext uri="{FF2B5EF4-FFF2-40B4-BE49-F238E27FC236}">
                <a16:creationId xmlns:a16="http://schemas.microsoft.com/office/drawing/2014/main" id="{C7D4DB66-DCB4-860E-13C6-C4304C559FD4}"/>
              </a:ext>
            </a:extLst>
          </p:cNvPr>
          <p:cNvSpPr txBox="1"/>
          <p:nvPr/>
        </p:nvSpPr>
        <p:spPr>
          <a:xfrm>
            <a:off x="8432800" y="5292090"/>
            <a:ext cx="13716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 dirty="0">
                <a:solidFill>
                  <a:srgbClr val="C3C2B7"/>
                </a:solidFill>
              </a:rPr>
              <a:t>score gap</a:t>
            </a:r>
          </a:p>
        </p:txBody>
      </p:sp>
      <p:sp>
        <p:nvSpPr>
          <p:cNvPr id="53" name="Rectangle 24">
            <a:extLst>
              <a:ext uri="{FF2B5EF4-FFF2-40B4-BE49-F238E27FC236}">
                <a16:creationId xmlns:a16="http://schemas.microsoft.com/office/drawing/2014/main" id="{F3F582DD-3E61-13C6-142C-025AA2C78F4E}"/>
              </a:ext>
            </a:extLst>
          </p:cNvPr>
          <p:cNvSpPr/>
          <p:nvPr/>
        </p:nvSpPr>
        <p:spPr>
          <a:xfrm>
            <a:off x="8255000" y="5664200"/>
            <a:ext cx="1701800" cy="11938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55" name="TextBox 25">
            <a:extLst>
              <a:ext uri="{FF2B5EF4-FFF2-40B4-BE49-F238E27FC236}">
                <a16:creationId xmlns:a16="http://schemas.microsoft.com/office/drawing/2014/main" id="{7BFECAFB-931F-D58A-944F-53594D957EDC}"/>
              </a:ext>
            </a:extLst>
          </p:cNvPr>
          <p:cNvSpPr txBox="1"/>
          <p:nvPr/>
        </p:nvSpPr>
        <p:spPr>
          <a:xfrm>
            <a:off x="8432800" y="5842000"/>
            <a:ext cx="13716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 dirty="0">
                <a:solidFill>
                  <a:srgbClr val="898781"/>
                </a:solidFill>
              </a:rPr>
              <a:t>05  /  AUDIT</a:t>
            </a:r>
          </a:p>
        </p:txBody>
      </p:sp>
      <p:sp>
        <p:nvSpPr>
          <p:cNvPr id="57" name="TextBox 26">
            <a:extLst>
              <a:ext uri="{FF2B5EF4-FFF2-40B4-BE49-F238E27FC236}">
                <a16:creationId xmlns:a16="http://schemas.microsoft.com/office/drawing/2014/main" id="{4A1F4416-0111-2257-EBEA-A9F9AEFCBE4A}"/>
              </a:ext>
            </a:extLst>
          </p:cNvPr>
          <p:cNvSpPr txBox="1"/>
          <p:nvPr/>
        </p:nvSpPr>
        <p:spPr>
          <a:xfrm>
            <a:off x="8432800" y="6096000"/>
            <a:ext cx="1371600" cy="274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0EFEC"/>
                </a:solidFill>
              </a:rPr>
              <a:t>Activation</a:t>
            </a:r>
          </a:p>
        </p:txBody>
      </p:sp>
      <p:sp>
        <p:nvSpPr>
          <p:cNvPr id="59" name="TextBox 27">
            <a:extLst>
              <a:ext uri="{FF2B5EF4-FFF2-40B4-BE49-F238E27FC236}">
                <a16:creationId xmlns:a16="http://schemas.microsoft.com/office/drawing/2014/main" id="{87515CC2-EF37-6D1B-AACF-2B4F80EA885E}"/>
              </a:ext>
            </a:extLst>
          </p:cNvPr>
          <p:cNvSpPr txBox="1"/>
          <p:nvPr/>
        </p:nvSpPr>
        <p:spPr>
          <a:xfrm>
            <a:off x="8432800" y="6578600"/>
            <a:ext cx="13716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C3C2B7"/>
                </a:solidFill>
              </a:rPr>
              <a:t>probe + LEACE</a:t>
            </a:r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28FC9921-0CC8-C70B-5517-F7EC614974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8862" y="2783840"/>
            <a:ext cx="4721672" cy="1629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5384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20A96-0929-97F4-D9C5-09D99A87D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Rectangle 3">
            <a:extLst>
              <a:ext uri="{FF2B5EF4-FFF2-40B4-BE49-F238E27FC236}">
                <a16:creationId xmlns:a16="http://schemas.microsoft.com/office/drawing/2014/main" id="{97692E28-AB95-5FA4-5053-EE62AAC1E60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sp>
        <p:nvSpPr>
          <p:cNvPr id="261" name="TextBox 4">
            <a:extLst>
              <a:ext uri="{FF2B5EF4-FFF2-40B4-BE49-F238E27FC236}">
                <a16:creationId xmlns:a16="http://schemas.microsoft.com/office/drawing/2014/main" id="{A099E578-14D9-0490-B365-420A2185DB11}"/>
              </a:ext>
            </a:extLst>
          </p:cNvPr>
          <p:cNvSpPr txBox="1"/>
          <p:nvPr/>
        </p:nvSpPr>
        <p:spPr>
          <a:xfrm>
            <a:off x="228035" y="516616"/>
            <a:ext cx="10414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4000" b="1" dirty="0">
                <a:solidFill>
                  <a:srgbClr val="F4F1EA"/>
                </a:solidFill>
              </a:rPr>
              <a:t>“</a:t>
            </a:r>
            <a:r>
              <a:rPr sz="4000" b="1" dirty="0">
                <a:solidFill>
                  <a:srgbClr val="F4F1EA"/>
                </a:solidFill>
              </a:rPr>
              <a:t>M</a:t>
            </a:r>
            <a:r>
              <a:rPr lang="en-GB" sz="4000" b="1" dirty="0">
                <a:solidFill>
                  <a:srgbClr val="F4F1EA"/>
                </a:solidFill>
              </a:rPr>
              <a:t>ASK THE NAME” they said</a:t>
            </a:r>
            <a:endParaRPr sz="4000" b="1" dirty="0">
              <a:solidFill>
                <a:srgbClr val="F4F1EA"/>
              </a:solidFill>
            </a:endParaRPr>
          </a:p>
        </p:txBody>
      </p:sp>
      <p:sp>
        <p:nvSpPr>
          <p:cNvPr id="263" name="TextBox 4">
            <a:extLst>
              <a:ext uri="{FF2B5EF4-FFF2-40B4-BE49-F238E27FC236}">
                <a16:creationId xmlns:a16="http://schemas.microsoft.com/office/drawing/2014/main" id="{997A8196-8119-A9D1-3343-9DCD90238EEB}"/>
              </a:ext>
            </a:extLst>
          </p:cNvPr>
          <p:cNvSpPr txBox="1"/>
          <p:nvPr/>
        </p:nvSpPr>
        <p:spPr>
          <a:xfrm>
            <a:off x="812800" y="381000"/>
            <a:ext cx="8890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00">
                <a:solidFill>
                  <a:srgbClr val="898781"/>
                </a:solidFill>
              </a:rPr>
              <a:t>RESPONSIBLE AI HACKATHON  ·  UWE BRISTOL  ·  24 OCT 2026</a:t>
            </a:r>
          </a:p>
        </p:txBody>
      </p:sp>
      <p:sp>
        <p:nvSpPr>
          <p:cNvPr id="265" name="Rectangle 6">
            <a:extLst>
              <a:ext uri="{FF2B5EF4-FFF2-40B4-BE49-F238E27FC236}">
                <a16:creationId xmlns:a16="http://schemas.microsoft.com/office/drawing/2014/main" id="{EC8E7FC5-AC0C-4884-668A-19C0723A6E8E}"/>
              </a:ext>
            </a:extLst>
          </p:cNvPr>
          <p:cNvSpPr/>
          <p:nvPr/>
        </p:nvSpPr>
        <p:spPr>
          <a:xfrm>
            <a:off x="812800" y="4318000"/>
            <a:ext cx="1524000" cy="25400"/>
          </a:xfrm>
          <a:prstGeom prst="rect">
            <a:avLst/>
          </a:prstGeom>
          <a:solidFill>
            <a:srgbClr val="9FE87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267" name="TextBox 8">
            <a:extLst>
              <a:ext uri="{FF2B5EF4-FFF2-40B4-BE49-F238E27FC236}">
                <a16:creationId xmlns:a16="http://schemas.microsoft.com/office/drawing/2014/main" id="{8B5A6E61-DB47-1EDB-0C62-7DA0F23E9353}"/>
              </a:ext>
            </a:extLst>
          </p:cNvPr>
          <p:cNvSpPr txBox="1"/>
          <p:nvPr/>
        </p:nvSpPr>
        <p:spPr>
          <a:xfrm>
            <a:off x="812800" y="5969000"/>
            <a:ext cx="96520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6F7682"/>
                </a:solidFill>
              </a:rPr>
              <a:t>PROTOTYPE BENCHMARK  ·  1,600 PAIRED CVS  ·  8 JOB FAMILIES  ·  10 FEATURES  ·  MINILM LAYER 6</a:t>
            </a:r>
          </a:p>
        </p:txBody>
      </p:sp>
      <p:sp>
        <p:nvSpPr>
          <p:cNvPr id="268" name="TextBox 9">
            <a:extLst>
              <a:ext uri="{FF2B5EF4-FFF2-40B4-BE49-F238E27FC236}">
                <a16:creationId xmlns:a16="http://schemas.microsoft.com/office/drawing/2014/main" id="{48F49F92-3D0B-2641-49AD-C4C6A8B503E7}"/>
              </a:ext>
            </a:extLst>
          </p:cNvPr>
          <p:cNvSpPr txBox="1"/>
          <p:nvPr/>
        </p:nvSpPr>
        <p:spPr>
          <a:xfrm>
            <a:off x="11176000" y="381000"/>
            <a:ext cx="381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6F7682"/>
                </a:solidFill>
              </a:rPr>
              <a:t>01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73C6DD-0A0A-1DFF-51A8-5F121BCC03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8333" y="4247982"/>
            <a:ext cx="6506483" cy="240063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1C776AE-BC75-4750-29B1-2C09C2F7DC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4649" y="4596208"/>
            <a:ext cx="2520385" cy="205240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8BA0673-5E1F-4723-5F5D-8485E73779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6556" y="6318486"/>
            <a:ext cx="2781688" cy="428685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D6E0B4D3-3203-857B-6884-439BFB9AA57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6097801"/>
            <a:ext cx="1688886" cy="267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8807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" name="Picture 1" descr="ats_compare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95" name="TextBox 2"/>
          <p:cNvSpPr txBox="1"/>
          <p:nvPr/>
        </p:nvSpPr>
        <p:spPr>
          <a:xfrm>
            <a:off x="11633200" y="6527800"/>
            <a:ext cx="3556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6F7682"/>
                </a:solidFill>
              </a:rPr>
              <a:t>03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324" name="TextBox 2"/>
          <p:cNvSpPr txBox="1"/>
          <p:nvPr/>
        </p:nvSpPr>
        <p:spPr>
          <a:xfrm>
            <a:off x="812800" y="381000"/>
            <a:ext cx="6350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00">
                <a:solidFill>
                  <a:srgbClr val="898781"/>
                </a:solidFill>
              </a:rPr>
              <a:t>03  /  WHY MASKING FAILS</a:t>
            </a:r>
          </a:p>
        </p:txBody>
      </p:sp>
      <p:sp>
        <p:nvSpPr>
          <p:cNvPr id="325" name="TextBox 3"/>
          <p:cNvSpPr txBox="1"/>
          <p:nvPr/>
        </p:nvSpPr>
        <p:spPr>
          <a:xfrm>
            <a:off x="812800" y="812800"/>
            <a:ext cx="10668000" cy="609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0EFEC"/>
                </a:solidFill>
              </a:rPr>
              <a:t>One cue masked. Five still leak.</a:t>
            </a:r>
          </a:p>
        </p:txBody>
      </p:sp>
      <p:sp>
        <p:nvSpPr>
          <p:cNvPr id="326" name="TextBox 4"/>
          <p:cNvSpPr txBox="1"/>
          <p:nvPr/>
        </p:nvSpPr>
        <p:spPr>
          <a:xfrm>
            <a:off x="812800" y="1473200"/>
            <a:ext cx="10160000" cy="274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200">
                <a:solidFill>
                  <a:srgbClr val="C3C2B7"/>
                </a:solidFill>
              </a:rPr>
              <a:t>A name is a proxy for gender. So are the words and affiliations around it.</a:t>
            </a:r>
          </a:p>
        </p:txBody>
      </p:sp>
      <p:sp>
        <p:nvSpPr>
          <p:cNvPr id="327" name="Rectangle 5"/>
          <p:cNvSpPr/>
          <p:nvPr/>
        </p:nvSpPr>
        <p:spPr>
          <a:xfrm>
            <a:off x="812800" y="2082800"/>
            <a:ext cx="6223000" cy="3810000"/>
          </a:xfrm>
          <a:prstGeom prst="roundRect">
            <a:avLst/>
          </a:prstGeom>
          <a:solidFill>
            <a:srgbClr val="0F141D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328" name="TextBox 6"/>
          <p:cNvSpPr txBox="1"/>
          <p:nvPr/>
        </p:nvSpPr>
        <p:spPr>
          <a:xfrm>
            <a:off x="1066800" y="2311400"/>
            <a:ext cx="54610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898781"/>
                </a:solidFill>
              </a:rPr>
              <a:t>THE CV  /  PARSED FIELDS</a:t>
            </a:r>
          </a:p>
        </p:txBody>
      </p:sp>
      <p:sp>
        <p:nvSpPr>
          <p:cNvPr id="329" name="Rectangle 7"/>
          <p:cNvSpPr/>
          <p:nvPr/>
        </p:nvSpPr>
        <p:spPr>
          <a:xfrm>
            <a:off x="1066800" y="2692400"/>
            <a:ext cx="5715000" cy="431800"/>
          </a:xfrm>
          <a:prstGeom prst="roundRect">
            <a:avLst/>
          </a:prstGeom>
          <a:solidFill>
            <a:srgbClr val="1A1D24"/>
          </a:solidFill>
          <a:ln w="9525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330" name="TextBox 8"/>
          <p:cNvSpPr txBox="1"/>
          <p:nvPr/>
        </p:nvSpPr>
        <p:spPr>
          <a:xfrm>
            <a:off x="1244600" y="2781300"/>
            <a:ext cx="3810000" cy="259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100">
                <a:solidFill>
                  <a:srgbClr val="6F7682"/>
                </a:solidFill>
              </a:rPr>
              <a:t>Name</a:t>
            </a:r>
          </a:p>
        </p:txBody>
      </p:sp>
      <p:sp>
        <p:nvSpPr>
          <p:cNvPr id="331" name="TextBox 9"/>
          <p:cNvSpPr txBox="1"/>
          <p:nvPr/>
        </p:nvSpPr>
        <p:spPr>
          <a:xfrm>
            <a:off x="4572000" y="2781300"/>
            <a:ext cx="20320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898781"/>
                </a:solidFill>
              </a:rPr>
              <a:t>MASKED</a:t>
            </a:r>
          </a:p>
        </p:txBody>
      </p:sp>
      <p:sp>
        <p:nvSpPr>
          <p:cNvPr id="332" name="Rectangle 10"/>
          <p:cNvSpPr/>
          <p:nvPr/>
        </p:nvSpPr>
        <p:spPr>
          <a:xfrm>
            <a:off x="1066800" y="3225800"/>
            <a:ext cx="5715000" cy="431800"/>
          </a:xfrm>
          <a:prstGeom prst="roundRect">
            <a:avLst/>
          </a:prstGeom>
          <a:solidFill>
            <a:srgbClr val="171C26"/>
          </a:solidFill>
          <a:ln w="9525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333" name="TextBox 11"/>
          <p:cNvSpPr txBox="1"/>
          <p:nvPr/>
        </p:nvSpPr>
        <p:spPr>
          <a:xfrm>
            <a:off x="1244600" y="3314700"/>
            <a:ext cx="3810000" cy="259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100">
                <a:solidFill>
                  <a:srgbClr val="F0EFEC"/>
                </a:solidFill>
              </a:rPr>
              <a:t>Pronouns</a:t>
            </a:r>
          </a:p>
        </p:txBody>
      </p:sp>
      <p:sp>
        <p:nvSpPr>
          <p:cNvPr id="334" name="TextBox 12"/>
          <p:cNvSpPr txBox="1"/>
          <p:nvPr/>
        </p:nvSpPr>
        <p:spPr>
          <a:xfrm>
            <a:off x="4572000" y="3314700"/>
            <a:ext cx="20320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D95926"/>
                </a:solidFill>
              </a:rPr>
              <a:t>REMAINS</a:t>
            </a:r>
          </a:p>
        </p:txBody>
      </p:sp>
      <p:sp>
        <p:nvSpPr>
          <p:cNvPr id="335" name="Rectangle 13"/>
          <p:cNvSpPr/>
          <p:nvPr/>
        </p:nvSpPr>
        <p:spPr>
          <a:xfrm>
            <a:off x="1066800" y="3759200"/>
            <a:ext cx="5715000" cy="431800"/>
          </a:xfrm>
          <a:prstGeom prst="roundRect">
            <a:avLst/>
          </a:prstGeom>
          <a:solidFill>
            <a:srgbClr val="171C26"/>
          </a:solidFill>
          <a:ln w="9525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336" name="TextBox 14"/>
          <p:cNvSpPr txBox="1"/>
          <p:nvPr/>
        </p:nvSpPr>
        <p:spPr>
          <a:xfrm>
            <a:off x="1244600" y="3848100"/>
            <a:ext cx="3810000" cy="259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100">
                <a:solidFill>
                  <a:srgbClr val="F0EFEC"/>
                </a:solidFill>
              </a:rPr>
              <a:t>Affiliations</a:t>
            </a:r>
          </a:p>
        </p:txBody>
      </p:sp>
      <p:sp>
        <p:nvSpPr>
          <p:cNvPr id="337" name="TextBox 15"/>
          <p:cNvSpPr txBox="1"/>
          <p:nvPr/>
        </p:nvSpPr>
        <p:spPr>
          <a:xfrm>
            <a:off x="4572000" y="3848100"/>
            <a:ext cx="20320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D95926"/>
                </a:solidFill>
              </a:rPr>
              <a:t>REMAINS</a:t>
            </a:r>
          </a:p>
        </p:txBody>
      </p:sp>
      <p:sp>
        <p:nvSpPr>
          <p:cNvPr id="338" name="Rectangle 16"/>
          <p:cNvSpPr/>
          <p:nvPr/>
        </p:nvSpPr>
        <p:spPr>
          <a:xfrm>
            <a:off x="1066800" y="4292600"/>
            <a:ext cx="5715000" cy="431800"/>
          </a:xfrm>
          <a:prstGeom prst="roundRect">
            <a:avLst/>
          </a:prstGeom>
          <a:solidFill>
            <a:srgbClr val="171C26"/>
          </a:solidFill>
          <a:ln w="9525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339" name="TextBox 17"/>
          <p:cNvSpPr txBox="1"/>
          <p:nvPr/>
        </p:nvSpPr>
        <p:spPr>
          <a:xfrm>
            <a:off x="1244600" y="4381500"/>
            <a:ext cx="3810000" cy="259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100">
                <a:solidFill>
                  <a:srgbClr val="F0EFEC"/>
                </a:solidFill>
              </a:rPr>
              <a:t>Career-gap reason</a:t>
            </a:r>
          </a:p>
        </p:txBody>
      </p:sp>
      <p:sp>
        <p:nvSpPr>
          <p:cNvPr id="340" name="TextBox 18"/>
          <p:cNvSpPr txBox="1"/>
          <p:nvPr/>
        </p:nvSpPr>
        <p:spPr>
          <a:xfrm>
            <a:off x="4572000" y="4381500"/>
            <a:ext cx="20320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D95926"/>
                </a:solidFill>
              </a:rPr>
              <a:t>REMAINS</a:t>
            </a:r>
          </a:p>
        </p:txBody>
      </p:sp>
      <p:sp>
        <p:nvSpPr>
          <p:cNvPr id="341" name="Rectangle 19"/>
          <p:cNvSpPr/>
          <p:nvPr/>
        </p:nvSpPr>
        <p:spPr>
          <a:xfrm>
            <a:off x="1066800" y="4826000"/>
            <a:ext cx="5715000" cy="431800"/>
          </a:xfrm>
          <a:prstGeom prst="roundRect">
            <a:avLst/>
          </a:prstGeom>
          <a:solidFill>
            <a:srgbClr val="171C26"/>
          </a:solidFill>
          <a:ln w="9525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342" name="TextBox 20"/>
          <p:cNvSpPr txBox="1"/>
          <p:nvPr/>
        </p:nvSpPr>
        <p:spPr>
          <a:xfrm>
            <a:off x="1244600" y="4914900"/>
            <a:ext cx="3810000" cy="259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100">
                <a:solidFill>
                  <a:srgbClr val="F0EFEC"/>
                </a:solidFill>
              </a:rPr>
              <a:t>Gendered language</a:t>
            </a:r>
          </a:p>
        </p:txBody>
      </p:sp>
      <p:sp>
        <p:nvSpPr>
          <p:cNvPr id="343" name="TextBox 21"/>
          <p:cNvSpPr txBox="1"/>
          <p:nvPr/>
        </p:nvSpPr>
        <p:spPr>
          <a:xfrm>
            <a:off x="4572000" y="4914900"/>
            <a:ext cx="20320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D95926"/>
                </a:solidFill>
              </a:rPr>
              <a:t>REMAINS</a:t>
            </a:r>
          </a:p>
        </p:txBody>
      </p:sp>
      <p:sp>
        <p:nvSpPr>
          <p:cNvPr id="344" name="Rectangle 22"/>
          <p:cNvSpPr/>
          <p:nvPr/>
        </p:nvSpPr>
        <p:spPr>
          <a:xfrm>
            <a:off x="1066800" y="5359400"/>
            <a:ext cx="5715000" cy="431800"/>
          </a:xfrm>
          <a:prstGeom prst="roundRect">
            <a:avLst/>
          </a:prstGeom>
          <a:solidFill>
            <a:srgbClr val="171C26"/>
          </a:solidFill>
          <a:ln w="9525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345" name="TextBox 23"/>
          <p:cNvSpPr txBox="1"/>
          <p:nvPr/>
        </p:nvSpPr>
        <p:spPr>
          <a:xfrm>
            <a:off x="1244600" y="5448300"/>
            <a:ext cx="3810000" cy="259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100">
                <a:solidFill>
                  <a:srgbClr val="F0EFEC"/>
                </a:solidFill>
              </a:rPr>
              <a:t>Career patterns</a:t>
            </a:r>
          </a:p>
        </p:txBody>
      </p:sp>
      <p:sp>
        <p:nvSpPr>
          <p:cNvPr id="346" name="TextBox 24"/>
          <p:cNvSpPr txBox="1"/>
          <p:nvPr/>
        </p:nvSpPr>
        <p:spPr>
          <a:xfrm>
            <a:off x="4572000" y="5448300"/>
            <a:ext cx="20320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D95926"/>
                </a:solidFill>
              </a:rPr>
              <a:t>REMAINS</a:t>
            </a:r>
          </a:p>
        </p:txBody>
      </p:sp>
      <p:sp>
        <p:nvSpPr>
          <p:cNvPr id="347" name="Arrow 25"/>
          <p:cNvSpPr/>
          <p:nvPr/>
        </p:nvSpPr>
        <p:spPr>
          <a:xfrm>
            <a:off x="7086600" y="3810000"/>
            <a:ext cx="584200" cy="355600"/>
          </a:xfrm>
          <a:prstGeom prst="rightArrow">
            <a:avLst/>
          </a:prstGeom>
          <a:solidFill>
            <a:srgbClr val="D959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348" name="Rectangle 26"/>
          <p:cNvSpPr/>
          <p:nvPr/>
        </p:nvSpPr>
        <p:spPr>
          <a:xfrm>
            <a:off x="7772400" y="2082800"/>
            <a:ext cx="3606800" cy="38100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349" name="TextBox 27"/>
          <p:cNvSpPr txBox="1"/>
          <p:nvPr/>
        </p:nvSpPr>
        <p:spPr>
          <a:xfrm>
            <a:off x="8026400" y="2311400"/>
            <a:ext cx="30988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898781"/>
                </a:solidFill>
              </a:rPr>
              <a:t>WHAT THE ENCODER SEES</a:t>
            </a:r>
          </a:p>
        </p:txBody>
      </p:sp>
      <p:sp>
        <p:nvSpPr>
          <p:cNvPr id="350" name="TextBox 28"/>
          <p:cNvSpPr txBox="1"/>
          <p:nvPr/>
        </p:nvSpPr>
        <p:spPr>
          <a:xfrm>
            <a:off x="8026400" y="2692400"/>
            <a:ext cx="3098800" cy="4419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000">
                <a:solidFill>
                  <a:srgbClr val="C3C2B7"/>
                </a:solidFill>
              </a:rPr>
              <a:t>The name is gone. The hidden state still separates genders.</a:t>
            </a:r>
          </a:p>
        </p:txBody>
      </p:sp>
      <p:sp>
        <p:nvSpPr>
          <p:cNvPr id="351" name="TextBox 29"/>
          <p:cNvSpPr txBox="1"/>
          <p:nvPr/>
        </p:nvSpPr>
        <p:spPr>
          <a:xfrm>
            <a:off x="8026400" y="3378200"/>
            <a:ext cx="3098800" cy="9144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D03B3B"/>
                </a:solidFill>
              </a:rPr>
              <a:t>87%</a:t>
            </a:r>
          </a:p>
        </p:txBody>
      </p:sp>
      <p:sp>
        <p:nvSpPr>
          <p:cNvPr id="352" name="TextBox 30"/>
          <p:cNvSpPr txBox="1"/>
          <p:nvPr/>
        </p:nvSpPr>
        <p:spPr>
          <a:xfrm>
            <a:off x="8026400" y="4292600"/>
            <a:ext cx="2921000" cy="243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000">
                <a:solidFill>
                  <a:srgbClr val="C3C2B7"/>
                </a:solidFill>
              </a:rPr>
              <a:t>of the score gap survives name masking</a:t>
            </a:r>
          </a:p>
        </p:txBody>
      </p:sp>
      <p:sp>
        <p:nvSpPr>
          <p:cNvPr id="353" name="TextBox 31"/>
          <p:cNvSpPr txBox="1"/>
          <p:nvPr/>
        </p:nvSpPr>
        <p:spPr>
          <a:xfrm>
            <a:off x="8026400" y="4927600"/>
            <a:ext cx="30988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D95926"/>
                </a:solidFill>
              </a:rPr>
              <a:t>PROBE  100%  ·  CHANCE  50%</a:t>
            </a:r>
          </a:p>
        </p:txBody>
      </p:sp>
      <p:sp>
        <p:nvSpPr>
          <p:cNvPr id="354" name="TextBox 32"/>
          <p:cNvSpPr txBox="1"/>
          <p:nvPr/>
        </p:nvSpPr>
        <p:spPr>
          <a:xfrm>
            <a:off x="8026400" y="5308600"/>
            <a:ext cx="30988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00">
                <a:solidFill>
                  <a:srgbClr val="898781"/>
                </a:solidFill>
              </a:rPr>
              <a:t>The output looks blind. The representation is not.</a:t>
            </a:r>
          </a:p>
        </p:txBody>
      </p:sp>
      <p:sp>
        <p:nvSpPr>
          <p:cNvPr id="355" name="TextBox 33"/>
          <p:cNvSpPr txBox="1"/>
          <p:nvPr/>
        </p:nvSpPr>
        <p:spPr>
          <a:xfrm>
            <a:off x="812800" y="6172200"/>
            <a:ext cx="10541000" cy="3048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400">
                <a:solidFill>
                  <a:srgbClr val="9FE870"/>
                </a:solidFill>
              </a:rPr>
              <a:t>Masking is a string operation. Bias is a representation operation.</a:t>
            </a:r>
          </a:p>
        </p:txBody>
      </p:sp>
      <p:sp>
        <p:nvSpPr>
          <p:cNvPr id="356" name="TextBox 34"/>
          <p:cNvSpPr txBox="1"/>
          <p:nvPr/>
        </p:nvSpPr>
        <p:spPr>
          <a:xfrm>
            <a:off x="11176000" y="381000"/>
            <a:ext cx="381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6F7682"/>
                </a:solidFill>
              </a:rP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TextBox 2"/>
          <p:cNvSpPr txBox="1"/>
          <p:nvPr/>
        </p:nvSpPr>
        <p:spPr>
          <a:xfrm>
            <a:off x="812800" y="381000"/>
            <a:ext cx="6350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00">
                <a:solidFill>
                  <a:srgbClr val="898781"/>
                </a:solidFill>
              </a:rPr>
              <a:t>04  /  BENCHMARK</a:t>
            </a:r>
          </a:p>
        </p:txBody>
      </p:sp>
      <p:sp>
        <p:nvSpPr>
          <p:cNvPr id="360" name="TextBox 3"/>
          <p:cNvSpPr txBox="1"/>
          <p:nvPr/>
        </p:nvSpPr>
        <p:spPr>
          <a:xfrm>
            <a:off x="812800" y="812800"/>
            <a:ext cx="10795000" cy="579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0EFEC"/>
                </a:solidFill>
              </a:rPr>
              <a:t>A controlled benchmark with known ground truth.</a:t>
            </a:r>
          </a:p>
        </p:txBody>
      </p:sp>
      <p:sp>
        <p:nvSpPr>
          <p:cNvPr id="361" name="TextBox 4"/>
          <p:cNvSpPr txBox="1"/>
          <p:nvPr/>
        </p:nvSpPr>
        <p:spPr>
          <a:xfrm>
            <a:off x="812800" y="1473200"/>
            <a:ext cx="10414000" cy="274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C3C2B7"/>
                </a:solidFill>
              </a:rPr>
              <a:t>We inject a known name-linked penalty, then test whether the audit recovers it — and removes it.</a:t>
            </a:r>
          </a:p>
        </p:txBody>
      </p:sp>
      <p:sp>
        <p:nvSpPr>
          <p:cNvPr id="385" name="Rectangle 28"/>
          <p:cNvSpPr/>
          <p:nvPr/>
        </p:nvSpPr>
        <p:spPr>
          <a:xfrm>
            <a:off x="812800" y="3937000"/>
            <a:ext cx="5181600" cy="19050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386" name="TextBox 29"/>
          <p:cNvSpPr txBox="1"/>
          <p:nvPr/>
        </p:nvSpPr>
        <p:spPr>
          <a:xfrm>
            <a:off x="1066800" y="4140200"/>
            <a:ext cx="46736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898781"/>
                </a:solidFill>
              </a:rPr>
              <a:t>DESIGN CHOICES</a:t>
            </a:r>
          </a:p>
        </p:txBody>
      </p:sp>
      <p:sp>
        <p:nvSpPr>
          <p:cNvPr id="387" name="TextBox 30"/>
          <p:cNvSpPr txBox="1"/>
          <p:nvPr/>
        </p:nvSpPr>
        <p:spPr>
          <a:xfrm>
            <a:off x="1066800" y="4445000"/>
            <a:ext cx="4673600" cy="929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100">
                <a:solidFill>
                  <a:srgbClr val="C3C2B7"/>
                </a:solidFill>
              </a:rPr>
              <a:t>8 job families  ·  10 features</a:t>
            </a:r>
          </a:p>
          <a:p>
            <a:pPr>
              <a:lnSpc>
                <a:spcPct val="125000"/>
              </a:lnSpc>
            </a:pPr>
            <a:r>
              <a:rPr sz="1100">
                <a:solidFill>
                  <a:srgbClr val="C3C2B7"/>
                </a:solidFill>
              </a:rPr>
              <a:t>80/20 split by candidate  ·  no pair leakage</a:t>
            </a:r>
          </a:p>
          <a:p>
            <a:pPr>
              <a:lnSpc>
                <a:spcPct val="125000"/>
              </a:lnSpc>
            </a:pPr>
            <a:r>
              <a:rPr sz="1100">
                <a:solidFill>
                  <a:srgbClr val="C3C2B7"/>
                </a:solidFill>
              </a:rPr>
              <a:t>5-fold group CV for probes</a:t>
            </a:r>
          </a:p>
          <a:p>
            <a:pPr>
              <a:lnSpc>
                <a:spcPct val="125000"/>
              </a:lnSpc>
            </a:pPr>
            <a:r>
              <a:rPr sz="1100">
                <a:solidFill>
                  <a:srgbClr val="C3C2B7"/>
                </a:solidFill>
              </a:rPr>
              <a:t>synthetic labels with a known injected gap</a:t>
            </a:r>
          </a:p>
        </p:txBody>
      </p:sp>
      <p:sp>
        <p:nvSpPr>
          <p:cNvPr id="388" name="Rectangle 31"/>
          <p:cNvSpPr/>
          <p:nvPr/>
        </p:nvSpPr>
        <p:spPr>
          <a:xfrm>
            <a:off x="6248400" y="4422140"/>
            <a:ext cx="5130800" cy="19050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389" name="TextBox 32"/>
          <p:cNvSpPr txBox="1"/>
          <p:nvPr/>
        </p:nvSpPr>
        <p:spPr>
          <a:xfrm>
            <a:off x="6604000" y="6216650"/>
            <a:ext cx="46228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 dirty="0">
                <a:solidFill>
                  <a:srgbClr val="898781"/>
                </a:solidFill>
              </a:rPr>
              <a:t>WHAT IT BUYS US</a:t>
            </a:r>
          </a:p>
        </p:txBody>
      </p:sp>
      <p:sp>
        <p:nvSpPr>
          <p:cNvPr id="390" name="TextBox 33"/>
          <p:cNvSpPr txBox="1"/>
          <p:nvPr/>
        </p:nvSpPr>
        <p:spPr>
          <a:xfrm>
            <a:off x="6502400" y="4445000"/>
            <a:ext cx="4622800" cy="929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1100">
                <a:solidFill>
                  <a:srgbClr val="C3C2B7"/>
                </a:solidFill>
              </a:rPr>
              <a:t>A known bias direction, so we can measure</a:t>
            </a:r>
          </a:p>
          <a:p>
            <a:pPr>
              <a:lnSpc>
                <a:spcPct val="125000"/>
              </a:lnSpc>
            </a:pPr>
            <a:r>
              <a:rPr sz="1100">
                <a:solidFill>
                  <a:srgbClr val="C3C2B7"/>
                </a:solidFill>
              </a:rPr>
              <a:t>what the audit catches and what it misses.</a:t>
            </a:r>
          </a:p>
          <a:p>
            <a:pPr>
              <a:lnSpc>
                <a:spcPct val="125000"/>
              </a:lnSpc>
            </a:pPr>
            <a:r>
              <a:rPr sz="1100">
                <a:solidFill>
                  <a:srgbClr val="C3C2B7"/>
                </a:solidFill>
              </a:rPr>
              <a:t>The absolute numbers are not a production claim;</a:t>
            </a:r>
          </a:p>
          <a:p>
            <a:pPr>
              <a:lnSpc>
                <a:spcPct val="125000"/>
              </a:lnSpc>
            </a:pPr>
            <a:r>
              <a:rPr sz="1100">
                <a:solidFill>
                  <a:srgbClr val="C3C2B7"/>
                </a:solidFill>
              </a:rPr>
              <a:t>the causal comparison is the point.</a:t>
            </a:r>
          </a:p>
        </p:txBody>
      </p:sp>
      <p:sp>
        <p:nvSpPr>
          <p:cNvPr id="391" name="TextBox 34"/>
          <p:cNvSpPr txBox="1"/>
          <p:nvPr/>
        </p:nvSpPr>
        <p:spPr>
          <a:xfrm>
            <a:off x="812800" y="6172200"/>
            <a:ext cx="10541000" cy="274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200">
                <a:solidFill>
                  <a:srgbClr val="9FE870"/>
                </a:solidFill>
              </a:rPr>
              <a:t>Synthetic ground truth → measurable recovery → a test we can rerun on real logs.</a:t>
            </a:r>
          </a:p>
        </p:txBody>
      </p:sp>
      <p:sp>
        <p:nvSpPr>
          <p:cNvPr id="392" name="TextBox 35"/>
          <p:cNvSpPr txBox="1"/>
          <p:nvPr/>
        </p:nvSpPr>
        <p:spPr>
          <a:xfrm>
            <a:off x="11176000" y="381000"/>
            <a:ext cx="381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6F7682"/>
                </a:solidFill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Rectangle 1"/>
          <p:cNvSpPr/>
          <p:nvPr/>
        </p:nvSpPr>
        <p:spPr>
          <a:xfrm>
            <a:off x="-584200" y="3970366"/>
            <a:ext cx="12192000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395" name="TextBox 2"/>
          <p:cNvSpPr txBox="1"/>
          <p:nvPr/>
        </p:nvSpPr>
        <p:spPr>
          <a:xfrm>
            <a:off x="812800" y="381000"/>
            <a:ext cx="6350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00">
                <a:solidFill>
                  <a:srgbClr val="898781"/>
                </a:solidFill>
              </a:rPr>
              <a:t>05  /  FEATURES</a:t>
            </a:r>
          </a:p>
        </p:txBody>
      </p:sp>
      <p:sp>
        <p:nvSpPr>
          <p:cNvPr id="396" name="TextBox 3"/>
          <p:cNvSpPr txBox="1"/>
          <p:nvPr/>
        </p:nvSpPr>
        <p:spPr>
          <a:xfrm>
            <a:off x="812800" y="812800"/>
            <a:ext cx="10795000" cy="609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400" b="1" dirty="0">
                <a:solidFill>
                  <a:srgbClr val="F0EFEC"/>
                </a:solidFill>
              </a:rPr>
              <a:t>10 features. Only 4 carry identity.</a:t>
            </a:r>
          </a:p>
        </p:txBody>
      </p:sp>
      <p:sp>
        <p:nvSpPr>
          <p:cNvPr id="397" name="TextBox 4"/>
          <p:cNvSpPr txBox="1"/>
          <p:nvPr/>
        </p:nvSpPr>
        <p:spPr>
          <a:xfrm>
            <a:off x="812800" y="1473200"/>
            <a:ext cx="10668000" cy="274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200">
                <a:solidFill>
                  <a:srgbClr val="C3C2B7"/>
                </a:solidFill>
              </a:rPr>
              <a:t>The ranker sees all 10. A fair ranker should be sensitive to the 6 merit features — and invariant to the 4 identity features.</a:t>
            </a:r>
          </a:p>
        </p:txBody>
      </p:sp>
      <p:sp>
        <p:nvSpPr>
          <p:cNvPr id="398" name="Rectangle 5"/>
          <p:cNvSpPr/>
          <p:nvPr/>
        </p:nvSpPr>
        <p:spPr>
          <a:xfrm>
            <a:off x="812800" y="2209800"/>
            <a:ext cx="4826000" cy="38354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399" name="TextBox 6"/>
          <p:cNvSpPr txBox="1"/>
          <p:nvPr/>
        </p:nvSpPr>
        <p:spPr>
          <a:xfrm>
            <a:off x="1066800" y="2438400"/>
            <a:ext cx="43180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D95926"/>
                </a:solidFill>
              </a:rPr>
              <a:t>IDENTITY-LINKED  /  4</a:t>
            </a:r>
          </a:p>
        </p:txBody>
      </p:sp>
      <p:sp>
        <p:nvSpPr>
          <p:cNvPr id="400" name="Rectangle 7"/>
          <p:cNvSpPr/>
          <p:nvPr/>
        </p:nvSpPr>
        <p:spPr>
          <a:xfrm>
            <a:off x="1066800" y="2819400"/>
            <a:ext cx="2082800" cy="1193800"/>
          </a:xfrm>
          <a:prstGeom prst="roundRect">
            <a:avLst/>
          </a:prstGeom>
          <a:solidFill>
            <a:srgbClr val="171C26"/>
          </a:solidFill>
          <a:ln w="9525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401" name="TextBox 8"/>
          <p:cNvSpPr txBox="1"/>
          <p:nvPr/>
        </p:nvSpPr>
        <p:spPr>
          <a:xfrm>
            <a:off x="1219200" y="2946400"/>
            <a:ext cx="17780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D95926"/>
                </a:solidFill>
              </a:rPr>
              <a:t>01</a:t>
            </a:r>
          </a:p>
        </p:txBody>
      </p:sp>
      <p:sp>
        <p:nvSpPr>
          <p:cNvPr id="402" name="TextBox 9"/>
          <p:cNvSpPr txBox="1"/>
          <p:nvPr/>
        </p:nvSpPr>
        <p:spPr>
          <a:xfrm>
            <a:off x="1219200" y="3175000"/>
            <a:ext cx="1778000" cy="274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0EFEC"/>
                </a:solidFill>
              </a:rPr>
              <a:t>Name</a:t>
            </a:r>
          </a:p>
        </p:txBody>
      </p:sp>
      <p:sp>
        <p:nvSpPr>
          <p:cNvPr id="403" name="TextBox 10"/>
          <p:cNvSpPr txBox="1"/>
          <p:nvPr/>
        </p:nvSpPr>
        <p:spPr>
          <a:xfrm>
            <a:off x="1219200" y="3505200"/>
            <a:ext cx="1778000" cy="3352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C3C2B7"/>
                </a:solidFill>
              </a:rPr>
              <a:t>Emily Carter</a:t>
            </a:r>
          </a:p>
          <a:p>
            <a:r>
              <a:rPr sz="800">
                <a:solidFill>
                  <a:srgbClr val="C3C2B7"/>
                </a:solidFill>
              </a:rPr>
              <a:t>James Carter</a:t>
            </a:r>
          </a:p>
        </p:txBody>
      </p:sp>
      <p:sp>
        <p:nvSpPr>
          <p:cNvPr id="404" name="Rectangle 11"/>
          <p:cNvSpPr/>
          <p:nvPr/>
        </p:nvSpPr>
        <p:spPr>
          <a:xfrm>
            <a:off x="3352800" y="2819400"/>
            <a:ext cx="2082800" cy="1193800"/>
          </a:xfrm>
          <a:prstGeom prst="roundRect">
            <a:avLst/>
          </a:prstGeom>
          <a:solidFill>
            <a:srgbClr val="171C26"/>
          </a:solidFill>
          <a:ln w="9525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405" name="TextBox 12"/>
          <p:cNvSpPr txBox="1"/>
          <p:nvPr/>
        </p:nvSpPr>
        <p:spPr>
          <a:xfrm>
            <a:off x="3505200" y="2946400"/>
            <a:ext cx="17780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D95926"/>
                </a:solidFill>
              </a:rPr>
              <a:t>02</a:t>
            </a:r>
          </a:p>
        </p:txBody>
      </p:sp>
      <p:sp>
        <p:nvSpPr>
          <p:cNvPr id="406" name="TextBox 13"/>
          <p:cNvSpPr txBox="1"/>
          <p:nvPr/>
        </p:nvSpPr>
        <p:spPr>
          <a:xfrm>
            <a:off x="3505200" y="3175000"/>
            <a:ext cx="1778000" cy="274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0EFEC"/>
                </a:solidFill>
              </a:rPr>
              <a:t>Pronouns</a:t>
            </a:r>
          </a:p>
        </p:txBody>
      </p:sp>
      <p:sp>
        <p:nvSpPr>
          <p:cNvPr id="407" name="TextBox 14"/>
          <p:cNvSpPr txBox="1"/>
          <p:nvPr/>
        </p:nvSpPr>
        <p:spPr>
          <a:xfrm>
            <a:off x="3505200" y="3505200"/>
            <a:ext cx="1778000" cy="3352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C3C2B7"/>
                </a:solidFill>
              </a:rPr>
              <a:t>she/her</a:t>
            </a:r>
          </a:p>
          <a:p>
            <a:r>
              <a:rPr sz="800">
                <a:solidFill>
                  <a:srgbClr val="C3C2B7"/>
                </a:solidFill>
              </a:rPr>
              <a:t>he/him</a:t>
            </a:r>
          </a:p>
        </p:txBody>
      </p:sp>
      <p:sp>
        <p:nvSpPr>
          <p:cNvPr id="408" name="Rectangle 15"/>
          <p:cNvSpPr/>
          <p:nvPr/>
        </p:nvSpPr>
        <p:spPr>
          <a:xfrm>
            <a:off x="1066800" y="4165600"/>
            <a:ext cx="2082800" cy="1193800"/>
          </a:xfrm>
          <a:prstGeom prst="roundRect">
            <a:avLst/>
          </a:prstGeom>
          <a:solidFill>
            <a:srgbClr val="171C26"/>
          </a:solidFill>
          <a:ln w="9525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409" name="TextBox 16"/>
          <p:cNvSpPr txBox="1"/>
          <p:nvPr/>
        </p:nvSpPr>
        <p:spPr>
          <a:xfrm>
            <a:off x="1219200" y="4292600"/>
            <a:ext cx="17780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D95926"/>
                </a:solidFill>
              </a:rPr>
              <a:t>03</a:t>
            </a:r>
          </a:p>
        </p:txBody>
      </p:sp>
      <p:sp>
        <p:nvSpPr>
          <p:cNvPr id="410" name="TextBox 17"/>
          <p:cNvSpPr txBox="1"/>
          <p:nvPr/>
        </p:nvSpPr>
        <p:spPr>
          <a:xfrm>
            <a:off x="1219200" y="4521200"/>
            <a:ext cx="1778000" cy="274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0EFEC"/>
                </a:solidFill>
              </a:rPr>
              <a:t>Affiliation</a:t>
            </a:r>
          </a:p>
        </p:txBody>
      </p:sp>
      <p:sp>
        <p:nvSpPr>
          <p:cNvPr id="411" name="TextBox 18"/>
          <p:cNvSpPr txBox="1"/>
          <p:nvPr/>
        </p:nvSpPr>
        <p:spPr>
          <a:xfrm>
            <a:off x="1219200" y="4851400"/>
            <a:ext cx="1778000" cy="3352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C3C2B7"/>
                </a:solidFill>
              </a:rPr>
              <a:t>women’s club</a:t>
            </a:r>
          </a:p>
          <a:p>
            <a:r>
              <a:rPr sz="800">
                <a:solidFill>
                  <a:srgbClr val="C3C2B7"/>
                </a:solidFill>
              </a:rPr>
              <a:t>fraternity</a:t>
            </a:r>
          </a:p>
        </p:txBody>
      </p:sp>
      <p:sp>
        <p:nvSpPr>
          <p:cNvPr id="412" name="Rectangle 19"/>
          <p:cNvSpPr/>
          <p:nvPr/>
        </p:nvSpPr>
        <p:spPr>
          <a:xfrm>
            <a:off x="3352800" y="4165600"/>
            <a:ext cx="2082800" cy="1193800"/>
          </a:xfrm>
          <a:prstGeom prst="roundRect">
            <a:avLst/>
          </a:prstGeom>
          <a:solidFill>
            <a:srgbClr val="171C26"/>
          </a:solidFill>
          <a:ln w="9525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413" name="TextBox 20"/>
          <p:cNvSpPr txBox="1"/>
          <p:nvPr/>
        </p:nvSpPr>
        <p:spPr>
          <a:xfrm>
            <a:off x="3505200" y="4292600"/>
            <a:ext cx="17780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D95926"/>
                </a:solidFill>
              </a:rPr>
              <a:t>04</a:t>
            </a:r>
          </a:p>
        </p:txBody>
      </p:sp>
      <p:sp>
        <p:nvSpPr>
          <p:cNvPr id="414" name="TextBox 21"/>
          <p:cNvSpPr txBox="1"/>
          <p:nvPr/>
        </p:nvSpPr>
        <p:spPr>
          <a:xfrm>
            <a:off x="3505200" y="4521200"/>
            <a:ext cx="1778000" cy="243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0EFEC"/>
                </a:solidFill>
              </a:rPr>
              <a:t>Career-gap reason</a:t>
            </a:r>
          </a:p>
        </p:txBody>
      </p:sp>
      <p:sp>
        <p:nvSpPr>
          <p:cNvPr id="415" name="TextBox 22"/>
          <p:cNvSpPr txBox="1"/>
          <p:nvPr/>
        </p:nvSpPr>
        <p:spPr>
          <a:xfrm>
            <a:off x="3505200" y="4851400"/>
            <a:ext cx="1778000" cy="3352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C3C2B7"/>
                </a:solidFill>
              </a:rPr>
              <a:t>parental leave</a:t>
            </a:r>
          </a:p>
          <a:p>
            <a:r>
              <a:rPr sz="800">
                <a:solidFill>
                  <a:srgbClr val="C3C2B7"/>
                </a:solidFill>
              </a:rPr>
              <a:t>sabbatical</a:t>
            </a:r>
          </a:p>
        </p:txBody>
      </p:sp>
      <p:sp>
        <p:nvSpPr>
          <p:cNvPr id="416" name="Rectangle 23"/>
          <p:cNvSpPr/>
          <p:nvPr/>
        </p:nvSpPr>
        <p:spPr>
          <a:xfrm>
            <a:off x="5943600" y="2209800"/>
            <a:ext cx="5435600" cy="38354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417" name="TextBox 24"/>
          <p:cNvSpPr txBox="1"/>
          <p:nvPr/>
        </p:nvSpPr>
        <p:spPr>
          <a:xfrm>
            <a:off x="6197600" y="2438400"/>
            <a:ext cx="49276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3987E5"/>
                </a:solidFill>
              </a:rPr>
              <a:t>MERIT  /  6</a:t>
            </a:r>
          </a:p>
        </p:txBody>
      </p:sp>
      <p:sp>
        <p:nvSpPr>
          <p:cNvPr id="418" name="Rectangle 25"/>
          <p:cNvSpPr/>
          <p:nvPr/>
        </p:nvSpPr>
        <p:spPr>
          <a:xfrm>
            <a:off x="6197600" y="2819400"/>
            <a:ext cx="2413000" cy="914400"/>
          </a:xfrm>
          <a:prstGeom prst="roundRect">
            <a:avLst/>
          </a:prstGeom>
          <a:solidFill>
            <a:srgbClr val="171C26"/>
          </a:solidFill>
          <a:ln w="9525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419" name="TextBox 26"/>
          <p:cNvSpPr txBox="1"/>
          <p:nvPr/>
        </p:nvSpPr>
        <p:spPr>
          <a:xfrm>
            <a:off x="6350000" y="2921000"/>
            <a:ext cx="21082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3987E5"/>
                </a:solidFill>
              </a:rPr>
              <a:t>05</a:t>
            </a:r>
          </a:p>
        </p:txBody>
      </p:sp>
      <p:sp>
        <p:nvSpPr>
          <p:cNvPr id="420" name="TextBox 27"/>
          <p:cNvSpPr txBox="1"/>
          <p:nvPr/>
        </p:nvSpPr>
        <p:spPr>
          <a:xfrm>
            <a:off x="6350000" y="3124200"/>
            <a:ext cx="2108200" cy="259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0EFEC"/>
                </a:solidFill>
              </a:rPr>
              <a:t>Skills match</a:t>
            </a:r>
          </a:p>
        </p:txBody>
      </p:sp>
      <p:sp>
        <p:nvSpPr>
          <p:cNvPr id="421" name="TextBox 28"/>
          <p:cNvSpPr txBox="1"/>
          <p:nvPr/>
        </p:nvSpPr>
        <p:spPr>
          <a:xfrm>
            <a:off x="6350000" y="3403600"/>
            <a:ext cx="21082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C3C2B7"/>
                </a:solidFill>
              </a:rPr>
              <a:t>4 of 6 required skills</a:t>
            </a:r>
          </a:p>
        </p:txBody>
      </p:sp>
      <p:sp>
        <p:nvSpPr>
          <p:cNvPr id="422" name="Rectangle 29"/>
          <p:cNvSpPr/>
          <p:nvPr/>
        </p:nvSpPr>
        <p:spPr>
          <a:xfrm>
            <a:off x="8763000" y="2819400"/>
            <a:ext cx="2413000" cy="914400"/>
          </a:xfrm>
          <a:prstGeom prst="roundRect">
            <a:avLst/>
          </a:prstGeom>
          <a:solidFill>
            <a:srgbClr val="171C26"/>
          </a:solidFill>
          <a:ln w="9525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423" name="TextBox 30"/>
          <p:cNvSpPr txBox="1"/>
          <p:nvPr/>
        </p:nvSpPr>
        <p:spPr>
          <a:xfrm>
            <a:off x="8915400" y="2921000"/>
            <a:ext cx="21082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3987E5"/>
                </a:solidFill>
              </a:rPr>
              <a:t>06</a:t>
            </a:r>
          </a:p>
        </p:txBody>
      </p:sp>
      <p:sp>
        <p:nvSpPr>
          <p:cNvPr id="424" name="TextBox 31"/>
          <p:cNvSpPr txBox="1"/>
          <p:nvPr/>
        </p:nvSpPr>
        <p:spPr>
          <a:xfrm>
            <a:off x="8915400" y="3124200"/>
            <a:ext cx="2108200" cy="259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0EFEC"/>
                </a:solidFill>
              </a:rPr>
              <a:t>Years experience</a:t>
            </a:r>
          </a:p>
        </p:txBody>
      </p:sp>
      <p:sp>
        <p:nvSpPr>
          <p:cNvPr id="425" name="TextBox 32"/>
          <p:cNvSpPr txBox="1"/>
          <p:nvPr/>
        </p:nvSpPr>
        <p:spPr>
          <a:xfrm>
            <a:off x="8915400" y="3403600"/>
            <a:ext cx="21082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C3C2B7"/>
                </a:solidFill>
              </a:rPr>
              <a:t>0–15 years</a:t>
            </a:r>
          </a:p>
        </p:txBody>
      </p:sp>
      <p:sp>
        <p:nvSpPr>
          <p:cNvPr id="426" name="Rectangle 33"/>
          <p:cNvSpPr/>
          <p:nvPr/>
        </p:nvSpPr>
        <p:spPr>
          <a:xfrm>
            <a:off x="6197600" y="3860800"/>
            <a:ext cx="2413000" cy="914400"/>
          </a:xfrm>
          <a:prstGeom prst="roundRect">
            <a:avLst/>
          </a:prstGeom>
          <a:solidFill>
            <a:srgbClr val="171C26"/>
          </a:solidFill>
          <a:ln w="9525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427" name="TextBox 34"/>
          <p:cNvSpPr txBox="1"/>
          <p:nvPr/>
        </p:nvSpPr>
        <p:spPr>
          <a:xfrm>
            <a:off x="6350000" y="3962400"/>
            <a:ext cx="21082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3987E5"/>
                </a:solidFill>
              </a:rPr>
              <a:t>07</a:t>
            </a:r>
          </a:p>
        </p:txBody>
      </p:sp>
      <p:sp>
        <p:nvSpPr>
          <p:cNvPr id="428" name="TextBox 35"/>
          <p:cNvSpPr txBox="1"/>
          <p:nvPr/>
        </p:nvSpPr>
        <p:spPr>
          <a:xfrm>
            <a:off x="6350000" y="4165600"/>
            <a:ext cx="2108200" cy="259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0EFEC"/>
                </a:solidFill>
              </a:rPr>
              <a:t>Education</a:t>
            </a:r>
          </a:p>
        </p:txBody>
      </p:sp>
      <p:sp>
        <p:nvSpPr>
          <p:cNvPr id="429" name="TextBox 36"/>
          <p:cNvSpPr txBox="1"/>
          <p:nvPr/>
        </p:nvSpPr>
        <p:spPr>
          <a:xfrm>
            <a:off x="6350000" y="4445000"/>
            <a:ext cx="21082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C3C2B7"/>
                </a:solidFill>
              </a:rPr>
              <a:t>BSc / MSc / PhD</a:t>
            </a:r>
          </a:p>
        </p:txBody>
      </p:sp>
      <p:sp>
        <p:nvSpPr>
          <p:cNvPr id="430" name="Rectangle 37"/>
          <p:cNvSpPr/>
          <p:nvPr/>
        </p:nvSpPr>
        <p:spPr>
          <a:xfrm>
            <a:off x="8763000" y="3860800"/>
            <a:ext cx="2413000" cy="914400"/>
          </a:xfrm>
          <a:prstGeom prst="roundRect">
            <a:avLst/>
          </a:prstGeom>
          <a:solidFill>
            <a:srgbClr val="171C26"/>
          </a:solidFill>
          <a:ln w="9525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431" name="TextBox 38"/>
          <p:cNvSpPr txBox="1"/>
          <p:nvPr/>
        </p:nvSpPr>
        <p:spPr>
          <a:xfrm>
            <a:off x="8915400" y="3962400"/>
            <a:ext cx="21082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3987E5"/>
                </a:solidFill>
              </a:rPr>
              <a:t>08</a:t>
            </a:r>
          </a:p>
        </p:txBody>
      </p:sp>
      <p:sp>
        <p:nvSpPr>
          <p:cNvPr id="432" name="TextBox 39"/>
          <p:cNvSpPr txBox="1"/>
          <p:nvPr/>
        </p:nvSpPr>
        <p:spPr>
          <a:xfrm>
            <a:off x="8915400" y="4165600"/>
            <a:ext cx="2108200" cy="259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0EFEC"/>
                </a:solidFill>
              </a:rPr>
              <a:t>Seniority</a:t>
            </a:r>
          </a:p>
        </p:txBody>
      </p:sp>
      <p:sp>
        <p:nvSpPr>
          <p:cNvPr id="433" name="TextBox 40"/>
          <p:cNvSpPr txBox="1"/>
          <p:nvPr/>
        </p:nvSpPr>
        <p:spPr>
          <a:xfrm>
            <a:off x="8915400" y="4445000"/>
            <a:ext cx="21082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C3C2B7"/>
                </a:solidFill>
              </a:rPr>
              <a:t>Junior → Lead</a:t>
            </a:r>
          </a:p>
        </p:txBody>
      </p:sp>
      <p:sp>
        <p:nvSpPr>
          <p:cNvPr id="434" name="Rectangle 41"/>
          <p:cNvSpPr/>
          <p:nvPr/>
        </p:nvSpPr>
        <p:spPr>
          <a:xfrm>
            <a:off x="6197600" y="4902200"/>
            <a:ext cx="2413000" cy="914400"/>
          </a:xfrm>
          <a:prstGeom prst="roundRect">
            <a:avLst/>
          </a:prstGeom>
          <a:solidFill>
            <a:srgbClr val="171C26"/>
          </a:solidFill>
          <a:ln w="9525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435" name="TextBox 42"/>
          <p:cNvSpPr txBox="1"/>
          <p:nvPr/>
        </p:nvSpPr>
        <p:spPr>
          <a:xfrm>
            <a:off x="6350000" y="5003800"/>
            <a:ext cx="21082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3987E5"/>
                </a:solidFill>
              </a:rPr>
              <a:t>09</a:t>
            </a:r>
          </a:p>
        </p:txBody>
      </p:sp>
      <p:sp>
        <p:nvSpPr>
          <p:cNvPr id="436" name="TextBox 43"/>
          <p:cNvSpPr txBox="1"/>
          <p:nvPr/>
        </p:nvSpPr>
        <p:spPr>
          <a:xfrm>
            <a:off x="6350000" y="5207000"/>
            <a:ext cx="2108200" cy="259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0EFEC"/>
                </a:solidFill>
              </a:rPr>
              <a:t>Certifications</a:t>
            </a:r>
          </a:p>
        </p:txBody>
      </p:sp>
      <p:sp>
        <p:nvSpPr>
          <p:cNvPr id="437" name="TextBox 44"/>
          <p:cNvSpPr txBox="1"/>
          <p:nvPr/>
        </p:nvSpPr>
        <p:spPr>
          <a:xfrm>
            <a:off x="6350000" y="5486400"/>
            <a:ext cx="21082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C3C2B7"/>
                </a:solidFill>
              </a:rPr>
              <a:t>0–4</a:t>
            </a:r>
          </a:p>
        </p:txBody>
      </p:sp>
      <p:sp>
        <p:nvSpPr>
          <p:cNvPr id="438" name="Rectangle 45"/>
          <p:cNvSpPr/>
          <p:nvPr/>
        </p:nvSpPr>
        <p:spPr>
          <a:xfrm>
            <a:off x="8763000" y="4902200"/>
            <a:ext cx="2413000" cy="914400"/>
          </a:xfrm>
          <a:prstGeom prst="roundRect">
            <a:avLst/>
          </a:prstGeom>
          <a:solidFill>
            <a:srgbClr val="171C26"/>
          </a:solidFill>
          <a:ln w="9525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439" name="TextBox 46"/>
          <p:cNvSpPr txBox="1"/>
          <p:nvPr/>
        </p:nvSpPr>
        <p:spPr>
          <a:xfrm>
            <a:off x="8915400" y="5003800"/>
            <a:ext cx="21082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3987E5"/>
                </a:solidFill>
              </a:rPr>
              <a:t>10</a:t>
            </a:r>
          </a:p>
        </p:txBody>
      </p:sp>
      <p:sp>
        <p:nvSpPr>
          <p:cNvPr id="440" name="TextBox 47"/>
          <p:cNvSpPr txBox="1"/>
          <p:nvPr/>
        </p:nvSpPr>
        <p:spPr>
          <a:xfrm>
            <a:off x="8915400" y="5207000"/>
            <a:ext cx="2108200" cy="259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0EFEC"/>
                </a:solidFill>
              </a:rPr>
              <a:t>Projects</a:t>
            </a:r>
          </a:p>
        </p:txBody>
      </p:sp>
      <p:sp>
        <p:nvSpPr>
          <p:cNvPr id="441" name="TextBox 48"/>
          <p:cNvSpPr txBox="1"/>
          <p:nvPr/>
        </p:nvSpPr>
        <p:spPr>
          <a:xfrm>
            <a:off x="8915400" y="5486400"/>
            <a:ext cx="21082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C3C2B7"/>
                </a:solidFill>
              </a:rPr>
              <a:t>1–8 shipped</a:t>
            </a:r>
          </a:p>
        </p:txBody>
      </p:sp>
      <p:sp>
        <p:nvSpPr>
          <p:cNvPr id="442" name="TextBox 49"/>
          <p:cNvSpPr txBox="1"/>
          <p:nvPr/>
        </p:nvSpPr>
        <p:spPr>
          <a:xfrm>
            <a:off x="812800" y="6172200"/>
            <a:ext cx="10668000" cy="243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000">
                <a:solidFill>
                  <a:srgbClr val="9FE870"/>
                </a:solidFill>
              </a:rPr>
              <a:t>Feature audit: name 42% of the gap  ·  pronouns 31%  ·  affiliation 5%  ·  career-gap reason 0%</a:t>
            </a:r>
          </a:p>
        </p:txBody>
      </p:sp>
      <p:sp>
        <p:nvSpPr>
          <p:cNvPr id="443" name="TextBox 50"/>
          <p:cNvSpPr txBox="1"/>
          <p:nvPr/>
        </p:nvSpPr>
        <p:spPr>
          <a:xfrm>
            <a:off x="11176000" y="381000"/>
            <a:ext cx="381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6F7682"/>
                </a:solidFill>
              </a:rPr>
              <a:t>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446" name="TextBox 2"/>
          <p:cNvSpPr txBox="1"/>
          <p:nvPr/>
        </p:nvSpPr>
        <p:spPr>
          <a:xfrm>
            <a:off x="812800" y="381000"/>
            <a:ext cx="6350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00">
                <a:solidFill>
                  <a:srgbClr val="898781"/>
                </a:solidFill>
              </a:rPr>
              <a:t>06  /  TEST 1 — BEHAVIOR</a:t>
            </a:r>
          </a:p>
        </p:txBody>
      </p:sp>
      <p:sp>
        <p:nvSpPr>
          <p:cNvPr id="447" name="TextBox 3"/>
          <p:cNvSpPr txBox="1"/>
          <p:nvPr/>
        </p:nvSpPr>
        <p:spPr>
          <a:xfrm>
            <a:off x="812800" y="812800"/>
            <a:ext cx="10541000" cy="609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0EFEC"/>
                </a:solidFill>
              </a:rPr>
              <a:t>Paired name-swap audit.</a:t>
            </a:r>
          </a:p>
        </p:txBody>
      </p:sp>
      <p:sp>
        <p:nvSpPr>
          <p:cNvPr id="448" name="TextBox 4"/>
          <p:cNvSpPr txBox="1"/>
          <p:nvPr/>
        </p:nvSpPr>
        <p:spPr>
          <a:xfrm>
            <a:off x="812800" y="1473200"/>
            <a:ext cx="10414000" cy="274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200">
                <a:solidFill>
                  <a:srgbClr val="C3C2B7"/>
                </a:solidFill>
              </a:rPr>
              <a:t>Same qualifications. Swap only the identity cues. Compare scores and shortlist rates.</a:t>
            </a:r>
          </a:p>
        </p:txBody>
      </p:sp>
      <p:sp>
        <p:nvSpPr>
          <p:cNvPr id="449" name="Rectangle 5"/>
          <p:cNvSpPr/>
          <p:nvPr/>
        </p:nvSpPr>
        <p:spPr>
          <a:xfrm>
            <a:off x="812800" y="2209800"/>
            <a:ext cx="4445000" cy="30226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450" name="TextBox 6"/>
          <p:cNvSpPr txBox="1"/>
          <p:nvPr/>
        </p:nvSpPr>
        <p:spPr>
          <a:xfrm>
            <a:off x="1066800" y="2438400"/>
            <a:ext cx="39370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898781"/>
                </a:solidFill>
              </a:rPr>
              <a:t>PROTOCOL</a:t>
            </a:r>
          </a:p>
        </p:txBody>
      </p:sp>
      <p:sp>
        <p:nvSpPr>
          <p:cNvPr id="451" name="TextBox 7"/>
          <p:cNvSpPr txBox="1"/>
          <p:nvPr/>
        </p:nvSpPr>
        <p:spPr>
          <a:xfrm>
            <a:off x="1066800" y="2768600"/>
            <a:ext cx="3937000" cy="259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100">
                <a:solidFill>
                  <a:srgbClr val="F0EFEC"/>
                </a:solidFill>
              </a:rPr>
              <a:t>1  Match on merit features.</a:t>
            </a:r>
          </a:p>
        </p:txBody>
      </p:sp>
      <p:sp>
        <p:nvSpPr>
          <p:cNvPr id="452" name="TextBox 8"/>
          <p:cNvSpPr txBox="1"/>
          <p:nvPr/>
        </p:nvSpPr>
        <p:spPr>
          <a:xfrm>
            <a:off x="1066800" y="3200400"/>
            <a:ext cx="3937000" cy="259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100">
                <a:solidFill>
                  <a:srgbClr val="F0EFEC"/>
                </a:solidFill>
              </a:rPr>
              <a:t>2  Swap name, pronouns, affiliation, gap reason.</a:t>
            </a:r>
          </a:p>
        </p:txBody>
      </p:sp>
      <p:sp>
        <p:nvSpPr>
          <p:cNvPr id="453" name="TextBox 9"/>
          <p:cNvSpPr txBox="1"/>
          <p:nvPr/>
        </p:nvSpPr>
        <p:spPr>
          <a:xfrm>
            <a:off x="1066800" y="3759200"/>
            <a:ext cx="3937000" cy="259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100">
                <a:solidFill>
                  <a:srgbClr val="F0EFEC"/>
                </a:solidFill>
              </a:rPr>
              <a:t>3  Score both with the same ranker.</a:t>
            </a:r>
          </a:p>
        </p:txBody>
      </p:sp>
      <p:sp>
        <p:nvSpPr>
          <p:cNvPr id="454" name="TextBox 10"/>
          <p:cNvSpPr txBox="1"/>
          <p:nvPr/>
        </p:nvSpPr>
        <p:spPr>
          <a:xfrm>
            <a:off x="1066800" y="4191000"/>
            <a:ext cx="3937000" cy="259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100">
                <a:solidFill>
                  <a:srgbClr val="F0EFEC"/>
                </a:solidFill>
              </a:rPr>
              <a:t>4  Compare paired differences, not group means.</a:t>
            </a:r>
          </a:p>
        </p:txBody>
      </p:sp>
      <p:sp>
        <p:nvSpPr>
          <p:cNvPr id="455" name="TextBox 11"/>
          <p:cNvSpPr txBox="1"/>
          <p:nvPr/>
        </p:nvSpPr>
        <p:spPr>
          <a:xfrm>
            <a:off x="1066800" y="4749800"/>
            <a:ext cx="3937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00">
                <a:solidFill>
                  <a:srgbClr val="898781"/>
                </a:solidFill>
              </a:rPr>
              <a:t>Repeat across 8 job families.</a:t>
            </a:r>
          </a:p>
        </p:txBody>
      </p:sp>
      <p:sp>
        <p:nvSpPr>
          <p:cNvPr id="456" name="Rectangle 12"/>
          <p:cNvSpPr/>
          <p:nvPr/>
        </p:nvSpPr>
        <p:spPr>
          <a:xfrm>
            <a:off x="5588000" y="2209800"/>
            <a:ext cx="2794000" cy="13716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457" name="TextBox 13"/>
          <p:cNvSpPr txBox="1"/>
          <p:nvPr/>
        </p:nvSpPr>
        <p:spPr>
          <a:xfrm>
            <a:off x="5791200" y="2387600"/>
            <a:ext cx="2413000" cy="2057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750">
                <a:solidFill>
                  <a:srgbClr val="898781"/>
                </a:solidFill>
              </a:rPr>
              <a:t>SCORE GAP  /  PAIR i, JOB j</a:t>
            </a:r>
          </a:p>
        </p:txBody>
      </p:sp>
      <p:sp>
        <p:nvSpPr>
          <p:cNvPr id="458" name="TextBox 14"/>
          <p:cNvSpPr txBox="1"/>
          <p:nvPr/>
        </p:nvSpPr>
        <p:spPr>
          <a:xfrm>
            <a:off x="5791200" y="2667000"/>
            <a:ext cx="2413000" cy="3048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400" b="1" dirty="0">
                <a:solidFill>
                  <a:srgbClr val="F0EFEC"/>
                </a:solidFill>
              </a:rPr>
              <a:t>dᵢⱼ = sᶠᵢⱼ − sᵐᵢⱼ</a:t>
            </a:r>
          </a:p>
        </p:txBody>
      </p:sp>
      <p:sp>
        <p:nvSpPr>
          <p:cNvPr id="459" name="TextBox 15"/>
          <p:cNvSpPr txBox="1"/>
          <p:nvPr/>
        </p:nvSpPr>
        <p:spPr>
          <a:xfrm>
            <a:off x="5791200" y="3098800"/>
            <a:ext cx="2413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00">
                <a:solidFill>
                  <a:srgbClr val="C3C2B7"/>
                </a:solidFill>
              </a:rPr>
              <a:t>The same CV, scored twice.</a:t>
            </a:r>
          </a:p>
        </p:txBody>
      </p:sp>
      <p:sp>
        <p:nvSpPr>
          <p:cNvPr id="460" name="Rectangle 16"/>
          <p:cNvSpPr/>
          <p:nvPr/>
        </p:nvSpPr>
        <p:spPr>
          <a:xfrm>
            <a:off x="8585200" y="2209800"/>
            <a:ext cx="2794000" cy="13716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461" name="TextBox 17"/>
          <p:cNvSpPr txBox="1"/>
          <p:nvPr/>
        </p:nvSpPr>
        <p:spPr>
          <a:xfrm>
            <a:off x="8788400" y="2387600"/>
            <a:ext cx="2413000" cy="2057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750">
                <a:solidFill>
                  <a:srgbClr val="898781"/>
                </a:solidFill>
              </a:rPr>
              <a:t>SHORTLIST GAP</a:t>
            </a:r>
          </a:p>
        </p:txBody>
      </p:sp>
      <p:sp>
        <p:nvSpPr>
          <p:cNvPr id="462" name="TextBox 18"/>
          <p:cNvSpPr txBox="1"/>
          <p:nvPr/>
        </p:nvSpPr>
        <p:spPr>
          <a:xfrm>
            <a:off x="8788400" y="2667000"/>
            <a:ext cx="2413000" cy="259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0EFEC"/>
                </a:solidFill>
              </a:rPr>
              <a:t>P(shortlist | F) − P(shortlist | M)</a:t>
            </a:r>
          </a:p>
        </p:txBody>
      </p:sp>
      <p:sp>
        <p:nvSpPr>
          <p:cNvPr id="463" name="TextBox 19"/>
          <p:cNvSpPr txBox="1"/>
          <p:nvPr/>
        </p:nvSpPr>
        <p:spPr>
          <a:xfrm>
            <a:off x="8788400" y="3098800"/>
            <a:ext cx="2413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00">
                <a:solidFill>
                  <a:srgbClr val="C3C2B7"/>
                </a:solidFill>
              </a:rPr>
              <a:t>At the real cutoff, not a proxy.</a:t>
            </a:r>
          </a:p>
        </p:txBody>
      </p:sp>
      <p:sp>
        <p:nvSpPr>
          <p:cNvPr id="464" name="Rectangle 20"/>
          <p:cNvSpPr/>
          <p:nvPr/>
        </p:nvSpPr>
        <p:spPr>
          <a:xfrm>
            <a:off x="5588000" y="3733800"/>
            <a:ext cx="2794000" cy="13716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465" name="TextBox 21"/>
          <p:cNvSpPr txBox="1"/>
          <p:nvPr/>
        </p:nvSpPr>
        <p:spPr>
          <a:xfrm>
            <a:off x="5791200" y="3911600"/>
            <a:ext cx="2413000" cy="2057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750">
                <a:solidFill>
                  <a:srgbClr val="898781"/>
                </a:solidFill>
              </a:rPr>
              <a:t>DEMOGRAPHIC PARITY</a:t>
            </a:r>
          </a:p>
        </p:txBody>
      </p:sp>
      <p:sp>
        <p:nvSpPr>
          <p:cNvPr id="466" name="TextBox 22"/>
          <p:cNvSpPr txBox="1"/>
          <p:nvPr/>
        </p:nvSpPr>
        <p:spPr>
          <a:xfrm>
            <a:off x="5791200" y="4191000"/>
            <a:ext cx="2413000" cy="243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0EFEC"/>
                </a:solidFill>
              </a:rPr>
              <a:t>Δ = |P(Ŷ=1 | A=F) − P(Ŷ=1 | A=M)|</a:t>
            </a:r>
          </a:p>
        </p:txBody>
      </p:sp>
      <p:sp>
        <p:nvSpPr>
          <p:cNvPr id="467" name="TextBox 23"/>
          <p:cNvSpPr txBox="1"/>
          <p:nvPr/>
        </p:nvSpPr>
        <p:spPr>
          <a:xfrm>
            <a:off x="5791200" y="4622800"/>
            <a:ext cx="2413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00">
                <a:solidFill>
                  <a:srgbClr val="C3C2B7"/>
                </a:solidFill>
              </a:rPr>
              <a:t>A one-number selection check.</a:t>
            </a:r>
          </a:p>
        </p:txBody>
      </p:sp>
      <p:sp>
        <p:nvSpPr>
          <p:cNvPr id="468" name="Rectangle 24"/>
          <p:cNvSpPr/>
          <p:nvPr/>
        </p:nvSpPr>
        <p:spPr>
          <a:xfrm>
            <a:off x="8585200" y="3733800"/>
            <a:ext cx="2794000" cy="13716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469" name="TextBox 25"/>
          <p:cNvSpPr txBox="1"/>
          <p:nvPr/>
        </p:nvSpPr>
        <p:spPr>
          <a:xfrm>
            <a:off x="8788400" y="3911600"/>
            <a:ext cx="2413000" cy="2057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750">
                <a:solidFill>
                  <a:srgbClr val="898781"/>
                </a:solidFill>
              </a:rPr>
              <a:t>BALANCED ACCURACY</a:t>
            </a:r>
          </a:p>
        </p:txBody>
      </p:sp>
      <p:sp>
        <p:nvSpPr>
          <p:cNvPr id="470" name="TextBox 26"/>
          <p:cNvSpPr txBox="1"/>
          <p:nvPr/>
        </p:nvSpPr>
        <p:spPr>
          <a:xfrm>
            <a:off x="8788400" y="4191000"/>
            <a:ext cx="2413000" cy="4099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950" b="1">
                <a:solidFill>
                  <a:srgbClr val="F0EFEC"/>
                </a:solidFill>
              </a:rPr>
              <a:t>½ (qualified acceptance</a:t>
            </a:r>
          </a:p>
          <a:p>
            <a:pPr>
              <a:lnSpc>
                <a:spcPct val="110000"/>
              </a:lnSpc>
            </a:pPr>
            <a:r>
              <a:rPr sz="950" b="1">
                <a:solidFill>
                  <a:srgbClr val="F0EFEC"/>
                </a:solidFill>
              </a:rPr>
              <a:t>+ unqualified rejection)</a:t>
            </a:r>
          </a:p>
        </p:txBody>
      </p:sp>
      <p:sp>
        <p:nvSpPr>
          <p:cNvPr id="471" name="TextBox 27"/>
          <p:cNvSpPr txBox="1"/>
          <p:nvPr/>
        </p:nvSpPr>
        <p:spPr>
          <a:xfrm>
            <a:off x="8788400" y="4622800"/>
            <a:ext cx="2413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00">
                <a:solidFill>
                  <a:srgbClr val="C3C2B7"/>
                </a:solidFill>
              </a:rPr>
              <a:t>Catches a model that rejects everyone.</a:t>
            </a:r>
          </a:p>
        </p:txBody>
      </p:sp>
      <p:sp>
        <p:nvSpPr>
          <p:cNvPr id="472" name="Rectangle 28"/>
          <p:cNvSpPr/>
          <p:nvPr/>
        </p:nvSpPr>
        <p:spPr>
          <a:xfrm>
            <a:off x="812800" y="5486400"/>
            <a:ext cx="10795000" cy="558800"/>
          </a:xfrm>
          <a:prstGeom prst="roundRect">
            <a:avLst/>
          </a:prstGeom>
          <a:solidFill>
            <a:srgbClr val="0F1D18"/>
          </a:solidFill>
          <a:ln w="12700">
            <a:solidFill>
              <a:srgbClr val="0CA3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473" name="TextBox 29"/>
          <p:cNvSpPr txBox="1"/>
          <p:nvPr/>
        </p:nvSpPr>
        <p:spPr>
          <a:xfrm>
            <a:off x="1066800" y="5626100"/>
            <a:ext cx="10287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00">
                <a:solidFill>
                  <a:srgbClr val="9FE870"/>
                </a:solidFill>
              </a:rPr>
              <a:t>PASS GATE   |score gap| ≤ 1 pp   ·   |shortlist gap| ≤ 2 pp   ·   AUC within 1 point of baseline</a:t>
            </a:r>
          </a:p>
        </p:txBody>
      </p:sp>
      <p:sp>
        <p:nvSpPr>
          <p:cNvPr id="474" name="TextBox 30"/>
          <p:cNvSpPr txBox="1"/>
          <p:nvPr/>
        </p:nvSpPr>
        <p:spPr>
          <a:xfrm>
            <a:off x="812800" y="6248400"/>
            <a:ext cx="101600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6F7682"/>
                </a:solidFill>
              </a:rPr>
              <a:t>Behavioral bias is the distance between outcome distributions — not a single model card score.</a:t>
            </a:r>
          </a:p>
        </p:txBody>
      </p:sp>
      <p:sp>
        <p:nvSpPr>
          <p:cNvPr id="475" name="TextBox 31"/>
          <p:cNvSpPr txBox="1"/>
          <p:nvPr/>
        </p:nvSpPr>
        <p:spPr>
          <a:xfrm>
            <a:off x="11176000" y="381000"/>
            <a:ext cx="381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6F7682"/>
                </a:solidFill>
              </a:rPr>
              <a:t>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478" name="TextBox 2"/>
          <p:cNvSpPr txBox="1"/>
          <p:nvPr/>
        </p:nvSpPr>
        <p:spPr>
          <a:xfrm>
            <a:off x="812800" y="381000"/>
            <a:ext cx="6350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00">
                <a:solidFill>
                  <a:srgbClr val="898781"/>
                </a:solidFill>
              </a:rPr>
              <a:t>07  /  TEST 2 — ACTIVATION SPACE</a:t>
            </a:r>
          </a:p>
        </p:txBody>
      </p:sp>
      <p:sp>
        <p:nvSpPr>
          <p:cNvPr id="479" name="TextBox 3"/>
          <p:cNvSpPr txBox="1"/>
          <p:nvPr/>
        </p:nvSpPr>
        <p:spPr>
          <a:xfrm>
            <a:off x="812800" y="812800"/>
            <a:ext cx="10795000" cy="609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0EFEC"/>
                </a:solidFill>
              </a:rPr>
              <a:t>Can a linear probe still read gender?</a:t>
            </a:r>
          </a:p>
        </p:txBody>
      </p:sp>
      <p:sp>
        <p:nvSpPr>
          <p:cNvPr id="480" name="TextBox 4"/>
          <p:cNvSpPr txBox="1"/>
          <p:nvPr/>
        </p:nvSpPr>
        <p:spPr>
          <a:xfrm>
            <a:off x="812800" y="1473200"/>
            <a:ext cx="10414000" cy="274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200">
                <a:solidFill>
                  <a:srgbClr val="C3C2B7"/>
                </a:solidFill>
              </a:rPr>
              <a:t>If a simple classifier recovers gender from the hidden state, the representation still carries it.</a:t>
            </a:r>
          </a:p>
        </p:txBody>
      </p:sp>
      <p:sp>
        <p:nvSpPr>
          <p:cNvPr id="481" name="Rectangle 5"/>
          <p:cNvSpPr/>
          <p:nvPr/>
        </p:nvSpPr>
        <p:spPr>
          <a:xfrm>
            <a:off x="812800" y="2209800"/>
            <a:ext cx="3530600" cy="34290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482" name="TextBox 6"/>
          <p:cNvSpPr txBox="1"/>
          <p:nvPr/>
        </p:nvSpPr>
        <p:spPr>
          <a:xfrm>
            <a:off x="1066800" y="2438400"/>
            <a:ext cx="30226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898781"/>
                </a:solidFill>
              </a:rPr>
              <a:t>THE QUESTION</a:t>
            </a:r>
          </a:p>
        </p:txBody>
      </p:sp>
      <p:sp>
        <p:nvSpPr>
          <p:cNvPr id="483" name="TextBox 7"/>
          <p:cNvSpPr txBox="1"/>
          <p:nvPr/>
        </p:nvSpPr>
        <p:spPr>
          <a:xfrm>
            <a:off x="1066800" y="2743200"/>
            <a:ext cx="3022600" cy="5230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8000"/>
              </a:lnSpc>
            </a:pPr>
            <a:r>
              <a:rPr sz="1200">
                <a:solidFill>
                  <a:srgbClr val="F0EFEC"/>
                </a:solidFill>
              </a:rPr>
              <a:t>Does the model’s internal state encode gender — after the name is gone?</a:t>
            </a:r>
          </a:p>
        </p:txBody>
      </p:sp>
      <p:sp>
        <p:nvSpPr>
          <p:cNvPr id="484" name="Rectangle 8"/>
          <p:cNvSpPr/>
          <p:nvPr/>
        </p:nvSpPr>
        <p:spPr>
          <a:xfrm>
            <a:off x="1066800" y="3683000"/>
            <a:ext cx="3022600" cy="990600"/>
          </a:xfrm>
          <a:prstGeom prst="roundRect">
            <a:avLst/>
          </a:prstGeom>
          <a:solidFill>
            <a:srgbClr val="171C26"/>
          </a:solidFill>
          <a:ln w="9525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485" name="TextBox 9"/>
          <p:cNvSpPr txBox="1"/>
          <p:nvPr/>
        </p:nvSpPr>
        <p:spPr>
          <a:xfrm>
            <a:off x="1244600" y="3860800"/>
            <a:ext cx="2667000" cy="2057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750">
                <a:solidFill>
                  <a:srgbClr val="898781"/>
                </a:solidFill>
              </a:rPr>
              <a:t>READ-OUT</a:t>
            </a:r>
          </a:p>
        </p:txBody>
      </p:sp>
      <p:sp>
        <p:nvSpPr>
          <p:cNvPr id="486" name="TextBox 10"/>
          <p:cNvSpPr txBox="1"/>
          <p:nvPr/>
        </p:nvSpPr>
        <p:spPr>
          <a:xfrm>
            <a:off x="1244600" y="4114800"/>
            <a:ext cx="2667000" cy="3352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D95926"/>
                </a:solidFill>
              </a:rPr>
              <a:t>P(gender | hₗ)</a:t>
            </a:r>
          </a:p>
        </p:txBody>
      </p:sp>
      <p:sp>
        <p:nvSpPr>
          <p:cNvPr id="487" name="TextBox 11"/>
          <p:cNvSpPr txBox="1"/>
          <p:nvPr/>
        </p:nvSpPr>
        <p:spPr>
          <a:xfrm>
            <a:off x="1066800" y="4876800"/>
            <a:ext cx="3022600" cy="3657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00">
                <a:solidFill>
                  <a:srgbClr val="C3C2B7"/>
                </a:solidFill>
              </a:rPr>
              <a:t>Chance = 50%. Above chance = linear information remains.</a:t>
            </a:r>
          </a:p>
        </p:txBody>
      </p:sp>
      <p:sp>
        <p:nvSpPr>
          <p:cNvPr id="488" name="Rectangle 12"/>
          <p:cNvSpPr/>
          <p:nvPr/>
        </p:nvSpPr>
        <p:spPr>
          <a:xfrm>
            <a:off x="4572000" y="2209800"/>
            <a:ext cx="2336800" cy="14986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489" name="TextBox 13"/>
          <p:cNvSpPr txBox="1"/>
          <p:nvPr/>
        </p:nvSpPr>
        <p:spPr>
          <a:xfrm>
            <a:off x="4775200" y="2387600"/>
            <a:ext cx="1930400" cy="2057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750">
                <a:solidFill>
                  <a:srgbClr val="898781"/>
                </a:solidFill>
              </a:rPr>
              <a:t>LINEAR PROBE</a:t>
            </a:r>
          </a:p>
        </p:txBody>
      </p:sp>
      <p:sp>
        <p:nvSpPr>
          <p:cNvPr id="490" name="TextBox 14"/>
          <p:cNvSpPr txBox="1"/>
          <p:nvPr/>
        </p:nvSpPr>
        <p:spPr>
          <a:xfrm>
            <a:off x="4775200" y="2667000"/>
            <a:ext cx="1930400" cy="259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100" b="1" dirty="0">
                <a:solidFill>
                  <a:srgbClr val="F0EFEC"/>
                </a:solidFill>
              </a:rPr>
              <a:t>Logistic classifier on hₗ</a:t>
            </a:r>
          </a:p>
        </p:txBody>
      </p:sp>
      <p:sp>
        <p:nvSpPr>
          <p:cNvPr id="491" name="TextBox 15"/>
          <p:cNvSpPr txBox="1"/>
          <p:nvPr/>
        </p:nvSpPr>
        <p:spPr>
          <a:xfrm>
            <a:off x="4775200" y="3200400"/>
            <a:ext cx="19304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C3C2B7"/>
                </a:solidFill>
              </a:rPr>
              <a:t>5-fold, grouped by CV pair</a:t>
            </a:r>
          </a:p>
        </p:txBody>
      </p:sp>
      <p:sp>
        <p:nvSpPr>
          <p:cNvPr id="492" name="Rectangle 16"/>
          <p:cNvSpPr/>
          <p:nvPr/>
        </p:nvSpPr>
        <p:spPr>
          <a:xfrm>
            <a:off x="7061200" y="2209800"/>
            <a:ext cx="2336800" cy="14986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493" name="TextBox 17"/>
          <p:cNvSpPr txBox="1"/>
          <p:nvPr/>
        </p:nvSpPr>
        <p:spPr>
          <a:xfrm>
            <a:off x="7264400" y="2387600"/>
            <a:ext cx="1930400" cy="2057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750">
                <a:solidFill>
                  <a:srgbClr val="898781"/>
                </a:solidFill>
              </a:rPr>
              <a:t>BIAS VECTOR</a:t>
            </a:r>
          </a:p>
        </p:txBody>
      </p:sp>
      <p:sp>
        <p:nvSpPr>
          <p:cNvPr id="494" name="TextBox 18"/>
          <p:cNvSpPr txBox="1"/>
          <p:nvPr/>
        </p:nvSpPr>
        <p:spPr>
          <a:xfrm>
            <a:off x="7264400" y="2667000"/>
            <a:ext cx="1930400" cy="243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0EFEC"/>
                </a:solidFill>
              </a:rPr>
              <a:t>vₗ = E[hₗ | F] − E[hₗ | M]</a:t>
            </a:r>
          </a:p>
        </p:txBody>
      </p:sp>
      <p:sp>
        <p:nvSpPr>
          <p:cNvPr id="495" name="TextBox 19"/>
          <p:cNvSpPr txBox="1"/>
          <p:nvPr/>
        </p:nvSpPr>
        <p:spPr>
          <a:xfrm>
            <a:off x="7264400" y="3200400"/>
            <a:ext cx="19304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C3C2B7"/>
                </a:solidFill>
              </a:rPr>
              <a:t>Mean difference direction</a:t>
            </a:r>
          </a:p>
        </p:txBody>
      </p:sp>
      <p:sp>
        <p:nvSpPr>
          <p:cNvPr id="496" name="Rectangle 20"/>
          <p:cNvSpPr/>
          <p:nvPr/>
        </p:nvSpPr>
        <p:spPr>
          <a:xfrm>
            <a:off x="9550400" y="2209800"/>
            <a:ext cx="2336800" cy="14986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497" name="TextBox 21"/>
          <p:cNvSpPr txBox="1"/>
          <p:nvPr/>
        </p:nvSpPr>
        <p:spPr>
          <a:xfrm>
            <a:off x="9753600" y="2387600"/>
            <a:ext cx="1930400" cy="2057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750">
                <a:solidFill>
                  <a:srgbClr val="898781"/>
                </a:solidFill>
              </a:rPr>
              <a:t>RELATIVE MAGNITUDE</a:t>
            </a:r>
          </a:p>
        </p:txBody>
      </p:sp>
      <p:sp>
        <p:nvSpPr>
          <p:cNvPr id="498" name="TextBox 22"/>
          <p:cNvSpPr txBox="1"/>
          <p:nvPr/>
        </p:nvSpPr>
        <p:spPr>
          <a:xfrm>
            <a:off x="9753600" y="2667000"/>
            <a:ext cx="1930400" cy="274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0EFEC"/>
                </a:solidFill>
              </a:rPr>
              <a:t>‖vₗ‖ / E‖hₗ‖</a:t>
            </a:r>
          </a:p>
        </p:txBody>
      </p:sp>
      <p:sp>
        <p:nvSpPr>
          <p:cNvPr id="499" name="TextBox 23"/>
          <p:cNvSpPr txBox="1"/>
          <p:nvPr/>
        </p:nvSpPr>
        <p:spPr>
          <a:xfrm>
            <a:off x="9753600" y="3200400"/>
            <a:ext cx="19304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C3C2B7"/>
                </a:solidFill>
              </a:rPr>
              <a:t>Scale-free signal size</a:t>
            </a:r>
          </a:p>
        </p:txBody>
      </p:sp>
      <p:sp>
        <p:nvSpPr>
          <p:cNvPr id="500" name="Rectangle 24"/>
          <p:cNvSpPr/>
          <p:nvPr/>
        </p:nvSpPr>
        <p:spPr>
          <a:xfrm>
            <a:off x="4572000" y="3860800"/>
            <a:ext cx="2336800" cy="14986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501" name="TextBox 25"/>
          <p:cNvSpPr txBox="1"/>
          <p:nvPr/>
        </p:nvSpPr>
        <p:spPr>
          <a:xfrm>
            <a:off x="4775200" y="4038600"/>
            <a:ext cx="1930400" cy="2057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750">
                <a:solidFill>
                  <a:srgbClr val="898781"/>
                </a:solidFill>
              </a:rPr>
              <a:t>PRESENCE</a:t>
            </a:r>
          </a:p>
        </p:txBody>
      </p:sp>
      <p:sp>
        <p:nvSpPr>
          <p:cNvPr id="502" name="TextBox 26"/>
          <p:cNvSpPr txBox="1"/>
          <p:nvPr/>
        </p:nvSpPr>
        <p:spPr>
          <a:xfrm>
            <a:off x="4775200" y="4318000"/>
            <a:ext cx="1930400" cy="274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0EFEC"/>
                </a:solidFill>
              </a:rPr>
              <a:t>‖vₗ‖ / ‖Σₗ‖</a:t>
            </a:r>
          </a:p>
        </p:txBody>
      </p:sp>
      <p:sp>
        <p:nvSpPr>
          <p:cNvPr id="503" name="TextBox 27"/>
          <p:cNvSpPr txBox="1"/>
          <p:nvPr/>
        </p:nvSpPr>
        <p:spPr>
          <a:xfrm>
            <a:off x="4775200" y="4724400"/>
            <a:ext cx="19304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C3C2B7"/>
                </a:solidFill>
              </a:rPr>
              <a:t>Bias relative to feature spread</a:t>
            </a:r>
          </a:p>
        </p:txBody>
      </p:sp>
      <p:sp>
        <p:nvSpPr>
          <p:cNvPr id="504" name="Rectangle 28"/>
          <p:cNvSpPr/>
          <p:nvPr/>
        </p:nvSpPr>
        <p:spPr>
          <a:xfrm>
            <a:off x="7061200" y="3860800"/>
            <a:ext cx="2336800" cy="14986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505" name="TextBox 29"/>
          <p:cNvSpPr txBox="1"/>
          <p:nvPr/>
        </p:nvSpPr>
        <p:spPr>
          <a:xfrm>
            <a:off x="7264400" y="4038600"/>
            <a:ext cx="1930400" cy="2057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750">
                <a:solidFill>
                  <a:srgbClr val="898781"/>
                </a:solidFill>
              </a:rPr>
              <a:t>RETENTION</a:t>
            </a:r>
          </a:p>
        </p:txBody>
      </p:sp>
      <p:sp>
        <p:nvSpPr>
          <p:cNvPr id="506" name="TextBox 30"/>
          <p:cNvSpPr txBox="1"/>
          <p:nvPr/>
        </p:nvSpPr>
        <p:spPr>
          <a:xfrm>
            <a:off x="7264400" y="4292600"/>
            <a:ext cx="1930400" cy="3429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750" b="1">
                <a:solidFill>
                  <a:srgbClr val="F0EFEC"/>
                </a:solidFill>
              </a:rPr>
              <a:t>R = (Presence(M′) − Presence(B))</a:t>
            </a:r>
          </a:p>
          <a:p>
            <a:pPr>
              <a:lnSpc>
                <a:spcPct val="110000"/>
              </a:lnSpc>
            </a:pPr>
            <a:r>
              <a:rPr sz="750" b="1">
                <a:solidFill>
                  <a:srgbClr val="F0EFEC"/>
                </a:solidFill>
              </a:rPr>
              <a:t>/ (Presence(M_base) − Presence(B))</a:t>
            </a:r>
          </a:p>
        </p:txBody>
      </p:sp>
      <p:sp>
        <p:nvSpPr>
          <p:cNvPr id="507" name="TextBox 31"/>
          <p:cNvSpPr txBox="1"/>
          <p:nvPr/>
        </p:nvSpPr>
        <p:spPr>
          <a:xfrm>
            <a:off x="7264400" y="4902200"/>
            <a:ext cx="1930400" cy="3200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750">
                <a:solidFill>
                  <a:srgbClr val="C3C2B7"/>
                </a:solidFill>
              </a:rPr>
              <a:t>How much bias is left vs a blind baseline</a:t>
            </a:r>
          </a:p>
        </p:txBody>
      </p:sp>
      <p:sp>
        <p:nvSpPr>
          <p:cNvPr id="508" name="Rectangle 32"/>
          <p:cNvSpPr/>
          <p:nvPr/>
        </p:nvSpPr>
        <p:spPr>
          <a:xfrm>
            <a:off x="9550400" y="3860800"/>
            <a:ext cx="2336800" cy="14986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509" name="TextBox 33"/>
          <p:cNvSpPr txBox="1"/>
          <p:nvPr/>
        </p:nvSpPr>
        <p:spPr>
          <a:xfrm>
            <a:off x="9753600" y="4038600"/>
            <a:ext cx="1930400" cy="2057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750">
                <a:solidFill>
                  <a:srgbClr val="898781"/>
                </a:solidFill>
              </a:rPr>
              <a:t>COSINE SIMILARITY</a:t>
            </a:r>
          </a:p>
        </p:txBody>
      </p:sp>
      <p:sp>
        <p:nvSpPr>
          <p:cNvPr id="510" name="TextBox 34"/>
          <p:cNvSpPr txBox="1"/>
          <p:nvPr/>
        </p:nvSpPr>
        <p:spPr>
          <a:xfrm>
            <a:off x="9753600" y="4318000"/>
            <a:ext cx="1930400" cy="243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0EFEC"/>
                </a:solidFill>
              </a:rPr>
              <a:t>cos(ψ_after, ψ_bias)</a:t>
            </a:r>
          </a:p>
        </p:txBody>
      </p:sp>
      <p:sp>
        <p:nvSpPr>
          <p:cNvPr id="511" name="TextBox 35"/>
          <p:cNvSpPr txBox="1"/>
          <p:nvPr/>
        </p:nvSpPr>
        <p:spPr>
          <a:xfrm>
            <a:off x="9753600" y="4724400"/>
            <a:ext cx="19304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C3C2B7"/>
                </a:solidFill>
              </a:rPr>
              <a:t>Alignment with the original direction</a:t>
            </a:r>
          </a:p>
        </p:txBody>
      </p:sp>
      <p:sp>
        <p:nvSpPr>
          <p:cNvPr id="512" name="TextBox 36"/>
          <p:cNvSpPr txBox="1"/>
          <p:nvPr/>
        </p:nvSpPr>
        <p:spPr>
          <a:xfrm>
            <a:off x="812800" y="5867400"/>
            <a:ext cx="10668000" cy="2895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300">
                <a:solidFill>
                  <a:srgbClr val="9FE870"/>
                </a:solidFill>
              </a:rPr>
              <a:t>Behavior can look fair while the representation still separates groups.</a:t>
            </a:r>
          </a:p>
        </p:txBody>
      </p:sp>
      <p:sp>
        <p:nvSpPr>
          <p:cNvPr id="513" name="TextBox 37"/>
          <p:cNvSpPr txBox="1"/>
          <p:nvPr/>
        </p:nvSpPr>
        <p:spPr>
          <a:xfrm>
            <a:off x="812800" y="6350000"/>
            <a:ext cx="96520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6F7682"/>
                </a:solidFill>
              </a:rPr>
              <a:t>All metrics computed at layer 6; probe accuracy reported out-of-fold.</a:t>
            </a:r>
          </a:p>
        </p:txBody>
      </p:sp>
      <p:sp>
        <p:nvSpPr>
          <p:cNvPr id="514" name="TextBox 38"/>
          <p:cNvSpPr txBox="1"/>
          <p:nvPr/>
        </p:nvSpPr>
        <p:spPr>
          <a:xfrm>
            <a:off x="11176000" y="381000"/>
            <a:ext cx="381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6F7682"/>
                </a:solidFill>
              </a:rPr>
              <a:t>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7" name="Picture 1" descr="gap_by_mitigation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18" name="TextBox 2"/>
          <p:cNvSpPr txBox="1"/>
          <p:nvPr/>
        </p:nvSpPr>
        <p:spPr>
          <a:xfrm>
            <a:off x="11633200" y="6527800"/>
            <a:ext cx="3556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6F7682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3" name="Picture 2" descr="feature_gap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22" name="TextBox 2"/>
          <p:cNvSpPr txBox="1"/>
          <p:nvPr/>
        </p:nvSpPr>
        <p:spPr>
          <a:xfrm>
            <a:off x="11633200" y="6527800"/>
            <a:ext cx="3556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6F7682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3" name="Picture 2" descr="activation_pca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26" name="TextBox 2"/>
          <p:cNvSpPr txBox="1"/>
          <p:nvPr/>
        </p:nvSpPr>
        <p:spPr>
          <a:xfrm>
            <a:off x="11633200" y="6527800"/>
            <a:ext cx="3556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6F7682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9" name="Picture 1" descr="audit_console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30" name="TextBox 2"/>
          <p:cNvSpPr txBox="1"/>
          <p:nvPr/>
        </p:nvSpPr>
        <p:spPr>
          <a:xfrm>
            <a:off x="11633200" y="6527800"/>
            <a:ext cx="3556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800">
                <a:solidFill>
                  <a:srgbClr val="6F7682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533" name="TextBox 2"/>
          <p:cNvSpPr txBox="1"/>
          <p:nvPr/>
        </p:nvSpPr>
        <p:spPr>
          <a:xfrm>
            <a:off x="812800" y="381000"/>
            <a:ext cx="6350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00">
                <a:solidFill>
                  <a:srgbClr val="898781"/>
                </a:solidFill>
              </a:rPr>
              <a:t>08  /  SOLUTION</a:t>
            </a:r>
          </a:p>
        </p:txBody>
      </p:sp>
      <p:sp>
        <p:nvSpPr>
          <p:cNvPr id="534" name="TextBox 3"/>
          <p:cNvSpPr txBox="1"/>
          <p:nvPr/>
        </p:nvSpPr>
        <p:spPr>
          <a:xfrm>
            <a:off x="812800" y="812800"/>
            <a:ext cx="10795000" cy="579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0EFEC"/>
                </a:solidFill>
              </a:rPr>
              <a:t>Scrub the representation. Gate the behavior.</a:t>
            </a:r>
          </a:p>
        </p:txBody>
      </p:sp>
      <p:sp>
        <p:nvSpPr>
          <p:cNvPr id="535" name="TextBox 4"/>
          <p:cNvSpPr txBox="1"/>
          <p:nvPr/>
        </p:nvSpPr>
        <p:spPr>
          <a:xfrm>
            <a:off x="812800" y="1473200"/>
            <a:ext cx="10541000" cy="274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200">
                <a:solidFill>
                  <a:srgbClr val="C3C2B7"/>
                </a:solidFill>
              </a:rPr>
              <a:t>A closed-form edit inside the model, plus a deployment gate that refuses to ship on one metric.</a:t>
            </a:r>
          </a:p>
        </p:txBody>
      </p:sp>
      <p:sp>
        <p:nvSpPr>
          <p:cNvPr id="536" name="Rectangle 5"/>
          <p:cNvSpPr/>
          <p:nvPr/>
        </p:nvSpPr>
        <p:spPr>
          <a:xfrm>
            <a:off x="812800" y="2209800"/>
            <a:ext cx="2413000" cy="14224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537" name="TextBox 6"/>
          <p:cNvSpPr txBox="1"/>
          <p:nvPr/>
        </p:nvSpPr>
        <p:spPr>
          <a:xfrm>
            <a:off x="1016000" y="2413000"/>
            <a:ext cx="20066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898781"/>
                </a:solidFill>
              </a:rPr>
              <a:t>01  /  SCAN</a:t>
            </a:r>
          </a:p>
        </p:txBody>
      </p:sp>
      <p:sp>
        <p:nvSpPr>
          <p:cNvPr id="538" name="TextBox 7"/>
          <p:cNvSpPr txBox="1"/>
          <p:nvPr/>
        </p:nvSpPr>
        <p:spPr>
          <a:xfrm>
            <a:off x="1016000" y="2692400"/>
            <a:ext cx="2006600" cy="3048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0EFEC"/>
                </a:solidFill>
              </a:rPr>
              <a:t>Paired audit</a:t>
            </a:r>
          </a:p>
        </p:txBody>
      </p:sp>
      <p:sp>
        <p:nvSpPr>
          <p:cNvPr id="539" name="TextBox 8"/>
          <p:cNvSpPr txBox="1"/>
          <p:nvPr/>
        </p:nvSpPr>
        <p:spPr>
          <a:xfrm>
            <a:off x="1016000" y="3149600"/>
            <a:ext cx="2006600" cy="2209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50">
                <a:solidFill>
                  <a:srgbClr val="C3C2B7"/>
                </a:solidFill>
              </a:rPr>
              <a:t>Find the leak channels</a:t>
            </a:r>
          </a:p>
        </p:txBody>
      </p:sp>
      <p:sp>
        <p:nvSpPr>
          <p:cNvPr id="540" name="Arrow 9"/>
          <p:cNvSpPr/>
          <p:nvPr/>
        </p:nvSpPr>
        <p:spPr>
          <a:xfrm>
            <a:off x="3302000" y="2730500"/>
            <a:ext cx="203200" cy="228600"/>
          </a:xfrm>
          <a:prstGeom prst="rightArrow">
            <a:avLst/>
          </a:prstGeom>
          <a:solidFill>
            <a:srgbClr val="D959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541" name="Rectangle 10"/>
          <p:cNvSpPr/>
          <p:nvPr/>
        </p:nvSpPr>
        <p:spPr>
          <a:xfrm>
            <a:off x="3581400" y="2209800"/>
            <a:ext cx="2413000" cy="14224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542" name="TextBox 11"/>
          <p:cNvSpPr txBox="1"/>
          <p:nvPr/>
        </p:nvSpPr>
        <p:spPr>
          <a:xfrm>
            <a:off x="3784600" y="2413000"/>
            <a:ext cx="20066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898781"/>
                </a:solidFill>
              </a:rPr>
              <a:t>02  /  ERASE</a:t>
            </a:r>
          </a:p>
        </p:txBody>
      </p:sp>
      <p:sp>
        <p:nvSpPr>
          <p:cNvPr id="543" name="TextBox 12"/>
          <p:cNvSpPr txBox="1"/>
          <p:nvPr/>
        </p:nvSpPr>
        <p:spPr>
          <a:xfrm>
            <a:off x="3784600" y="2692400"/>
            <a:ext cx="2006600" cy="3048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95926"/>
                </a:solidFill>
              </a:rPr>
              <a:t>LEACE</a:t>
            </a:r>
          </a:p>
        </p:txBody>
      </p:sp>
      <p:sp>
        <p:nvSpPr>
          <p:cNvPr id="544" name="TextBox 13"/>
          <p:cNvSpPr txBox="1"/>
          <p:nvPr/>
        </p:nvSpPr>
        <p:spPr>
          <a:xfrm>
            <a:off x="3784600" y="3149600"/>
            <a:ext cx="2006600" cy="2209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50">
                <a:solidFill>
                  <a:srgbClr val="C3C2B7"/>
                </a:solidFill>
              </a:rPr>
              <a:t>Project out gender subspace</a:t>
            </a:r>
          </a:p>
        </p:txBody>
      </p:sp>
      <p:sp>
        <p:nvSpPr>
          <p:cNvPr id="545" name="Arrow 14"/>
          <p:cNvSpPr/>
          <p:nvPr/>
        </p:nvSpPr>
        <p:spPr>
          <a:xfrm>
            <a:off x="6070600" y="2730500"/>
            <a:ext cx="203200" cy="228600"/>
          </a:xfrm>
          <a:prstGeom prst="rightArrow">
            <a:avLst/>
          </a:prstGeom>
          <a:solidFill>
            <a:srgbClr val="D959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546" name="Rectangle 15"/>
          <p:cNvSpPr/>
          <p:nvPr/>
        </p:nvSpPr>
        <p:spPr>
          <a:xfrm>
            <a:off x="6350000" y="2209800"/>
            <a:ext cx="2413000" cy="14224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547" name="TextBox 16"/>
          <p:cNvSpPr txBox="1"/>
          <p:nvPr/>
        </p:nvSpPr>
        <p:spPr>
          <a:xfrm>
            <a:off x="6553200" y="2413000"/>
            <a:ext cx="20066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898781"/>
                </a:solidFill>
              </a:rPr>
              <a:t>03  /  RECALIBRATE</a:t>
            </a:r>
          </a:p>
        </p:txBody>
      </p:sp>
      <p:sp>
        <p:nvSpPr>
          <p:cNvPr id="548" name="TextBox 17"/>
          <p:cNvSpPr txBox="1"/>
          <p:nvPr/>
        </p:nvSpPr>
        <p:spPr>
          <a:xfrm>
            <a:off x="6553200" y="2692400"/>
            <a:ext cx="2006600" cy="3048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0EFEC"/>
                </a:solidFill>
              </a:rPr>
              <a:t>Linear head</a:t>
            </a:r>
          </a:p>
        </p:txBody>
      </p:sp>
      <p:sp>
        <p:nvSpPr>
          <p:cNvPr id="549" name="TextBox 18"/>
          <p:cNvSpPr txBox="1"/>
          <p:nvPr/>
        </p:nvSpPr>
        <p:spPr>
          <a:xfrm>
            <a:off x="6553200" y="3149600"/>
            <a:ext cx="2006600" cy="2209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50">
                <a:solidFill>
                  <a:srgbClr val="C3C2B7"/>
                </a:solidFill>
              </a:rPr>
              <a:t>AUC 0.742 → 0.735</a:t>
            </a:r>
          </a:p>
        </p:txBody>
      </p:sp>
      <p:sp>
        <p:nvSpPr>
          <p:cNvPr id="550" name="Arrow 19"/>
          <p:cNvSpPr/>
          <p:nvPr/>
        </p:nvSpPr>
        <p:spPr>
          <a:xfrm>
            <a:off x="8839200" y="2730500"/>
            <a:ext cx="203200" cy="228600"/>
          </a:xfrm>
          <a:prstGeom prst="rightArrow">
            <a:avLst/>
          </a:prstGeom>
          <a:solidFill>
            <a:srgbClr val="D959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551" name="Rectangle 20"/>
          <p:cNvSpPr/>
          <p:nvPr/>
        </p:nvSpPr>
        <p:spPr>
          <a:xfrm>
            <a:off x="9118600" y="2209800"/>
            <a:ext cx="2413000" cy="14224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552" name="TextBox 21"/>
          <p:cNvSpPr txBox="1"/>
          <p:nvPr/>
        </p:nvSpPr>
        <p:spPr>
          <a:xfrm>
            <a:off x="9321800" y="2413000"/>
            <a:ext cx="20066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898781"/>
                </a:solidFill>
              </a:rPr>
              <a:t>04  /  GATE</a:t>
            </a:r>
          </a:p>
        </p:txBody>
      </p:sp>
      <p:sp>
        <p:nvSpPr>
          <p:cNvPr id="553" name="TextBox 22"/>
          <p:cNvSpPr txBox="1"/>
          <p:nvPr/>
        </p:nvSpPr>
        <p:spPr>
          <a:xfrm>
            <a:off x="9321800" y="2692400"/>
            <a:ext cx="2006600" cy="3048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CA30C"/>
                </a:solidFill>
              </a:rPr>
              <a:t>4 checks</a:t>
            </a:r>
          </a:p>
        </p:txBody>
      </p:sp>
      <p:sp>
        <p:nvSpPr>
          <p:cNvPr id="554" name="TextBox 23"/>
          <p:cNvSpPr txBox="1"/>
          <p:nvPr/>
        </p:nvSpPr>
        <p:spPr>
          <a:xfrm>
            <a:off x="9321800" y="3149600"/>
            <a:ext cx="2006600" cy="2209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50">
                <a:solidFill>
                  <a:srgbClr val="C3C2B7"/>
                </a:solidFill>
              </a:rPr>
              <a:t>Ship only if all pass</a:t>
            </a:r>
          </a:p>
        </p:txBody>
      </p:sp>
      <p:sp>
        <p:nvSpPr>
          <p:cNvPr id="555" name="Rectangle 24"/>
          <p:cNvSpPr/>
          <p:nvPr/>
        </p:nvSpPr>
        <p:spPr>
          <a:xfrm>
            <a:off x="812800" y="3987800"/>
            <a:ext cx="5461000" cy="18542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556" name="TextBox 25"/>
          <p:cNvSpPr txBox="1"/>
          <p:nvPr/>
        </p:nvSpPr>
        <p:spPr>
          <a:xfrm>
            <a:off x="1066800" y="4191000"/>
            <a:ext cx="49530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898781"/>
                </a:solidFill>
              </a:rPr>
              <a:t>THE EDIT</a:t>
            </a:r>
          </a:p>
        </p:txBody>
      </p:sp>
      <p:sp>
        <p:nvSpPr>
          <p:cNvPr id="557" name="TextBox 26"/>
          <p:cNvSpPr txBox="1"/>
          <p:nvPr/>
        </p:nvSpPr>
        <p:spPr>
          <a:xfrm>
            <a:off x="1066800" y="4495800"/>
            <a:ext cx="4953000" cy="457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400" b="1" dirty="0">
                <a:solidFill>
                  <a:srgbClr val="F0EFEC"/>
                </a:solidFill>
              </a:rPr>
              <a:t>r(h) = h − P h</a:t>
            </a:r>
          </a:p>
        </p:txBody>
      </p:sp>
      <p:sp>
        <p:nvSpPr>
          <p:cNvPr id="558" name="TextBox 27"/>
          <p:cNvSpPr txBox="1"/>
          <p:nvPr/>
        </p:nvSpPr>
        <p:spPr>
          <a:xfrm>
            <a:off x="1066800" y="5054600"/>
            <a:ext cx="4953000" cy="424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950">
                <a:solidFill>
                  <a:srgbClr val="C3C2B7"/>
                </a:solidFill>
              </a:rPr>
              <a:t>P projects out the gender direction. Closed-form, deterministic, and applied to standardized layer-6 states.</a:t>
            </a:r>
          </a:p>
        </p:txBody>
      </p:sp>
      <p:sp>
        <p:nvSpPr>
          <p:cNvPr id="559" name="Rectangle 28"/>
          <p:cNvSpPr/>
          <p:nvPr/>
        </p:nvSpPr>
        <p:spPr>
          <a:xfrm>
            <a:off x="6578600" y="3987800"/>
            <a:ext cx="4800600" cy="18542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560" name="TextBox 29"/>
          <p:cNvSpPr txBox="1"/>
          <p:nvPr/>
        </p:nvSpPr>
        <p:spPr>
          <a:xfrm>
            <a:off x="6832600" y="4191000"/>
            <a:ext cx="42926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898781"/>
                </a:solidFill>
              </a:rPr>
              <a:t>WHY IT FITS AN ATS</a:t>
            </a:r>
          </a:p>
        </p:txBody>
      </p:sp>
      <p:sp>
        <p:nvSpPr>
          <p:cNvPr id="561" name="TextBox 30"/>
          <p:cNvSpPr txBox="1"/>
          <p:nvPr/>
        </p:nvSpPr>
        <p:spPr>
          <a:xfrm>
            <a:off x="6832600" y="4470400"/>
            <a:ext cx="4292600" cy="8153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sz="950">
                <a:solidFill>
                  <a:srgbClr val="C3C2B7"/>
                </a:solidFill>
              </a:rPr>
              <a:t>• No retraining from scratch — only the head is recalibrated.</a:t>
            </a:r>
          </a:p>
          <a:p>
            <a:pPr>
              <a:lnSpc>
                <a:spcPct val="125000"/>
              </a:lnSpc>
            </a:pPr>
            <a:r>
              <a:rPr sz="950">
                <a:solidFill>
                  <a:srgbClr val="C3C2B7"/>
                </a:solidFill>
              </a:rPr>
              <a:t>• Edits the representation, not the applicant.</a:t>
            </a:r>
          </a:p>
          <a:p>
            <a:pPr>
              <a:lnSpc>
                <a:spcPct val="125000"/>
              </a:lnSpc>
            </a:pPr>
            <a:r>
              <a:rPr sz="950">
                <a:solidFill>
                  <a:srgbClr val="C3C2B7"/>
                </a:solidFill>
              </a:rPr>
              <a:t>• Cheap enough to rerun on every model update.</a:t>
            </a:r>
          </a:p>
          <a:p>
            <a:pPr>
              <a:lnSpc>
                <a:spcPct val="125000"/>
              </a:lnSpc>
            </a:pPr>
            <a:r>
              <a:rPr sz="950">
                <a:solidFill>
                  <a:srgbClr val="C3C2B7"/>
                </a:solidFill>
              </a:rPr>
              <a:t>• Fails loudly when the probe or the gap returns.</a:t>
            </a:r>
          </a:p>
        </p:txBody>
      </p:sp>
      <p:sp>
        <p:nvSpPr>
          <p:cNvPr id="562" name="TextBox 31"/>
          <p:cNvSpPr txBox="1"/>
          <p:nvPr/>
        </p:nvSpPr>
        <p:spPr>
          <a:xfrm>
            <a:off x="812800" y="6096000"/>
            <a:ext cx="10668000" cy="2895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300">
                <a:solidFill>
                  <a:srgbClr val="9FE870"/>
                </a:solidFill>
              </a:rPr>
              <a:t>The model changes. The applicant does not have to.</a:t>
            </a:r>
          </a:p>
        </p:txBody>
      </p:sp>
      <p:sp>
        <p:nvSpPr>
          <p:cNvPr id="563" name="TextBox 32"/>
          <p:cNvSpPr txBox="1"/>
          <p:nvPr/>
        </p:nvSpPr>
        <p:spPr>
          <a:xfrm>
            <a:off x="11176000" y="381000"/>
            <a:ext cx="381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6F7682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566" name="TextBox 2"/>
          <p:cNvSpPr txBox="1"/>
          <p:nvPr/>
        </p:nvSpPr>
        <p:spPr>
          <a:xfrm>
            <a:off x="812800" y="381000"/>
            <a:ext cx="6350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00">
                <a:solidFill>
                  <a:srgbClr val="898781"/>
                </a:solidFill>
              </a:rPr>
              <a:t>09  /  LANDSCAPE</a:t>
            </a:r>
          </a:p>
        </p:txBody>
      </p:sp>
      <p:sp>
        <p:nvSpPr>
          <p:cNvPr id="567" name="TextBox 3"/>
          <p:cNvSpPr txBox="1"/>
          <p:nvPr/>
        </p:nvSpPr>
        <p:spPr>
          <a:xfrm>
            <a:off x="812800" y="812800"/>
            <a:ext cx="10795000" cy="548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0EFEC"/>
                </a:solidFill>
              </a:rPr>
              <a:t>Existing fixes stop at the score. This one goes inside.</a:t>
            </a:r>
          </a:p>
        </p:txBody>
      </p:sp>
      <p:sp>
        <p:nvSpPr>
          <p:cNvPr id="568" name="TextBox 4"/>
          <p:cNvSpPr txBox="1"/>
          <p:nvPr/>
        </p:nvSpPr>
        <p:spPr>
          <a:xfrm>
            <a:off x="812800" y="1422400"/>
            <a:ext cx="10160000" cy="274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200">
                <a:solidFill>
                  <a:srgbClr val="C3C2B7"/>
                </a:solidFill>
              </a:rPr>
              <a:t>Six families of mitigation. Each leaves a different hole.</a:t>
            </a:r>
          </a:p>
        </p:txBody>
      </p:sp>
      <p:sp>
        <p:nvSpPr>
          <p:cNvPr id="569" name="TextBox 5"/>
          <p:cNvSpPr txBox="1"/>
          <p:nvPr/>
        </p:nvSpPr>
        <p:spPr>
          <a:xfrm>
            <a:off x="1016000" y="1930400"/>
            <a:ext cx="20320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898781"/>
                </a:solidFill>
              </a:rPr>
              <a:t>METHOD</a:t>
            </a:r>
          </a:p>
        </p:txBody>
      </p:sp>
      <p:sp>
        <p:nvSpPr>
          <p:cNvPr id="570" name="TextBox 6"/>
          <p:cNvSpPr txBox="1"/>
          <p:nvPr/>
        </p:nvSpPr>
        <p:spPr>
          <a:xfrm>
            <a:off x="3556000" y="1930400"/>
            <a:ext cx="30480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898781"/>
                </a:solidFill>
              </a:rPr>
              <a:t>WHAT IT FIXES</a:t>
            </a:r>
          </a:p>
        </p:txBody>
      </p:sp>
      <p:sp>
        <p:nvSpPr>
          <p:cNvPr id="571" name="TextBox 7"/>
          <p:cNvSpPr txBox="1"/>
          <p:nvPr/>
        </p:nvSpPr>
        <p:spPr>
          <a:xfrm>
            <a:off x="7112000" y="1930400"/>
            <a:ext cx="41910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898781"/>
                </a:solidFill>
              </a:rPr>
              <a:t>WHAT IT MISSES</a:t>
            </a:r>
          </a:p>
        </p:txBody>
      </p:sp>
      <p:sp>
        <p:nvSpPr>
          <p:cNvPr id="572" name="Rectangle 8"/>
          <p:cNvSpPr/>
          <p:nvPr/>
        </p:nvSpPr>
        <p:spPr>
          <a:xfrm>
            <a:off x="812800" y="2209800"/>
            <a:ext cx="10769600" cy="12700"/>
          </a:xfrm>
          <a:prstGeom prst="rect">
            <a:avLst/>
          </a:prstGeom>
          <a:solidFill>
            <a:srgbClr val="2A32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573" name="TextBox 9"/>
          <p:cNvSpPr txBox="1"/>
          <p:nvPr/>
        </p:nvSpPr>
        <p:spPr>
          <a:xfrm>
            <a:off x="1016000" y="2336800"/>
            <a:ext cx="2286000" cy="236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F0EFEC"/>
                </a:solidFill>
              </a:rPr>
              <a:t>Blind screening / redaction</a:t>
            </a:r>
          </a:p>
        </p:txBody>
      </p:sp>
      <p:sp>
        <p:nvSpPr>
          <p:cNvPr id="574" name="TextBox 10"/>
          <p:cNvSpPr txBox="1"/>
          <p:nvPr/>
        </p:nvSpPr>
        <p:spPr>
          <a:xfrm>
            <a:off x="3556000" y="2336800"/>
            <a:ext cx="3302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00">
                <a:solidFill>
                  <a:srgbClr val="C3C2B7"/>
                </a:solidFill>
              </a:rPr>
              <a:t>Visible name, some fields</a:t>
            </a:r>
          </a:p>
        </p:txBody>
      </p:sp>
      <p:sp>
        <p:nvSpPr>
          <p:cNvPr id="575" name="TextBox 11"/>
          <p:cNvSpPr txBox="1"/>
          <p:nvPr/>
        </p:nvSpPr>
        <p:spPr>
          <a:xfrm>
            <a:off x="7112000" y="2336800"/>
            <a:ext cx="4318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00">
                <a:solidFill>
                  <a:srgbClr val="D95926"/>
                </a:solidFill>
              </a:rPr>
              <a:t>Proxies remain; 7.7 pp score gap here</a:t>
            </a:r>
          </a:p>
        </p:txBody>
      </p:sp>
      <p:sp>
        <p:nvSpPr>
          <p:cNvPr id="576" name="Rectangle 12"/>
          <p:cNvSpPr/>
          <p:nvPr/>
        </p:nvSpPr>
        <p:spPr>
          <a:xfrm>
            <a:off x="812800" y="2870200"/>
            <a:ext cx="10769600" cy="12700"/>
          </a:xfrm>
          <a:prstGeom prst="rect">
            <a:avLst/>
          </a:prstGeom>
          <a:solidFill>
            <a:srgbClr val="2A32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577" name="TextBox 13"/>
          <p:cNvSpPr txBox="1"/>
          <p:nvPr/>
        </p:nvSpPr>
        <p:spPr>
          <a:xfrm>
            <a:off x="1016000" y="2997200"/>
            <a:ext cx="2286000" cy="236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F0EFEC"/>
                </a:solidFill>
              </a:rPr>
              <a:t>Fairness fine-tuning (LoRA/OFT)</a:t>
            </a:r>
          </a:p>
        </p:txBody>
      </p:sp>
      <p:sp>
        <p:nvSpPr>
          <p:cNvPr id="578" name="TextBox 14"/>
          <p:cNvSpPr txBox="1"/>
          <p:nvPr/>
        </p:nvSpPr>
        <p:spPr>
          <a:xfrm>
            <a:off x="3556000" y="2997200"/>
            <a:ext cx="3302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00">
                <a:solidFill>
                  <a:srgbClr val="C3C2B7"/>
                </a:solidFill>
              </a:rPr>
              <a:t>Output behavior on an audit set</a:t>
            </a:r>
          </a:p>
        </p:txBody>
      </p:sp>
      <p:sp>
        <p:nvSpPr>
          <p:cNvPr id="579" name="TextBox 15"/>
          <p:cNvSpPr txBox="1"/>
          <p:nvPr/>
        </p:nvSpPr>
        <p:spPr>
          <a:xfrm>
            <a:off x="7112000" y="2997200"/>
            <a:ext cx="4318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00">
                <a:solidFill>
                  <a:srgbClr val="C3C2B7"/>
                </a:solidFill>
              </a:rPr>
              <a:t>Needs labels + compute; can over-debias (JobFair)</a:t>
            </a:r>
          </a:p>
        </p:txBody>
      </p:sp>
      <p:sp>
        <p:nvSpPr>
          <p:cNvPr id="580" name="Rectangle 16"/>
          <p:cNvSpPr/>
          <p:nvPr/>
        </p:nvSpPr>
        <p:spPr>
          <a:xfrm>
            <a:off x="812800" y="3530600"/>
            <a:ext cx="10769600" cy="12700"/>
          </a:xfrm>
          <a:prstGeom prst="rect">
            <a:avLst/>
          </a:prstGeom>
          <a:solidFill>
            <a:srgbClr val="2A32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581" name="TextBox 17"/>
          <p:cNvSpPr txBox="1"/>
          <p:nvPr/>
        </p:nvSpPr>
        <p:spPr>
          <a:xfrm>
            <a:off x="1016000" y="3657600"/>
            <a:ext cx="2286000" cy="236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F0EFEC"/>
                </a:solidFill>
              </a:rPr>
              <a:t>Adversarial debiasing</a:t>
            </a:r>
          </a:p>
        </p:txBody>
      </p:sp>
      <p:sp>
        <p:nvSpPr>
          <p:cNvPr id="582" name="TextBox 18"/>
          <p:cNvSpPr txBox="1"/>
          <p:nvPr/>
        </p:nvSpPr>
        <p:spPr>
          <a:xfrm>
            <a:off x="3556000" y="3657600"/>
            <a:ext cx="3302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00">
                <a:solidFill>
                  <a:srgbClr val="C3C2B7"/>
                </a:solidFill>
              </a:rPr>
              <a:t>Learned representation</a:t>
            </a:r>
          </a:p>
        </p:txBody>
      </p:sp>
      <p:sp>
        <p:nvSpPr>
          <p:cNvPr id="583" name="TextBox 19"/>
          <p:cNvSpPr txBox="1"/>
          <p:nvPr/>
        </p:nvSpPr>
        <p:spPr>
          <a:xfrm>
            <a:off x="7112000" y="3657600"/>
            <a:ext cx="4318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00">
                <a:solidFill>
                  <a:srgbClr val="C3C2B7"/>
                </a:solidFill>
              </a:rPr>
              <a:t>Unstable; hard to audit; sensitive to hyperparameters</a:t>
            </a:r>
          </a:p>
        </p:txBody>
      </p:sp>
      <p:sp>
        <p:nvSpPr>
          <p:cNvPr id="584" name="Rectangle 20"/>
          <p:cNvSpPr/>
          <p:nvPr/>
        </p:nvSpPr>
        <p:spPr>
          <a:xfrm>
            <a:off x="812800" y="4191000"/>
            <a:ext cx="10769600" cy="12700"/>
          </a:xfrm>
          <a:prstGeom prst="rect">
            <a:avLst/>
          </a:prstGeom>
          <a:solidFill>
            <a:srgbClr val="2A32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585" name="TextBox 21"/>
          <p:cNvSpPr txBox="1"/>
          <p:nvPr/>
        </p:nvSpPr>
        <p:spPr>
          <a:xfrm>
            <a:off x="1016000" y="4318000"/>
            <a:ext cx="2286000" cy="236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F0EFEC"/>
                </a:solidFill>
              </a:rPr>
              <a:t>Post-processing thresholds</a:t>
            </a:r>
          </a:p>
        </p:txBody>
      </p:sp>
      <p:sp>
        <p:nvSpPr>
          <p:cNvPr id="586" name="TextBox 22"/>
          <p:cNvSpPr txBox="1"/>
          <p:nvPr/>
        </p:nvSpPr>
        <p:spPr>
          <a:xfrm>
            <a:off x="3556000" y="4318000"/>
            <a:ext cx="3302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00">
                <a:solidFill>
                  <a:srgbClr val="C3C2B7"/>
                </a:solidFill>
              </a:rPr>
              <a:t>Selection rates at the cutoff</a:t>
            </a:r>
          </a:p>
        </p:txBody>
      </p:sp>
      <p:sp>
        <p:nvSpPr>
          <p:cNvPr id="587" name="TextBox 23"/>
          <p:cNvSpPr txBox="1"/>
          <p:nvPr/>
        </p:nvSpPr>
        <p:spPr>
          <a:xfrm>
            <a:off x="7112000" y="4318000"/>
            <a:ext cx="4318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00">
                <a:solidFill>
                  <a:srgbClr val="C3C2B7"/>
                </a:solidFill>
              </a:rPr>
              <a:t>Symptom only; the representation is untouched</a:t>
            </a:r>
          </a:p>
        </p:txBody>
      </p:sp>
      <p:sp>
        <p:nvSpPr>
          <p:cNvPr id="588" name="Rectangle 24"/>
          <p:cNvSpPr/>
          <p:nvPr/>
        </p:nvSpPr>
        <p:spPr>
          <a:xfrm>
            <a:off x="812800" y="4851400"/>
            <a:ext cx="10769600" cy="12700"/>
          </a:xfrm>
          <a:prstGeom prst="rect">
            <a:avLst/>
          </a:prstGeom>
          <a:solidFill>
            <a:srgbClr val="2A32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589" name="TextBox 25"/>
          <p:cNvSpPr txBox="1"/>
          <p:nvPr/>
        </p:nvSpPr>
        <p:spPr>
          <a:xfrm>
            <a:off x="1016000" y="4978400"/>
            <a:ext cx="2286000" cy="236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F0EFEC"/>
                </a:solidFill>
              </a:rPr>
              <a:t>Prompt guardrails</a:t>
            </a:r>
          </a:p>
        </p:txBody>
      </p:sp>
      <p:sp>
        <p:nvSpPr>
          <p:cNvPr id="590" name="TextBox 26"/>
          <p:cNvSpPr txBox="1"/>
          <p:nvPr/>
        </p:nvSpPr>
        <p:spPr>
          <a:xfrm>
            <a:off x="3556000" y="4978400"/>
            <a:ext cx="3302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00">
                <a:solidFill>
                  <a:srgbClr val="C3C2B7"/>
                </a:solidFill>
              </a:rPr>
              <a:t>LLM outputs</a:t>
            </a:r>
          </a:p>
        </p:txBody>
      </p:sp>
      <p:sp>
        <p:nvSpPr>
          <p:cNvPr id="591" name="TextBox 27"/>
          <p:cNvSpPr txBox="1"/>
          <p:nvPr/>
        </p:nvSpPr>
        <p:spPr>
          <a:xfrm>
            <a:off x="7112000" y="4978400"/>
            <a:ext cx="4318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00">
                <a:solidFill>
                  <a:srgbClr val="C3C2B7"/>
                </a:solidFill>
              </a:rPr>
              <a:t>Model-dependent; prompt injection; partial</a:t>
            </a:r>
          </a:p>
        </p:txBody>
      </p:sp>
      <p:sp>
        <p:nvSpPr>
          <p:cNvPr id="592" name="Rectangle 28"/>
          <p:cNvSpPr/>
          <p:nvPr/>
        </p:nvSpPr>
        <p:spPr>
          <a:xfrm>
            <a:off x="812800" y="5511800"/>
            <a:ext cx="10769600" cy="12700"/>
          </a:xfrm>
          <a:prstGeom prst="rect">
            <a:avLst/>
          </a:prstGeom>
          <a:solidFill>
            <a:srgbClr val="2A32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593" name="Rectangle 29"/>
          <p:cNvSpPr/>
          <p:nvPr/>
        </p:nvSpPr>
        <p:spPr>
          <a:xfrm>
            <a:off x="812800" y="5613400"/>
            <a:ext cx="10769600" cy="685800"/>
          </a:xfrm>
          <a:prstGeom prst="roundRect">
            <a:avLst/>
          </a:prstGeom>
          <a:solidFill>
            <a:srgbClr val="0F1D18"/>
          </a:solidFill>
          <a:ln w="12700">
            <a:solidFill>
              <a:srgbClr val="0CA3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594" name="TextBox 30"/>
          <p:cNvSpPr txBox="1"/>
          <p:nvPr/>
        </p:nvSpPr>
        <p:spPr>
          <a:xfrm>
            <a:off x="1016000" y="5740400"/>
            <a:ext cx="2286000" cy="236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9FE870"/>
                </a:solidFill>
              </a:rPr>
              <a:t>LEACE + dual gate  (ours)</a:t>
            </a:r>
          </a:p>
        </p:txBody>
      </p:sp>
      <p:sp>
        <p:nvSpPr>
          <p:cNvPr id="595" name="TextBox 31"/>
          <p:cNvSpPr txBox="1"/>
          <p:nvPr/>
        </p:nvSpPr>
        <p:spPr>
          <a:xfrm>
            <a:off x="3556000" y="5740400"/>
            <a:ext cx="3302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00">
                <a:solidFill>
                  <a:srgbClr val="C3C2B7"/>
                </a:solidFill>
              </a:rPr>
              <a:t>Linear gender subspace + behavior</a:t>
            </a:r>
          </a:p>
        </p:txBody>
      </p:sp>
      <p:sp>
        <p:nvSpPr>
          <p:cNvPr id="596" name="TextBox 32"/>
          <p:cNvSpPr txBox="1"/>
          <p:nvPr/>
        </p:nvSpPr>
        <p:spPr>
          <a:xfrm>
            <a:off x="7112000" y="5740400"/>
            <a:ext cx="4318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00">
                <a:solidFill>
                  <a:srgbClr val="C3C2B7"/>
                </a:solidFill>
              </a:rPr>
              <a:t>Nonlinear residual remains; needs layer choice</a:t>
            </a:r>
          </a:p>
        </p:txBody>
      </p:sp>
      <p:sp>
        <p:nvSpPr>
          <p:cNvPr id="597" name="TextBox 33"/>
          <p:cNvSpPr txBox="1"/>
          <p:nvPr/>
        </p:nvSpPr>
        <p:spPr>
          <a:xfrm>
            <a:off x="1016000" y="6426200"/>
            <a:ext cx="104140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6F7682"/>
                </a:solidFill>
              </a:rPr>
              <a:t>Behavior-only fixes act after the score. LEACE acts before it.</a:t>
            </a:r>
          </a:p>
        </p:txBody>
      </p:sp>
      <p:sp>
        <p:nvSpPr>
          <p:cNvPr id="598" name="TextBox 34"/>
          <p:cNvSpPr txBox="1"/>
          <p:nvPr/>
        </p:nvSpPr>
        <p:spPr>
          <a:xfrm>
            <a:off x="11176000" y="381000"/>
            <a:ext cx="381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6F7682"/>
                </a:solidFill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601" name="TextBox 2"/>
          <p:cNvSpPr txBox="1"/>
          <p:nvPr/>
        </p:nvSpPr>
        <p:spPr>
          <a:xfrm>
            <a:off x="812800" y="381000"/>
            <a:ext cx="6350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00">
                <a:solidFill>
                  <a:srgbClr val="898781"/>
                </a:solidFill>
              </a:rPr>
              <a:t>10  /  WHY THIS WINS</a:t>
            </a:r>
          </a:p>
        </p:txBody>
      </p:sp>
      <p:sp>
        <p:nvSpPr>
          <p:cNvPr id="602" name="TextBox 3"/>
          <p:cNvSpPr txBox="1"/>
          <p:nvPr/>
        </p:nvSpPr>
        <p:spPr>
          <a:xfrm>
            <a:off x="812800" y="812800"/>
            <a:ext cx="10795000" cy="548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0EFEC"/>
                </a:solidFill>
              </a:rPr>
              <a:t>Better fit for the post-anonymization failure mode.</a:t>
            </a:r>
          </a:p>
        </p:txBody>
      </p:sp>
      <p:sp>
        <p:nvSpPr>
          <p:cNvPr id="603" name="TextBox 4"/>
          <p:cNvSpPr txBox="1"/>
          <p:nvPr/>
        </p:nvSpPr>
        <p:spPr>
          <a:xfrm>
            <a:off x="812800" y="1422400"/>
            <a:ext cx="10414000" cy="274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200">
                <a:solidFill>
                  <a:srgbClr val="C3C2B7"/>
                </a:solidFill>
              </a:rPr>
              <a:t>Not a universal winner — a targeted fix for the case where the name is already gone.</a:t>
            </a:r>
          </a:p>
        </p:txBody>
      </p:sp>
      <p:sp>
        <p:nvSpPr>
          <p:cNvPr id="604" name="Rectangle 5"/>
          <p:cNvSpPr/>
          <p:nvPr/>
        </p:nvSpPr>
        <p:spPr>
          <a:xfrm>
            <a:off x="812800" y="2184400"/>
            <a:ext cx="5181600" cy="14986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605" name="TextBox 6"/>
          <p:cNvSpPr txBox="1"/>
          <p:nvPr/>
        </p:nvSpPr>
        <p:spPr>
          <a:xfrm>
            <a:off x="1066800" y="2362200"/>
            <a:ext cx="46736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898781"/>
                </a:solidFill>
              </a:rPr>
              <a:t>01  /  POST-MASKING</a:t>
            </a:r>
          </a:p>
        </p:txBody>
      </p:sp>
      <p:sp>
        <p:nvSpPr>
          <p:cNvPr id="606" name="TextBox 7"/>
          <p:cNvSpPr txBox="1"/>
          <p:nvPr/>
        </p:nvSpPr>
        <p:spPr>
          <a:xfrm>
            <a:off x="1066800" y="2641600"/>
            <a:ext cx="4673600" cy="518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CA30C"/>
                </a:solidFill>
              </a:rPr>
              <a:t>7.5 pp</a:t>
            </a:r>
          </a:p>
        </p:txBody>
      </p:sp>
      <p:sp>
        <p:nvSpPr>
          <p:cNvPr id="607" name="TextBox 8"/>
          <p:cNvSpPr txBox="1"/>
          <p:nvPr/>
        </p:nvSpPr>
        <p:spPr>
          <a:xfrm>
            <a:off x="1066800" y="3200400"/>
            <a:ext cx="46736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00">
                <a:solidFill>
                  <a:srgbClr val="C3C2B7"/>
                </a:solidFill>
              </a:rPr>
              <a:t>of residual gap removed: 7.7 → 0.2 pp</a:t>
            </a:r>
          </a:p>
        </p:txBody>
      </p:sp>
      <p:sp>
        <p:nvSpPr>
          <p:cNvPr id="608" name="Rectangle 9"/>
          <p:cNvSpPr/>
          <p:nvPr/>
        </p:nvSpPr>
        <p:spPr>
          <a:xfrm>
            <a:off x="6197600" y="2184400"/>
            <a:ext cx="5181600" cy="14986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609" name="TextBox 10"/>
          <p:cNvSpPr txBox="1"/>
          <p:nvPr/>
        </p:nvSpPr>
        <p:spPr>
          <a:xfrm>
            <a:off x="6451600" y="2362200"/>
            <a:ext cx="46736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898781"/>
                </a:solidFill>
              </a:rPr>
              <a:t>02  /  REPRESENTATION</a:t>
            </a:r>
          </a:p>
        </p:txBody>
      </p:sp>
      <p:sp>
        <p:nvSpPr>
          <p:cNvPr id="610" name="TextBox 11"/>
          <p:cNvSpPr txBox="1"/>
          <p:nvPr/>
        </p:nvSpPr>
        <p:spPr>
          <a:xfrm>
            <a:off x="6451600" y="2641600"/>
            <a:ext cx="4673600" cy="518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D95926"/>
                </a:solidFill>
              </a:rPr>
              <a:t>100 → 58%</a:t>
            </a:r>
          </a:p>
        </p:txBody>
      </p:sp>
      <p:sp>
        <p:nvSpPr>
          <p:cNvPr id="611" name="TextBox 12"/>
          <p:cNvSpPr txBox="1"/>
          <p:nvPr/>
        </p:nvSpPr>
        <p:spPr>
          <a:xfrm>
            <a:off x="6451600" y="3200400"/>
            <a:ext cx="46736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00">
                <a:solidFill>
                  <a:srgbClr val="C3C2B7"/>
                </a:solidFill>
              </a:rPr>
              <a:t>gender probe before → after; chance = 50%</a:t>
            </a:r>
          </a:p>
        </p:txBody>
      </p:sp>
      <p:sp>
        <p:nvSpPr>
          <p:cNvPr id="612" name="Rectangle 13"/>
          <p:cNvSpPr/>
          <p:nvPr/>
        </p:nvSpPr>
        <p:spPr>
          <a:xfrm>
            <a:off x="812800" y="3835400"/>
            <a:ext cx="5181600" cy="14986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613" name="TextBox 14"/>
          <p:cNvSpPr txBox="1"/>
          <p:nvPr/>
        </p:nvSpPr>
        <p:spPr>
          <a:xfrm>
            <a:off x="1066800" y="4013200"/>
            <a:ext cx="46736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898781"/>
                </a:solidFill>
              </a:rPr>
              <a:t>03  /  RANKING QUALITY</a:t>
            </a:r>
          </a:p>
        </p:txBody>
      </p:sp>
      <p:sp>
        <p:nvSpPr>
          <p:cNvPr id="614" name="TextBox 15"/>
          <p:cNvSpPr txBox="1"/>
          <p:nvPr/>
        </p:nvSpPr>
        <p:spPr>
          <a:xfrm>
            <a:off x="1066800" y="4292600"/>
            <a:ext cx="4673600" cy="457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3987E5"/>
                </a:solidFill>
              </a:rPr>
              <a:t>0.742 → 0.735</a:t>
            </a:r>
          </a:p>
        </p:txBody>
      </p:sp>
      <p:sp>
        <p:nvSpPr>
          <p:cNvPr id="615" name="TextBox 16"/>
          <p:cNvSpPr txBox="1"/>
          <p:nvPr/>
        </p:nvSpPr>
        <p:spPr>
          <a:xfrm>
            <a:off x="1066800" y="4851400"/>
            <a:ext cx="46736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00">
                <a:solidFill>
                  <a:srgbClr val="C3C2B7"/>
                </a:solidFill>
              </a:rPr>
              <a:t>AUC preserved; head recalibrated, not retrained</a:t>
            </a:r>
          </a:p>
        </p:txBody>
      </p:sp>
      <p:sp>
        <p:nvSpPr>
          <p:cNvPr id="616" name="Rectangle 17"/>
          <p:cNvSpPr/>
          <p:nvPr/>
        </p:nvSpPr>
        <p:spPr>
          <a:xfrm>
            <a:off x="6197600" y="3835400"/>
            <a:ext cx="5181600" cy="14986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617" name="TextBox 18"/>
          <p:cNvSpPr txBox="1"/>
          <p:nvPr/>
        </p:nvSpPr>
        <p:spPr>
          <a:xfrm>
            <a:off x="6451600" y="4013200"/>
            <a:ext cx="46736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898781"/>
                </a:solidFill>
              </a:rPr>
              <a:t>04  /  GOVERNANCE</a:t>
            </a:r>
          </a:p>
        </p:txBody>
      </p:sp>
      <p:sp>
        <p:nvSpPr>
          <p:cNvPr id="618" name="TextBox 19"/>
          <p:cNvSpPr txBox="1"/>
          <p:nvPr/>
        </p:nvSpPr>
        <p:spPr>
          <a:xfrm>
            <a:off x="6451600" y="4292600"/>
            <a:ext cx="4673600" cy="518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CA30C"/>
                </a:solidFill>
              </a:rPr>
              <a:t>4 gates</a:t>
            </a:r>
          </a:p>
        </p:txBody>
      </p:sp>
      <p:sp>
        <p:nvSpPr>
          <p:cNvPr id="619" name="TextBox 20"/>
          <p:cNvSpPr txBox="1"/>
          <p:nvPr/>
        </p:nvSpPr>
        <p:spPr>
          <a:xfrm>
            <a:off x="6451600" y="4851400"/>
            <a:ext cx="46736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00">
                <a:solidFill>
                  <a:srgbClr val="C3C2B7"/>
                </a:solidFill>
              </a:rPr>
              <a:t>behavior + probe + AUC + retention; all must pass</a:t>
            </a:r>
          </a:p>
        </p:txBody>
      </p:sp>
      <p:sp>
        <p:nvSpPr>
          <p:cNvPr id="620" name="TextBox 21"/>
          <p:cNvSpPr txBox="1"/>
          <p:nvPr/>
        </p:nvSpPr>
        <p:spPr>
          <a:xfrm>
            <a:off x="812800" y="5664200"/>
            <a:ext cx="10541000" cy="274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200">
                <a:solidFill>
                  <a:srgbClr val="9FE870"/>
                </a:solidFill>
              </a:rPr>
              <a:t>Blind screening removed 1.1 pp. LEACE removed 7.5 pp. The difference is where the edit happens.</a:t>
            </a:r>
          </a:p>
        </p:txBody>
      </p:sp>
      <p:sp>
        <p:nvSpPr>
          <p:cNvPr id="621" name="TextBox 22"/>
          <p:cNvSpPr txBox="1"/>
          <p:nvPr/>
        </p:nvSpPr>
        <p:spPr>
          <a:xfrm>
            <a:off x="812800" y="6299200"/>
            <a:ext cx="106680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6F7682"/>
                </a:solidFill>
              </a:rPr>
              <a:t>Caveat: LEACE targets linear subspaces. A 58% probe means residual signal remains; the gate is the backstop.</a:t>
            </a:r>
          </a:p>
        </p:txBody>
      </p:sp>
      <p:sp>
        <p:nvSpPr>
          <p:cNvPr id="622" name="TextBox 23"/>
          <p:cNvSpPr txBox="1"/>
          <p:nvPr/>
        </p:nvSpPr>
        <p:spPr>
          <a:xfrm>
            <a:off x="11176000" y="381000"/>
            <a:ext cx="381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6F7682"/>
                </a:solidFill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625" name="TextBox 2"/>
          <p:cNvSpPr txBox="1"/>
          <p:nvPr/>
        </p:nvSpPr>
        <p:spPr>
          <a:xfrm>
            <a:off x="812800" y="381000"/>
            <a:ext cx="6350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00">
                <a:solidFill>
                  <a:srgbClr val="898781"/>
                </a:solidFill>
              </a:rPr>
              <a:t>11  /  LIMITS &amp; NEXT</a:t>
            </a:r>
          </a:p>
        </p:txBody>
      </p:sp>
      <p:sp>
        <p:nvSpPr>
          <p:cNvPr id="626" name="TextBox 3"/>
          <p:cNvSpPr txBox="1"/>
          <p:nvPr/>
        </p:nvSpPr>
        <p:spPr>
          <a:xfrm>
            <a:off x="812800" y="812800"/>
            <a:ext cx="10795000" cy="548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0EFEC"/>
                </a:solidFill>
              </a:rPr>
              <a:t>What this proves — and what it doesn’t.</a:t>
            </a:r>
          </a:p>
        </p:txBody>
      </p:sp>
      <p:sp>
        <p:nvSpPr>
          <p:cNvPr id="627" name="TextBox 4"/>
          <p:cNvSpPr txBox="1"/>
          <p:nvPr/>
        </p:nvSpPr>
        <p:spPr>
          <a:xfrm>
            <a:off x="812800" y="1422400"/>
            <a:ext cx="10414000" cy="274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200">
                <a:solidFill>
                  <a:srgbClr val="C3C2B7"/>
                </a:solidFill>
              </a:rPr>
              <a:t>A benchmark can validate the audit. It cannot certify a production system.</a:t>
            </a:r>
          </a:p>
        </p:txBody>
      </p:sp>
      <p:sp>
        <p:nvSpPr>
          <p:cNvPr id="628" name="Rectangle 5"/>
          <p:cNvSpPr/>
          <p:nvPr/>
        </p:nvSpPr>
        <p:spPr>
          <a:xfrm>
            <a:off x="812800" y="2108200"/>
            <a:ext cx="5181600" cy="1808480"/>
          </a:xfrm>
          <a:prstGeom prst="roundRect">
            <a:avLst/>
          </a:prstGeom>
          <a:solidFill>
            <a:srgbClr val="0F1D18"/>
          </a:solidFill>
          <a:ln w="12700">
            <a:solidFill>
              <a:srgbClr val="0CA3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629" name="TextBox 6"/>
          <p:cNvSpPr txBox="1"/>
          <p:nvPr/>
        </p:nvSpPr>
        <p:spPr>
          <a:xfrm>
            <a:off x="1066800" y="2311400"/>
            <a:ext cx="46736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0CA30C"/>
                </a:solidFill>
              </a:rPr>
              <a:t>WHAT IT PROVES</a:t>
            </a:r>
          </a:p>
        </p:txBody>
      </p:sp>
      <p:sp>
        <p:nvSpPr>
          <p:cNvPr id="630" name="TextBox 7"/>
          <p:cNvSpPr txBox="1"/>
          <p:nvPr/>
        </p:nvSpPr>
        <p:spPr>
          <a:xfrm>
            <a:off x="1066800" y="2641600"/>
            <a:ext cx="4673600" cy="9555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sz="1050" dirty="0">
                <a:solidFill>
                  <a:srgbClr val="F0EFEC"/>
                </a:solidFill>
              </a:rPr>
              <a:t>• The audit recovers a known injected bias.</a:t>
            </a:r>
          </a:p>
          <a:p>
            <a:pPr>
              <a:lnSpc>
                <a:spcPct val="135000"/>
              </a:lnSpc>
            </a:pPr>
            <a:r>
              <a:rPr sz="1050" dirty="0">
                <a:solidFill>
                  <a:srgbClr val="F0EFEC"/>
                </a:solidFill>
              </a:rPr>
              <a:t>• Name masking alone leaves most of the gap.</a:t>
            </a:r>
          </a:p>
          <a:p>
            <a:pPr>
              <a:lnSpc>
                <a:spcPct val="135000"/>
              </a:lnSpc>
            </a:pPr>
            <a:r>
              <a:rPr sz="1050" dirty="0">
                <a:solidFill>
                  <a:srgbClr val="F0EFEC"/>
                </a:solidFill>
              </a:rPr>
              <a:t>• LEACE reduces both behavioral and activation metrics.</a:t>
            </a:r>
          </a:p>
          <a:p>
            <a:pPr>
              <a:lnSpc>
                <a:spcPct val="135000"/>
              </a:lnSpc>
            </a:pPr>
            <a:r>
              <a:rPr sz="1050" dirty="0">
                <a:solidFill>
                  <a:srgbClr val="F0EFEC"/>
                </a:solidFill>
              </a:rPr>
              <a:t>• Ranking quality stays essentially flat.</a:t>
            </a:r>
          </a:p>
        </p:txBody>
      </p:sp>
      <p:sp>
        <p:nvSpPr>
          <p:cNvPr id="631" name="Rectangle 8"/>
          <p:cNvSpPr/>
          <p:nvPr/>
        </p:nvSpPr>
        <p:spPr>
          <a:xfrm>
            <a:off x="6197600" y="2108200"/>
            <a:ext cx="5181600" cy="2768600"/>
          </a:xfrm>
          <a:prstGeom prst="roundRect">
            <a:avLst/>
          </a:prstGeom>
          <a:solidFill>
            <a:srgbClr val="1D1512"/>
          </a:solidFill>
          <a:ln w="12700">
            <a:solidFill>
              <a:srgbClr val="D959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632" name="TextBox 9"/>
          <p:cNvSpPr txBox="1"/>
          <p:nvPr/>
        </p:nvSpPr>
        <p:spPr>
          <a:xfrm>
            <a:off x="6451600" y="2311400"/>
            <a:ext cx="46736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 b="1" dirty="0">
                <a:solidFill>
                  <a:srgbClr val="D95926"/>
                </a:solidFill>
              </a:rPr>
              <a:t>WHAT IT DOES NOT PROVE</a:t>
            </a:r>
          </a:p>
        </p:txBody>
      </p:sp>
      <p:sp>
        <p:nvSpPr>
          <p:cNvPr id="633" name="TextBox 10"/>
          <p:cNvSpPr txBox="1"/>
          <p:nvPr/>
        </p:nvSpPr>
        <p:spPr>
          <a:xfrm>
            <a:off x="6451600" y="2641600"/>
            <a:ext cx="4673600" cy="9555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sz="1050">
                <a:solidFill>
                  <a:srgbClr val="F0EFEC"/>
                </a:solidFill>
              </a:rPr>
              <a:t>• Behavior of any specific commercial ATS.</a:t>
            </a:r>
          </a:p>
          <a:p>
            <a:pPr>
              <a:lnSpc>
                <a:spcPct val="135000"/>
              </a:lnSpc>
            </a:pPr>
            <a:r>
              <a:rPr sz="1050">
                <a:solidFill>
                  <a:srgbClr val="F0EFEC"/>
                </a:solidFill>
              </a:rPr>
              <a:t>• Real-world label bias or legal compliance.</a:t>
            </a:r>
          </a:p>
          <a:p>
            <a:pPr>
              <a:lnSpc>
                <a:spcPct val="135000"/>
              </a:lnSpc>
            </a:pPr>
            <a:r>
              <a:rPr sz="1050">
                <a:solidFill>
                  <a:srgbClr val="F0EFEC"/>
                </a:solidFill>
              </a:rPr>
              <a:t>• Race, nonbinary, disability, or intersectional effects.</a:t>
            </a:r>
          </a:p>
          <a:p>
            <a:pPr>
              <a:lnSpc>
                <a:spcPct val="135000"/>
              </a:lnSpc>
            </a:pPr>
            <a:r>
              <a:rPr sz="1050">
                <a:solidFill>
                  <a:srgbClr val="F0EFEC"/>
                </a:solidFill>
              </a:rPr>
              <a:t>• Robustness to adaptive or adversarial candidates.</a:t>
            </a:r>
          </a:p>
        </p:txBody>
      </p:sp>
      <p:sp>
        <p:nvSpPr>
          <p:cNvPr id="634" name="TextBox 11"/>
          <p:cNvSpPr txBox="1"/>
          <p:nvPr/>
        </p:nvSpPr>
        <p:spPr>
          <a:xfrm>
            <a:off x="812800" y="5080000"/>
            <a:ext cx="38100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898781"/>
                </a:solidFill>
              </a:rPr>
              <a:t>NEXT 90 DAYS  /  RUN IT ON REAL LOGS</a:t>
            </a:r>
          </a:p>
        </p:txBody>
      </p:sp>
      <p:sp>
        <p:nvSpPr>
          <p:cNvPr id="635" name="Rectangle 12"/>
          <p:cNvSpPr/>
          <p:nvPr/>
        </p:nvSpPr>
        <p:spPr>
          <a:xfrm>
            <a:off x="812800" y="5384800"/>
            <a:ext cx="2489200" cy="6858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636" name="TextBox 13"/>
          <p:cNvSpPr txBox="1"/>
          <p:nvPr/>
        </p:nvSpPr>
        <p:spPr>
          <a:xfrm>
            <a:off x="990600" y="5511800"/>
            <a:ext cx="2133600" cy="2057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750" b="1">
                <a:solidFill>
                  <a:srgbClr val="3987E5"/>
                </a:solidFill>
              </a:rPr>
              <a:t>W1–2  /  INSTRUMENT</a:t>
            </a:r>
          </a:p>
        </p:txBody>
      </p:sp>
      <p:sp>
        <p:nvSpPr>
          <p:cNvPr id="637" name="TextBox 14"/>
          <p:cNvSpPr txBox="1"/>
          <p:nvPr/>
        </p:nvSpPr>
        <p:spPr>
          <a:xfrm>
            <a:off x="990600" y="5765800"/>
            <a:ext cx="2133600" cy="2209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50">
                <a:solidFill>
                  <a:srgbClr val="C3C2B7"/>
                </a:solidFill>
              </a:rPr>
              <a:t>Hook the encoder</a:t>
            </a:r>
          </a:p>
        </p:txBody>
      </p:sp>
      <p:sp>
        <p:nvSpPr>
          <p:cNvPr id="638" name="Rectangle 15"/>
          <p:cNvSpPr/>
          <p:nvPr/>
        </p:nvSpPr>
        <p:spPr>
          <a:xfrm>
            <a:off x="3454400" y="5384800"/>
            <a:ext cx="2489200" cy="6858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639" name="TextBox 16"/>
          <p:cNvSpPr txBox="1"/>
          <p:nvPr/>
        </p:nvSpPr>
        <p:spPr>
          <a:xfrm>
            <a:off x="3632200" y="5511800"/>
            <a:ext cx="2133600" cy="2057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750" b="1">
                <a:solidFill>
                  <a:srgbClr val="D95926"/>
                </a:solidFill>
              </a:rPr>
              <a:t>W3–4  /  AUDIT</a:t>
            </a:r>
          </a:p>
        </p:txBody>
      </p:sp>
      <p:sp>
        <p:nvSpPr>
          <p:cNvPr id="640" name="TextBox 17"/>
          <p:cNvSpPr txBox="1"/>
          <p:nvPr/>
        </p:nvSpPr>
        <p:spPr>
          <a:xfrm>
            <a:off x="3632200" y="5765800"/>
            <a:ext cx="2133600" cy="2209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50">
                <a:solidFill>
                  <a:srgbClr val="C3C2B7"/>
                </a:solidFill>
              </a:rPr>
              <a:t>Paired + probe baseline</a:t>
            </a:r>
          </a:p>
        </p:txBody>
      </p:sp>
      <p:sp>
        <p:nvSpPr>
          <p:cNvPr id="641" name="Rectangle 18"/>
          <p:cNvSpPr/>
          <p:nvPr/>
        </p:nvSpPr>
        <p:spPr>
          <a:xfrm>
            <a:off x="6096000" y="5384800"/>
            <a:ext cx="2489200" cy="6858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642" name="TextBox 19"/>
          <p:cNvSpPr txBox="1"/>
          <p:nvPr/>
        </p:nvSpPr>
        <p:spPr>
          <a:xfrm>
            <a:off x="6273800" y="5511800"/>
            <a:ext cx="2133600" cy="2057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750" b="1">
                <a:solidFill>
                  <a:srgbClr val="3987E5"/>
                </a:solidFill>
              </a:rPr>
              <a:t>W5–6  /  MITIGATE</a:t>
            </a:r>
          </a:p>
        </p:txBody>
      </p:sp>
      <p:sp>
        <p:nvSpPr>
          <p:cNvPr id="643" name="TextBox 20"/>
          <p:cNvSpPr txBox="1"/>
          <p:nvPr/>
        </p:nvSpPr>
        <p:spPr>
          <a:xfrm>
            <a:off x="6273800" y="5765800"/>
            <a:ext cx="2133600" cy="2209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50">
                <a:solidFill>
                  <a:srgbClr val="C3C2B7"/>
                </a:solidFill>
              </a:rPr>
              <a:t>LEACE + recalibrate</a:t>
            </a:r>
          </a:p>
        </p:txBody>
      </p:sp>
      <p:sp>
        <p:nvSpPr>
          <p:cNvPr id="644" name="Rectangle 21"/>
          <p:cNvSpPr/>
          <p:nvPr/>
        </p:nvSpPr>
        <p:spPr>
          <a:xfrm>
            <a:off x="8737600" y="5384800"/>
            <a:ext cx="2641600" cy="685800"/>
          </a:xfrm>
          <a:prstGeom prst="roundRect">
            <a:avLst/>
          </a:prstGeom>
          <a:solidFill>
            <a:srgbClr val="0F1D18"/>
          </a:solidFill>
          <a:ln w="12700">
            <a:solidFill>
              <a:srgbClr val="0CA3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645" name="TextBox 22"/>
          <p:cNvSpPr txBox="1"/>
          <p:nvPr/>
        </p:nvSpPr>
        <p:spPr>
          <a:xfrm>
            <a:off x="8915400" y="5511800"/>
            <a:ext cx="2311400" cy="2057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750" b="1">
                <a:solidFill>
                  <a:srgbClr val="0CA30C"/>
                </a:solidFill>
              </a:rPr>
              <a:t>W7–8  /  GATE</a:t>
            </a:r>
          </a:p>
        </p:txBody>
      </p:sp>
      <p:sp>
        <p:nvSpPr>
          <p:cNvPr id="646" name="TextBox 23"/>
          <p:cNvSpPr txBox="1"/>
          <p:nvPr/>
        </p:nvSpPr>
        <p:spPr>
          <a:xfrm>
            <a:off x="8915400" y="5765800"/>
            <a:ext cx="2311400" cy="2209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50">
                <a:solidFill>
                  <a:srgbClr val="C3C2B7"/>
                </a:solidFill>
              </a:rPr>
              <a:t>Ship / block decision</a:t>
            </a:r>
          </a:p>
        </p:txBody>
      </p:sp>
      <p:sp>
        <p:nvSpPr>
          <p:cNvPr id="647" name="TextBox 24"/>
          <p:cNvSpPr txBox="1"/>
          <p:nvPr/>
        </p:nvSpPr>
        <p:spPr>
          <a:xfrm>
            <a:off x="812800" y="6248400"/>
            <a:ext cx="105410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6F7682"/>
                </a:solidFill>
              </a:rPr>
              <a:t>Before any pilot: legal review, candidate notice, and an intersectional red-team.</a:t>
            </a:r>
          </a:p>
        </p:txBody>
      </p:sp>
      <p:sp>
        <p:nvSpPr>
          <p:cNvPr id="648" name="TextBox 25"/>
          <p:cNvSpPr txBox="1"/>
          <p:nvPr/>
        </p:nvSpPr>
        <p:spPr>
          <a:xfrm>
            <a:off x="11176000" y="381000"/>
            <a:ext cx="381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6F7682"/>
                </a:solidFill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651" name="TextBox 2"/>
          <p:cNvSpPr txBox="1"/>
          <p:nvPr/>
        </p:nvSpPr>
        <p:spPr>
          <a:xfrm>
            <a:off x="812800" y="381000"/>
            <a:ext cx="6350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00">
                <a:solidFill>
                  <a:srgbClr val="898781"/>
                </a:solidFill>
              </a:rPr>
              <a:t>APPENDIX  /  FORMULAS</a:t>
            </a:r>
          </a:p>
        </p:txBody>
      </p:sp>
      <p:sp>
        <p:nvSpPr>
          <p:cNvPr id="652" name="TextBox 3"/>
          <p:cNvSpPr txBox="1"/>
          <p:nvPr/>
        </p:nvSpPr>
        <p:spPr>
          <a:xfrm>
            <a:off x="812800" y="812800"/>
            <a:ext cx="10795000" cy="548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0EFEC"/>
                </a:solidFill>
              </a:rPr>
              <a:t>The test suite, in one place.</a:t>
            </a:r>
          </a:p>
        </p:txBody>
      </p:sp>
      <p:sp>
        <p:nvSpPr>
          <p:cNvPr id="653" name="TextBox 4"/>
          <p:cNvSpPr txBox="1"/>
          <p:nvPr/>
        </p:nvSpPr>
        <p:spPr>
          <a:xfrm>
            <a:off x="812800" y="1422400"/>
            <a:ext cx="10414000" cy="259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100">
                <a:solidFill>
                  <a:srgbClr val="C3C2B7"/>
                </a:solidFill>
              </a:rPr>
              <a:t>Definitions used in the audit. Dots denote model outputs; A is the protected attribute.</a:t>
            </a:r>
          </a:p>
        </p:txBody>
      </p:sp>
      <p:sp>
        <p:nvSpPr>
          <p:cNvPr id="654" name="Rectangle 5"/>
          <p:cNvSpPr/>
          <p:nvPr/>
        </p:nvSpPr>
        <p:spPr>
          <a:xfrm>
            <a:off x="812800" y="2082800"/>
            <a:ext cx="5181600" cy="6858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655" name="TextBox 6"/>
          <p:cNvSpPr txBox="1"/>
          <p:nvPr/>
        </p:nvSpPr>
        <p:spPr>
          <a:xfrm>
            <a:off x="1016000" y="2209800"/>
            <a:ext cx="4775200" cy="198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700">
                <a:solidFill>
                  <a:srgbClr val="898781"/>
                </a:solidFill>
              </a:rPr>
              <a:t>BEHAVIORAL BIAS</a:t>
            </a:r>
          </a:p>
        </p:txBody>
      </p:sp>
      <p:sp>
        <p:nvSpPr>
          <p:cNvPr id="656" name="TextBox 7"/>
          <p:cNvSpPr txBox="1"/>
          <p:nvPr/>
        </p:nvSpPr>
        <p:spPr>
          <a:xfrm>
            <a:off x="1016000" y="2438400"/>
            <a:ext cx="4775200" cy="243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0EFEC"/>
                </a:solidFill>
              </a:rPr>
              <a:t>d(P(Ỹ | A=a), P(Ỹ | A=a′))</a:t>
            </a:r>
          </a:p>
        </p:txBody>
      </p:sp>
      <p:sp>
        <p:nvSpPr>
          <p:cNvPr id="657" name="Rectangle 8"/>
          <p:cNvSpPr/>
          <p:nvPr/>
        </p:nvSpPr>
        <p:spPr>
          <a:xfrm>
            <a:off x="6197600" y="2082800"/>
            <a:ext cx="5181600" cy="6858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658" name="TextBox 9"/>
          <p:cNvSpPr txBox="1"/>
          <p:nvPr/>
        </p:nvSpPr>
        <p:spPr>
          <a:xfrm>
            <a:off x="6400800" y="2209800"/>
            <a:ext cx="4775200" cy="198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700">
                <a:solidFill>
                  <a:srgbClr val="898781"/>
                </a:solidFill>
              </a:rPr>
              <a:t>ACTIVATION-SPACE VECTOR</a:t>
            </a:r>
          </a:p>
        </p:txBody>
      </p:sp>
      <p:sp>
        <p:nvSpPr>
          <p:cNvPr id="659" name="TextBox 10"/>
          <p:cNvSpPr txBox="1"/>
          <p:nvPr/>
        </p:nvSpPr>
        <p:spPr>
          <a:xfrm>
            <a:off x="6400800" y="2438400"/>
            <a:ext cx="4775200" cy="243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0EFEC"/>
                </a:solidFill>
              </a:rPr>
              <a:t>vₗ = E[hₗ | A=a] − E[hₗ | A=a′]</a:t>
            </a:r>
          </a:p>
        </p:txBody>
      </p:sp>
      <p:sp>
        <p:nvSpPr>
          <p:cNvPr id="660" name="Rectangle 11"/>
          <p:cNvSpPr/>
          <p:nvPr/>
        </p:nvSpPr>
        <p:spPr>
          <a:xfrm>
            <a:off x="812800" y="2870200"/>
            <a:ext cx="5181600" cy="6858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661" name="TextBox 12"/>
          <p:cNvSpPr txBox="1"/>
          <p:nvPr/>
        </p:nvSpPr>
        <p:spPr>
          <a:xfrm>
            <a:off x="1016000" y="2997200"/>
            <a:ext cx="4775200" cy="198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700">
                <a:solidFill>
                  <a:srgbClr val="898781"/>
                </a:solidFill>
              </a:rPr>
              <a:t>ACTIVATION-SPACE BIAS RATIO</a:t>
            </a:r>
          </a:p>
        </p:txBody>
      </p:sp>
      <p:sp>
        <p:nvSpPr>
          <p:cNvPr id="662" name="TextBox 13"/>
          <p:cNvSpPr txBox="1"/>
          <p:nvPr/>
        </p:nvSpPr>
        <p:spPr>
          <a:xfrm>
            <a:off x="1016000" y="3225800"/>
            <a:ext cx="4775200" cy="259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0EFEC"/>
                </a:solidFill>
              </a:rPr>
              <a:t>‖vₗ‖ / E‖hₗ‖</a:t>
            </a:r>
          </a:p>
        </p:txBody>
      </p:sp>
      <p:sp>
        <p:nvSpPr>
          <p:cNvPr id="663" name="Rectangle 14"/>
          <p:cNvSpPr/>
          <p:nvPr/>
        </p:nvSpPr>
        <p:spPr>
          <a:xfrm>
            <a:off x="6197600" y="2870200"/>
            <a:ext cx="5181600" cy="6858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664" name="TextBox 15"/>
          <p:cNvSpPr txBox="1"/>
          <p:nvPr/>
        </p:nvSpPr>
        <p:spPr>
          <a:xfrm>
            <a:off x="6400800" y="2997200"/>
            <a:ext cx="4775200" cy="198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700">
                <a:solidFill>
                  <a:srgbClr val="898781"/>
                </a:solidFill>
              </a:rPr>
              <a:t>DEMOGRAPHIC DISPARITY</a:t>
            </a:r>
          </a:p>
        </p:txBody>
      </p:sp>
      <p:sp>
        <p:nvSpPr>
          <p:cNvPr id="665" name="TextBox 16"/>
          <p:cNvSpPr txBox="1"/>
          <p:nvPr/>
        </p:nvSpPr>
        <p:spPr>
          <a:xfrm>
            <a:off x="6400800" y="3225800"/>
            <a:ext cx="47752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F0EFEC"/>
                </a:solidFill>
              </a:rPr>
              <a:t>Δ = |P(Ŷ=1 | A=White) − P(Ŷ=1 | A=Black)|</a:t>
            </a:r>
          </a:p>
        </p:txBody>
      </p:sp>
      <p:sp>
        <p:nvSpPr>
          <p:cNvPr id="666" name="Rectangle 17"/>
          <p:cNvSpPr/>
          <p:nvPr/>
        </p:nvSpPr>
        <p:spPr>
          <a:xfrm>
            <a:off x="812800" y="3657600"/>
            <a:ext cx="5181600" cy="6858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667" name="TextBox 18"/>
          <p:cNvSpPr txBox="1"/>
          <p:nvPr/>
        </p:nvSpPr>
        <p:spPr>
          <a:xfrm>
            <a:off x="1016000" y="3784600"/>
            <a:ext cx="4775200" cy="198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700">
                <a:solidFill>
                  <a:srgbClr val="898781"/>
                </a:solidFill>
              </a:rPr>
              <a:t>PRESENCE</a:t>
            </a:r>
          </a:p>
        </p:txBody>
      </p:sp>
      <p:sp>
        <p:nvSpPr>
          <p:cNvPr id="668" name="TextBox 19"/>
          <p:cNvSpPr txBox="1"/>
          <p:nvPr/>
        </p:nvSpPr>
        <p:spPr>
          <a:xfrm>
            <a:off x="1016000" y="4013200"/>
            <a:ext cx="4775200" cy="259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0EFEC"/>
                </a:solidFill>
              </a:rPr>
              <a:t>‖vₗ‖ / ‖Σₗ‖</a:t>
            </a:r>
          </a:p>
        </p:txBody>
      </p:sp>
      <p:sp>
        <p:nvSpPr>
          <p:cNvPr id="669" name="Rectangle 20"/>
          <p:cNvSpPr/>
          <p:nvPr/>
        </p:nvSpPr>
        <p:spPr>
          <a:xfrm>
            <a:off x="6197600" y="3657600"/>
            <a:ext cx="5181600" cy="6858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670" name="TextBox 21"/>
          <p:cNvSpPr txBox="1"/>
          <p:nvPr/>
        </p:nvSpPr>
        <p:spPr>
          <a:xfrm>
            <a:off x="6400800" y="3784600"/>
            <a:ext cx="4775200" cy="198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700">
                <a:solidFill>
                  <a:srgbClr val="898781"/>
                </a:solidFill>
              </a:rPr>
              <a:t>RETENTION FRACTION</a:t>
            </a:r>
          </a:p>
        </p:txBody>
      </p:sp>
      <p:sp>
        <p:nvSpPr>
          <p:cNvPr id="671" name="TextBox 22"/>
          <p:cNvSpPr txBox="1"/>
          <p:nvPr/>
        </p:nvSpPr>
        <p:spPr>
          <a:xfrm>
            <a:off x="6400800" y="3987800"/>
            <a:ext cx="4775200" cy="2057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750" b="1">
                <a:solidFill>
                  <a:srgbClr val="F0EFEC"/>
                </a:solidFill>
              </a:rPr>
              <a:t>(Presence(M′) − Presence(B)) / (Presence(M_base) − Presence(B))</a:t>
            </a:r>
          </a:p>
        </p:txBody>
      </p:sp>
      <p:sp>
        <p:nvSpPr>
          <p:cNvPr id="672" name="Rectangle 23"/>
          <p:cNvSpPr/>
          <p:nvPr/>
        </p:nvSpPr>
        <p:spPr>
          <a:xfrm>
            <a:off x="812800" y="4445000"/>
            <a:ext cx="5181600" cy="6858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673" name="TextBox 24"/>
          <p:cNvSpPr txBox="1"/>
          <p:nvPr/>
        </p:nvSpPr>
        <p:spPr>
          <a:xfrm>
            <a:off x="1016000" y="4572000"/>
            <a:ext cx="4775200" cy="198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700">
                <a:solidFill>
                  <a:srgbClr val="898781"/>
                </a:solidFill>
              </a:rPr>
              <a:t>COSINE SIMILARITY</a:t>
            </a:r>
          </a:p>
        </p:txBody>
      </p:sp>
      <p:sp>
        <p:nvSpPr>
          <p:cNvPr id="674" name="TextBox 25"/>
          <p:cNvSpPr txBox="1"/>
          <p:nvPr/>
        </p:nvSpPr>
        <p:spPr>
          <a:xfrm>
            <a:off x="1016000" y="4800600"/>
            <a:ext cx="4775200" cy="243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F0EFEC"/>
                </a:solidFill>
              </a:rPr>
              <a:t>cos(ψ_after, ψ_bias)</a:t>
            </a:r>
          </a:p>
        </p:txBody>
      </p:sp>
      <p:sp>
        <p:nvSpPr>
          <p:cNvPr id="675" name="Rectangle 26"/>
          <p:cNvSpPr/>
          <p:nvPr/>
        </p:nvSpPr>
        <p:spPr>
          <a:xfrm>
            <a:off x="6197600" y="4445000"/>
            <a:ext cx="5181600" cy="6858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676" name="TextBox 27"/>
          <p:cNvSpPr txBox="1"/>
          <p:nvPr/>
        </p:nvSpPr>
        <p:spPr>
          <a:xfrm>
            <a:off x="6400800" y="4572000"/>
            <a:ext cx="4775200" cy="198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700">
                <a:solidFill>
                  <a:srgbClr val="898781"/>
                </a:solidFill>
              </a:rPr>
              <a:t>BALANCED ACCURACY</a:t>
            </a:r>
          </a:p>
        </p:txBody>
      </p:sp>
      <p:sp>
        <p:nvSpPr>
          <p:cNvPr id="677" name="TextBox 28"/>
          <p:cNvSpPr txBox="1"/>
          <p:nvPr/>
        </p:nvSpPr>
        <p:spPr>
          <a:xfrm>
            <a:off x="6400800" y="4800600"/>
            <a:ext cx="47752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F0EFEC"/>
                </a:solidFill>
              </a:rPr>
              <a:t>½(qualified acceptance + unqualified rejection)</a:t>
            </a:r>
          </a:p>
        </p:txBody>
      </p:sp>
      <p:sp>
        <p:nvSpPr>
          <p:cNvPr id="678" name="Rectangle 29"/>
          <p:cNvSpPr/>
          <p:nvPr/>
        </p:nvSpPr>
        <p:spPr>
          <a:xfrm>
            <a:off x="812800" y="5232400"/>
            <a:ext cx="5181600" cy="6858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679" name="TextBox 30"/>
          <p:cNvSpPr txBox="1"/>
          <p:nvPr/>
        </p:nvSpPr>
        <p:spPr>
          <a:xfrm>
            <a:off x="1016000" y="5359400"/>
            <a:ext cx="4775200" cy="198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700">
                <a:solidFill>
                  <a:srgbClr val="898781"/>
                </a:solidFill>
              </a:rPr>
              <a:t>CV SCORE DIFFERENCE</a:t>
            </a:r>
          </a:p>
        </p:txBody>
      </p:sp>
      <p:sp>
        <p:nvSpPr>
          <p:cNvPr id="680" name="TextBox 31"/>
          <p:cNvSpPr txBox="1"/>
          <p:nvPr/>
        </p:nvSpPr>
        <p:spPr>
          <a:xfrm>
            <a:off x="1016000" y="5588000"/>
            <a:ext cx="47752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F0EFEC"/>
                </a:solidFill>
              </a:rPr>
              <a:t>dᵢⱼ = s(CVᶠᵢ, jobⱼ) − s(CVᵐᵢ, jobⱼ)</a:t>
            </a:r>
          </a:p>
        </p:txBody>
      </p:sp>
      <p:sp>
        <p:nvSpPr>
          <p:cNvPr id="681" name="Rectangle 32"/>
          <p:cNvSpPr/>
          <p:nvPr/>
        </p:nvSpPr>
        <p:spPr>
          <a:xfrm>
            <a:off x="6197600" y="5232400"/>
            <a:ext cx="5181600" cy="6858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682" name="TextBox 33"/>
          <p:cNvSpPr txBox="1"/>
          <p:nvPr/>
        </p:nvSpPr>
        <p:spPr>
          <a:xfrm>
            <a:off x="6400800" y="5359400"/>
            <a:ext cx="4775200" cy="198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700">
                <a:solidFill>
                  <a:srgbClr val="898781"/>
                </a:solidFill>
              </a:rPr>
              <a:t>LEACE PROJECTION</a:t>
            </a:r>
          </a:p>
        </p:txBody>
      </p:sp>
      <p:sp>
        <p:nvSpPr>
          <p:cNvPr id="683" name="TextBox 34"/>
          <p:cNvSpPr txBox="1"/>
          <p:nvPr/>
        </p:nvSpPr>
        <p:spPr>
          <a:xfrm>
            <a:off x="6400800" y="5562600"/>
            <a:ext cx="4775200" cy="236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F0EFEC"/>
                </a:solidFill>
              </a:rPr>
              <a:t>r(h) = h − Wᵀ(WWᵀ)⁻¹Wh</a:t>
            </a:r>
          </a:p>
        </p:txBody>
      </p:sp>
      <p:sp>
        <p:nvSpPr>
          <p:cNvPr id="684" name="TextBox 35"/>
          <p:cNvSpPr txBox="1"/>
          <p:nvPr/>
        </p:nvSpPr>
        <p:spPr>
          <a:xfrm>
            <a:off x="812800" y="6121400"/>
            <a:ext cx="10668000" cy="213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800">
                <a:solidFill>
                  <a:srgbClr val="6F7682"/>
                </a:solidFill>
              </a:rPr>
              <a:t>B = blind baseline; M_base = biased baseline; M′ = mitigated model; hₗ = layer-l hidden state.</a:t>
            </a:r>
          </a:p>
        </p:txBody>
      </p:sp>
      <p:sp>
        <p:nvSpPr>
          <p:cNvPr id="685" name="TextBox 36"/>
          <p:cNvSpPr txBox="1"/>
          <p:nvPr/>
        </p:nvSpPr>
        <p:spPr>
          <a:xfrm>
            <a:off x="11176000" y="381000"/>
            <a:ext cx="381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6F7682"/>
                </a:solidFill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F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688" name="TextBox 2"/>
          <p:cNvSpPr txBox="1"/>
          <p:nvPr/>
        </p:nvSpPr>
        <p:spPr>
          <a:xfrm>
            <a:off x="812800" y="381000"/>
            <a:ext cx="6350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900">
                <a:solidFill>
                  <a:srgbClr val="898781"/>
                </a:solidFill>
              </a:rPr>
              <a:t>APPENDIX  /  SOURCES</a:t>
            </a:r>
          </a:p>
        </p:txBody>
      </p:sp>
      <p:sp>
        <p:nvSpPr>
          <p:cNvPr id="689" name="TextBox 3"/>
          <p:cNvSpPr txBox="1"/>
          <p:nvPr/>
        </p:nvSpPr>
        <p:spPr>
          <a:xfrm>
            <a:off x="812800" y="812800"/>
            <a:ext cx="10795000" cy="548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0EFEC"/>
                </a:solidFill>
              </a:rPr>
              <a:t>Sources and reproducibility.</a:t>
            </a:r>
          </a:p>
        </p:txBody>
      </p:sp>
      <p:sp>
        <p:nvSpPr>
          <p:cNvPr id="690" name="TextBox 4"/>
          <p:cNvSpPr txBox="1"/>
          <p:nvPr/>
        </p:nvSpPr>
        <p:spPr>
          <a:xfrm>
            <a:off x="812800" y="1422400"/>
            <a:ext cx="10414000" cy="259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100">
                <a:solidFill>
                  <a:srgbClr val="C3C2B7"/>
                </a:solidFill>
              </a:rPr>
              <a:t>Every statistic in this deck is traceable to the benchmark or the cited literature.</a:t>
            </a:r>
          </a:p>
        </p:txBody>
      </p:sp>
      <p:sp>
        <p:nvSpPr>
          <p:cNvPr id="691" name="Rectangle 5"/>
          <p:cNvSpPr/>
          <p:nvPr/>
        </p:nvSpPr>
        <p:spPr>
          <a:xfrm>
            <a:off x="812800" y="1955800"/>
            <a:ext cx="5181600" cy="31750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692" name="TextBox 6"/>
          <p:cNvSpPr txBox="1"/>
          <p:nvPr/>
        </p:nvSpPr>
        <p:spPr>
          <a:xfrm>
            <a:off x="1016000" y="2133600"/>
            <a:ext cx="4775200" cy="2057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750">
                <a:solidFill>
                  <a:srgbClr val="898781"/>
                </a:solidFill>
              </a:rPr>
              <a:t>LITERATURE  /  1–4</a:t>
            </a:r>
          </a:p>
        </p:txBody>
      </p:sp>
      <p:sp>
        <p:nvSpPr>
          <p:cNvPr id="693" name="TextBox 7"/>
          <p:cNvSpPr txBox="1"/>
          <p:nvPr/>
        </p:nvSpPr>
        <p:spPr>
          <a:xfrm>
            <a:off x="1016000" y="2413000"/>
            <a:ext cx="4775200" cy="16337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800" dirty="0">
                <a:solidFill>
                  <a:srgbClr val="C3C2B7"/>
                </a:solidFill>
              </a:rPr>
              <a:t>1  Wilson, K. &amp; Caliskan, A. (2024). Gender, Race, and Intersectional Bias in Resume Screening via Language Model Retrieval. AIES. doi:10.1609/aies.v7i1.31748</a:t>
            </a:r>
          </a:p>
          <a:p>
            <a:pPr>
              <a:lnSpc>
                <a:spcPct val="115000"/>
              </a:lnSpc>
            </a:pPr>
            <a:endParaRPr sz="800" dirty="0">
              <a:solidFill>
                <a:srgbClr val="C3C2B7"/>
              </a:solidFill>
            </a:endParaRPr>
          </a:p>
          <a:p>
            <a:pPr>
              <a:lnSpc>
                <a:spcPct val="115000"/>
              </a:lnSpc>
            </a:pPr>
            <a:r>
              <a:rPr sz="800" dirty="0">
                <a:solidFill>
                  <a:srgbClr val="C3C2B7"/>
                </a:solidFill>
              </a:rPr>
              <a:t>2  An, J., Huang, D., Lin, C. &amp; Tai, M. (2025). Measuring gender and racial biases in large language models. PNAS Nexus. doi:10.1093/</a:t>
            </a:r>
            <a:r>
              <a:rPr sz="800" dirty="0" err="1">
                <a:solidFill>
                  <a:srgbClr val="C3C2B7"/>
                </a:solidFill>
              </a:rPr>
              <a:t>pnasnexus</a:t>
            </a:r>
            <a:r>
              <a:rPr sz="800" dirty="0">
                <a:solidFill>
                  <a:srgbClr val="C3C2B7"/>
                </a:solidFill>
              </a:rPr>
              <a:t>/pgaf089</a:t>
            </a:r>
          </a:p>
          <a:p>
            <a:pPr>
              <a:lnSpc>
                <a:spcPct val="115000"/>
              </a:lnSpc>
            </a:pPr>
            <a:endParaRPr sz="800" dirty="0">
              <a:solidFill>
                <a:srgbClr val="C3C2B7"/>
              </a:solidFill>
            </a:endParaRPr>
          </a:p>
          <a:p>
            <a:pPr>
              <a:lnSpc>
                <a:spcPct val="115000"/>
              </a:lnSpc>
            </a:pPr>
            <a:r>
              <a:rPr sz="800" dirty="0">
                <a:solidFill>
                  <a:srgbClr val="C3C2B7"/>
                </a:solidFill>
              </a:rPr>
              <a:t>3  Goldin, C. &amp; Rouse, C. (2000). Orchestrating Impartiality: The Impact of “Blind” Auditions on Female Musicians. AER 90(4), 715–741.</a:t>
            </a:r>
          </a:p>
          <a:p>
            <a:pPr>
              <a:lnSpc>
                <a:spcPct val="115000"/>
              </a:lnSpc>
            </a:pPr>
            <a:endParaRPr sz="800" dirty="0">
              <a:solidFill>
                <a:srgbClr val="C3C2B7"/>
              </a:solidFill>
            </a:endParaRPr>
          </a:p>
          <a:p>
            <a:pPr>
              <a:lnSpc>
                <a:spcPct val="115000"/>
              </a:lnSpc>
            </a:pPr>
            <a:r>
              <a:rPr sz="800" dirty="0">
                <a:solidFill>
                  <a:srgbClr val="C3C2B7"/>
                </a:solidFill>
              </a:rPr>
              <a:t>4  Wang, Z. et al. (2024). </a:t>
            </a:r>
            <a:r>
              <a:rPr sz="800" dirty="0" err="1">
                <a:solidFill>
                  <a:srgbClr val="C3C2B7"/>
                </a:solidFill>
              </a:rPr>
              <a:t>JobFair</a:t>
            </a:r>
            <a:r>
              <a:rPr sz="800" dirty="0">
                <a:solidFill>
                  <a:srgbClr val="C3C2B7"/>
                </a:solidFill>
              </a:rPr>
              <a:t>: A Framework for Benchmarking Gender Hiring Bias in LLMs. Findings of EMNLP. doi:10.18653/v1/2024.findings-emnlp.184</a:t>
            </a:r>
          </a:p>
        </p:txBody>
      </p:sp>
      <p:sp>
        <p:nvSpPr>
          <p:cNvPr id="694" name="Rectangle 8"/>
          <p:cNvSpPr/>
          <p:nvPr/>
        </p:nvSpPr>
        <p:spPr>
          <a:xfrm>
            <a:off x="6197600" y="1955800"/>
            <a:ext cx="5181600" cy="31750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695" name="TextBox 9"/>
          <p:cNvSpPr txBox="1"/>
          <p:nvPr/>
        </p:nvSpPr>
        <p:spPr>
          <a:xfrm>
            <a:off x="6400800" y="2133600"/>
            <a:ext cx="4775200" cy="2057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750">
                <a:solidFill>
                  <a:srgbClr val="898781"/>
                </a:solidFill>
              </a:rPr>
              <a:t>METHODS  /  5–8</a:t>
            </a:r>
          </a:p>
        </p:txBody>
      </p:sp>
      <p:sp>
        <p:nvSpPr>
          <p:cNvPr id="696" name="TextBox 10"/>
          <p:cNvSpPr txBox="1"/>
          <p:nvPr/>
        </p:nvSpPr>
        <p:spPr>
          <a:xfrm>
            <a:off x="6400800" y="2413000"/>
            <a:ext cx="4775200" cy="14935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800">
                <a:solidFill>
                  <a:srgbClr val="C3C2B7"/>
                </a:solidFill>
              </a:rPr>
              <a:t>5  Belrose, N. et al. (2023). LEACE: Perfect linear concept erasure in closed form. arXiv:2306.03819.</a:t>
            </a:r>
          </a:p>
          <a:p>
            <a:pPr>
              <a:lnSpc>
                <a:spcPct val="115000"/>
              </a:lnSpc>
            </a:pPr>
            <a:endParaRPr sz="800">
              <a:solidFill>
                <a:srgbClr val="C3C2B7"/>
              </a:solidFill>
            </a:endParaRPr>
          </a:p>
          <a:p>
            <a:pPr>
              <a:lnSpc>
                <a:spcPct val="115000"/>
              </a:lnSpc>
            </a:pPr>
            <a:r>
              <a:rPr sz="800">
                <a:solidFill>
                  <a:srgbClr val="C3C2B7"/>
                </a:solidFill>
              </a:rPr>
              <a:t>6  Dastin, J. (2018). Amazon scraps secret AI recruiting tool that showed bias against women. Reuters, 10 Oct.</a:t>
            </a:r>
          </a:p>
          <a:p>
            <a:pPr>
              <a:lnSpc>
                <a:spcPct val="115000"/>
              </a:lnSpc>
            </a:pPr>
            <a:endParaRPr sz="800">
              <a:solidFill>
                <a:srgbClr val="C3C2B7"/>
              </a:solidFill>
            </a:endParaRPr>
          </a:p>
          <a:p>
            <a:pPr>
              <a:lnSpc>
                <a:spcPct val="115000"/>
              </a:lnSpc>
            </a:pPr>
            <a:r>
              <a:rPr sz="800">
                <a:solidFill>
                  <a:srgbClr val="C3C2B7"/>
                </a:solidFill>
              </a:rPr>
              <a:t>7  Ravfogel, S. et al. (2020). Null It Out: Guarding Protected Attributes by Iterative Nullspace Projection. ACL.</a:t>
            </a:r>
          </a:p>
          <a:p>
            <a:pPr>
              <a:lnSpc>
                <a:spcPct val="115000"/>
              </a:lnSpc>
            </a:pPr>
            <a:endParaRPr sz="800">
              <a:solidFill>
                <a:srgbClr val="C3C2B7"/>
              </a:solidFill>
            </a:endParaRPr>
          </a:p>
          <a:p>
            <a:pPr>
              <a:lnSpc>
                <a:spcPct val="115000"/>
              </a:lnSpc>
            </a:pPr>
            <a:r>
              <a:rPr sz="800">
                <a:solidFill>
                  <a:srgbClr val="C3C2B7"/>
                </a:solidFill>
              </a:rPr>
              <a:t>8  Barocas, S. &amp; Selbst, A. (2016). Big Data’s Disparate Impact. California Law Review 104:671.</a:t>
            </a:r>
          </a:p>
        </p:txBody>
      </p:sp>
      <p:sp>
        <p:nvSpPr>
          <p:cNvPr id="697" name="Rectangle 11"/>
          <p:cNvSpPr/>
          <p:nvPr/>
        </p:nvSpPr>
        <p:spPr>
          <a:xfrm>
            <a:off x="812800" y="5334000"/>
            <a:ext cx="10566400" cy="787400"/>
          </a:xfrm>
          <a:prstGeom prst="roundRect">
            <a:avLst/>
          </a:prstGeom>
          <a:solidFill>
            <a:srgbClr val="0F141D"/>
          </a:solidFill>
          <a:ln w="12700">
            <a:solidFill>
              <a:srgbClr val="2A32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endParaRPr/>
          </a:p>
        </p:txBody>
      </p:sp>
      <p:sp>
        <p:nvSpPr>
          <p:cNvPr id="698" name="TextBox 12"/>
          <p:cNvSpPr txBox="1"/>
          <p:nvPr/>
        </p:nvSpPr>
        <p:spPr>
          <a:xfrm>
            <a:off x="1016000" y="5461000"/>
            <a:ext cx="10160000" cy="2057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750" b="1">
                <a:solidFill>
                  <a:srgbClr val="9FE870"/>
                </a:solidFill>
              </a:rPr>
              <a:t>REPRODUCIBILITY</a:t>
            </a:r>
          </a:p>
        </p:txBody>
      </p:sp>
      <p:sp>
        <p:nvSpPr>
          <p:cNvPr id="699" name="TextBox 13"/>
          <p:cNvSpPr txBox="1"/>
          <p:nvPr/>
        </p:nvSpPr>
        <p:spPr>
          <a:xfrm>
            <a:off x="1016000" y="5689600"/>
            <a:ext cx="10160000" cy="3718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800">
                <a:solidFill>
                  <a:srgbClr val="C3C2B7"/>
                </a:solidFill>
              </a:rPr>
              <a:t>1,600 synthetic CVs · 800 matched pairs · 8 job families · 10 features · seed 7 · MiniLM-L6-v2, layer 6, mean-pooled states · scikit-learn 1.9.1 · concept-erasure 0.2.4 · 80/20 split by candidate · 5-fold group CV. Synthetic labels with a known injected gap; not a production audit.</a:t>
            </a:r>
          </a:p>
        </p:txBody>
      </p:sp>
      <p:sp>
        <p:nvSpPr>
          <p:cNvPr id="700" name="TextBox 14"/>
          <p:cNvSpPr txBox="1"/>
          <p:nvPr/>
        </p:nvSpPr>
        <p:spPr>
          <a:xfrm>
            <a:off x="812800" y="6350000"/>
            <a:ext cx="10668000" cy="2057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750">
                <a:solidFill>
                  <a:srgbClr val="6F7682"/>
                </a:solidFill>
              </a:rPr>
              <a:t>Primary sources were checked against OpenAlex/DOI records; exact figures are quoted from the abstracts.</a:t>
            </a:r>
          </a:p>
        </p:txBody>
      </p:sp>
      <p:sp>
        <p:nvSpPr>
          <p:cNvPr id="701" name="TextBox 15"/>
          <p:cNvSpPr txBox="1"/>
          <p:nvPr/>
        </p:nvSpPr>
        <p:spPr>
          <a:xfrm>
            <a:off x="11176000" y="381000"/>
            <a:ext cx="381000" cy="228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sz="900">
                <a:solidFill>
                  <a:srgbClr val="6F7682"/>
                </a:solidFill>
              </a:rPr>
              <a:t>19</a:t>
            </a:r>
          </a:p>
        </p:txBody>
      </p:sp>
      <p:sp>
        <p:nvSpPr>
          <p:cNvPr id="704" name="TextBox 16"/>
          <p:cNvSpPr txBox="1"/>
          <p:nvPr/>
        </p:nvSpPr>
        <p:spPr>
          <a:xfrm>
            <a:off x="1016000" y="4267200"/>
            <a:ext cx="4775200" cy="3657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750">
                <a:solidFill>
                  <a:srgbClr val="6F7682"/>
                </a:solidFill>
              </a:rPr>
              <a:t>HOW THE NUMBERS MAP</a:t>
            </a:r>
          </a:p>
          <a:p>
            <a:pPr>
              <a:lnSpc>
                <a:spcPct val="120000"/>
              </a:lnSpc>
            </a:pPr>
            <a:r>
              <a:rPr sz="750">
                <a:solidFill>
                  <a:srgbClr val="6F7682"/>
                </a:solidFill>
              </a:rPr>
              <a:t>8.8 / 7.7 pp = benchmark; 85.1% = (1); 1–3 pp = (2); reverse bias = (4).</a:t>
            </a:r>
          </a:p>
        </p:txBody>
      </p:sp>
      <p:sp>
        <p:nvSpPr>
          <p:cNvPr id="705" name="TextBox 17"/>
          <p:cNvSpPr txBox="1"/>
          <p:nvPr/>
        </p:nvSpPr>
        <p:spPr>
          <a:xfrm>
            <a:off x="6400800" y="4267200"/>
            <a:ext cx="4775200" cy="3657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sz="750">
                <a:solidFill>
                  <a:srgbClr val="6F7682"/>
                </a:solidFill>
              </a:rPr>
              <a:t>AUDIT OUTPUTS</a:t>
            </a:r>
          </a:p>
          <a:p>
            <a:pPr>
              <a:lnSpc>
                <a:spcPct val="120000"/>
              </a:lnSpc>
            </a:pPr>
            <a:r>
              <a:rPr sz="750">
                <a:solidFill>
                  <a:srgbClr val="6F7682"/>
                </a:solidFill>
              </a:rPr>
              <a:t>probe 100 → 58%; relative bias 0.77 → 0.05; retention 4.7%; AUC 0.742 → 0.735.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cturne">
  <a:themeElements>
    <a:clrScheme name="Nocturne">
      <a:dk1>
        <a:srgbClr val="FFFFFF"/>
      </a:dk1>
      <a:lt1>
        <a:srgbClr val="121826"/>
      </a:lt1>
      <a:dk2>
        <a:srgbClr val="F2F4F8"/>
      </a:dk2>
      <a:lt2>
        <a:srgbClr val="1E2638"/>
      </a:lt2>
      <a:accent1>
        <a:srgbClr val="7C5CFF"/>
      </a:accent1>
      <a:accent2>
        <a:srgbClr val="00C2A8"/>
      </a:accent2>
      <a:accent3>
        <a:srgbClr val="FF6B9A"/>
      </a:accent3>
      <a:accent4>
        <a:srgbClr val="FFC53D"/>
      </a:accent4>
      <a:accent5>
        <a:srgbClr val="4DA3FF"/>
      </a:accent5>
      <a:accent6>
        <a:srgbClr val="B2F35F"/>
      </a:accent6>
      <a:hlink>
        <a:srgbClr val="7C5CFF"/>
      </a:hlink>
      <a:folHlink>
        <a:srgbClr val="FF6B9A"/>
      </a:folHlink>
    </a:clrScheme>
    <a:fontScheme name="Nocturne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DeckCraft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3000"/>
              </a:schemeClr>
            </a:gs>
            <a:gs pos="100000">
              <a:schemeClr val="phClr">
                <a:lumMod val="9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105000"/>
                <a:satMod val="103000"/>
              </a:schemeClr>
            </a:gs>
            <a:gs pos="100000">
              <a:schemeClr val="phClr">
                <a:lumMod val="80000"/>
              </a:schemeClr>
            </a:gs>
          </a:gsLst>
          <a:lin ang="5400000" scaled="0"/>
        </a:gradFill>
      </a:fillStyleLst>
      <a:lnStyleLst>
        <a:ln w="9525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38100" dir="5400000" algn="t" rotWithShape="0">
              <a:srgbClr val="000000">
                <a:alpha val="4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lumMod val="102000"/>
                <a:satMod val="103000"/>
              </a:schemeClr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7ef1208-413c-4b5e-9cdd-64ef305754f0}" enabled="0" method="" siteId="{07ef1208-413c-4b5e-9cdd-64ef305754f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2296</Words>
  <Application>Microsoft Office PowerPoint</Application>
  <PresentationFormat>Widescreen</PresentationFormat>
  <Paragraphs>334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Arial</vt:lpstr>
      <vt:lpstr>Inter</vt:lpstr>
      <vt:lpstr>Nocturne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Shalev Lau (Student)</cp:lastModifiedBy>
  <cp:revision>1</cp:revision>
  <dcterms:modified xsi:type="dcterms:W3CDTF">2026-10-25T12:02:48Z</dcterms:modified>
</cp:coreProperties>
</file>